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7.xml" ContentType="application/vnd.openxmlformats-officedocument.presentationml.slide+xml"/>
  <Override PartName="/ppt/slides/slide2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3" r:id="rId15"/>
    <p:sldId id="278" r:id="rId16"/>
    <p:sldId id="277" r:id="rId17"/>
    <p:sldId id="293" r:id="rId20"/>
    <p:sldId id="295" r:id="rId34"/>
    <p:sldId id="290" r:id="rId19"/>
    <p:sldId id="291" r:id="rId21"/>
    <p:sldId id="294" r:id="rId33"/>
    <p:sldId id="287" r:id="rId22"/>
    <p:sldId id="280" r:id="rId23"/>
    <p:sldId id="281" r:id="rId24"/>
    <p:sldId id="283" r:id="rId25"/>
    <p:sldId id="285" r:id="rId26"/>
    <p:sldId id="286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  <Relationship Id="rId33" Type="http://schemas.openxmlformats.org/officeDocument/2006/relationships/slide" Target="slides/slide27.xml"/>
  <Relationship Id="rId34" Type="http://schemas.openxmlformats.org/officeDocument/2006/relationships/slide" Target="slides/slide28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57B02-638C-849B-C10A-AF29EE31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00584A-452A-864E-EEFE-D9C49207F8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E6F2B0-9A87-B282-57D8-F13177CE27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7BF7B-6391-4129-76EB-BFEE28C51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296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48640" y="2286000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Вокруг — сто обещаний про AI.</a:t>
            </a:r>
            <a:endParaRPr lang="en-US" sz="3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3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Разберём, что из них правда.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48640" y="4206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rgbClr val="7C3AED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И где здесь ваши деньги.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48640" y="5577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Виктор Крылов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kern="0" spc="1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AI-Native Builder · Executive · Advisor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1 / 27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СКВОЗЬ ШУМ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Почти всё, что вы слышали про AI, продаёт тот, кому есть что продать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06040"/>
            <a:ext cx="1109167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862072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862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81328" y="272491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749040" y="2724912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«AI заменит всё за месяц». Громко, продаёт подписки и курсы.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685032"/>
            <a:ext cx="1109167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941064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81328" y="380390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749040" y="3803904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 внедришь — умрёшь». Двигает консалтинг и тревогу.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64024"/>
            <a:ext cx="11091672" cy="9144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5020056"/>
            <a:ext cx="402336" cy="40233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0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81328" y="488289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Инфобизнес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749040" y="4882896"/>
            <a:ext cx="7680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«Поставь, нажми кнопку — готово». 80–90% рынка обучения.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9436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Снимем это — и оставим то, что подтверждается исследованиями.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2 / 27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A78BF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ГЛАВНЫЙ ТЕЗИС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10972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AI — это не мозг, который покупают.</a:t>
            </a:r>
            <a:endParaRPr lang="en-US" sz="36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FB923C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Это экзоскелет.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4343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7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 по себе он стоит в углу цеха. Его силу включает человек, который его надевает.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3 / 27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С ЧЕГО НАЧИНАЕТСЯ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Ступени автономии — и человек на каждой</a:t>
            </a:r>
            <a:endParaRPr lang="en-US" sz="2700" dirty="0"/>
          </a:p>
        </p:txBody>
      </p:sp>
      <p:pic>
        <p:nvPicPr>
          <p:cNvPr id="4" name="Image 0" descr="img/lad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8" y="1554480"/>
            <a:ext cx="10424160" cy="42565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Машина берёт на себя всё больше работы, но человек остаётся на каждой ступени; рой — лишь подвид харнеса.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208776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Харнес и топологии (orchestrator-worker / swarm): Anthropic; Cognition «Don't Build Multi-Agents»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на всех уровнях: human-in-the-loop → on-the-loop → in-command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4 / 27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ПОЧЕМУ МАШИНА — НЕ РАЗУМ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Память машины и человека — это разные вещи</a:t>
            </a:r>
            <a:endParaRPr lang="en-US" sz="2700" dirty="0"/>
          </a:p>
        </p:txBody>
      </p:sp>
      <p:pic>
        <p:nvPicPr>
          <p:cNvPr id="4" name="Image 0" descr="img/m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743" y="1691640"/>
            <a:ext cx="6756208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1948"/>
            <a:ext cx="11094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Природа памяти человека: Complementary Learning Systems — McClelland &amp; O'Reilly, 1995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5 / 27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ГДЕ ЧЬЯ СИЛА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Машина — отличный экзоскелет. Плохое ядро.</a:t>
            </a:r>
            <a:endParaRPr lang="en-US" sz="2700" dirty="0"/>
          </a:p>
        </p:txBody>
      </p:sp>
      <p:pic>
        <p:nvPicPr>
          <p:cNvPr id="4" name="Image 0" descr="img/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432" y="1554480"/>
            <a:ext cx="6656832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 rot="16200000">
            <a:off x="2514600" y="3319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 →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767432" y="5733288"/>
            <a:ext cx="6656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контекста →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Цветом залито, где кто эффективнее (= лучше): фиолетовым — человек, персиковым — машина.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6 / 27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ПОЧЕМУ ЯДРО — ЧЕЛОВЕК · ГЛУБЖЕ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Как из памяти достаётся новое</a:t>
            </a:r>
            <a:endParaRPr lang="en-US" sz="2700" dirty="0"/>
          </a:p>
        </p:txBody>
      </p:sp>
      <p:pic>
        <p:nvPicPr>
          <p:cNvPr id="4" name="Image 0" descr="img/crea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8" y="1554480"/>
            <a:ext cx="1097280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40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5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Творчество — не отдельный «талант», а переключение режима под задачу: </a:t>
            </a:r>
            <a:r>
              <a:rPr lang="en-US" sz="15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расфокус, чтобы поймать далёкое → фокус, чтобы довести. Это и есть contextual focus.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208776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Острая/плоская активация, contextual focus: Gabora — spiky vs flat activation, 2002–2017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Распределённая, адресуемая по содержанию память: sparse distributed memory — Kanerva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7 / 27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СРАЗУ ПРО ВОЗРАЖЕНИЕ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Это не то же самое, что галлюцинация модели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44068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1214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ТВОРЧЕСТВО · ЧЕЛОВЕК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68680" y="2660904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551176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Расфокус — управляемый ход: включается под задачу и выключается.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319272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1115568" y="3209544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дивергентным поиском идёт сходимость: догадку проверяют на истину и пользу.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3977640"/>
            <a:ext cx="137160" cy="1371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115568" y="3867912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— новое И ценное. Новизна без ценности — это просто шум.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9632" y="1920240"/>
            <a:ext cx="5440680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9672" y="21214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FB923C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ГАЛЛЮЦИНАЦИЯ · LLM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19672" y="2660904"/>
            <a:ext cx="137160" cy="13716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2551176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управляемого режима: модель выдаёт самое правдоподобное продолжение.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519672" y="3319272"/>
            <a:ext cx="137160" cy="13716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209544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шага проверки против реальности — модель не «знает, что не знает».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519672" y="3977640"/>
            <a:ext cx="137160" cy="13716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867912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Её вознаграждают за угадывание, а не за «не знаю» — отсюда уверенная неправда.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91672" cy="960120"/>
          </a:xfrm>
          <a:prstGeom prst="roundRect">
            <a:avLst>
              <a:gd name="adj" fmla="val 13333"/>
            </a:avLst>
          </a:prstGeom>
          <a:solidFill>
            <a:srgbClr val="2D1B69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8006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Разница — во второй половине цикла.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человека за расфокусом идёт фокус-проверка на истину. Творчество = правдоподобное </a:t>
            </a: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истинное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галлюцинация = правдоподобное </a:t>
            </a: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истины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5975604"/>
            <a:ext cx="11094415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Управляемый цикл расфокус/фокус (honing, contextual focus): Gabora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Новизна + ценность как критерий творчества: Boden, The Creative Mind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Поощрение угадывания вместо «не знаю»: Why Language Models Hallucinate — Kalai et al., 2025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8 / 27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ЧТО УНИКАЛЬНО ЧЕЛОВЕЧЕСКОЕ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Машина рекомбинирует. Человек — изобретает.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2763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2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ГЛУБЖЕ ПЕРЕСТРУКТУРИЗАЦИЯ ЗНАНИЯ →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91672" cy="0"/>
          </a:xfrm>
          <a:prstGeom prst="line">
            <a:avLst/>
          </a:prstGeom>
          <a:noFill/>
          <a:ln w="1905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" y="2212848"/>
            <a:ext cx="2542032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86384" y="245059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B923C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HARD SKILL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6384" y="2907792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Применять известные правила в известной системе.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98825" y="2212848"/>
            <a:ext cx="2542032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36569" y="245059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B923C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SOFT SKILL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36569" y="2907792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Работать с контекстом и людьми.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9010" y="2212848"/>
            <a:ext cx="2542032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86754" y="245059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B923C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РЕКОМБИНАЦИЯ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86754" y="2907792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Собрать известное в новую комбинацию. Система координат — та же.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6754" y="391363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combinational · exploratory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99194" y="2212848"/>
            <a:ext cx="2542032" cy="2084832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336938" y="245059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B21B6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ИНВЕНЦИЯ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36938" y="2907792"/>
            <a:ext cx="206654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3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Сменить саму систему координат: новая абстракция, новый принцип.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36938" y="391363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transformational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45118" y="2084832"/>
            <a:ext cx="0" cy="3063240"/>
          </a:xfrm>
          <a:prstGeom prst="line">
            <a:avLst/>
          </a:prstGeom>
          <a:noFill/>
          <a:ln w="19050">
            <a:solidFill>
              <a:srgbClr val="2D1B69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48640" y="4590288"/>
            <a:ext cx="8242402" cy="548640"/>
          </a:xfrm>
          <a:prstGeom prst="roundRect">
            <a:avLst>
              <a:gd name="adj" fmla="val 16667"/>
            </a:avLst>
          </a:prstGeom>
          <a:solidFill>
            <a:srgbClr val="FFF7ED"/>
          </a:solidFill>
          <a:ln w="9525">
            <a:solidFill>
              <a:srgbClr val="FBD9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5902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B923C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МАШИНА СИЛЬНА   </a:t>
            </a: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рекомбинация внутри своего окна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099194" y="4590288"/>
            <a:ext cx="2542032" cy="548640"/>
          </a:xfrm>
          <a:prstGeom prst="roundRect">
            <a:avLst>
              <a:gd name="adj" fmla="val 16667"/>
            </a:avLst>
          </a:prstGeom>
          <a:solidFill>
            <a:srgbClr val="F1EEFA"/>
          </a:solidFill>
          <a:ln w="9525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18650" y="4590288"/>
            <a:ext cx="2176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b="1" kern="0" spc="50" dirty="0">
                <a:solidFill>
                  <a:srgbClr val="5B21B6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ТОЛЬКО ЧЕЛОВЕК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новая система координат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54132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Машина блестяще рекомбинирует известное внутри окна. Создать новую систему координат — пока только человек.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" y="6208776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типа творчества (combinational / exploratory / transformational): Boden, «The Creative Mind», 2004 — ИИ силён в первых двух, буксует на третьем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Новизна как рекомбинация известного: Schumpeter (1939); «атипичные комбинации» — Uzzi et al., Science, 2013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9 / 27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A78BF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ИТОГ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Экзоскелет, не мозг.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B923C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Ценность — в человеке, который его носит.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46177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— где именно в бизнесе живёт эта ценность.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10 / 27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ГДЕ ЦЕННОСТЬ ·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AI блестящ на одних задачах и бессилен на соседних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✓  AI блестящ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4937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3317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Черновик письма или текста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081528"/>
            <a:ext cx="4937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08152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Суммаризация длинного документа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831336"/>
            <a:ext cx="4937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383133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Типовой повторяющийся код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581144"/>
            <a:ext cx="4937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4581144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Первичный разбор данных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02552" y="182880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923C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✕  AI хуже, чем без него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02552" y="2331720"/>
            <a:ext cx="4937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931152" y="2331720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Редкое экспертное суждение в нише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02552" y="3081528"/>
            <a:ext cx="4937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31152" y="3081528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Свежая задача без аналогов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02552" y="3831336"/>
            <a:ext cx="493776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31152" y="3831336"/>
            <a:ext cx="45720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с высокой ценой ошибки и малыми данными</a:t>
            </a:r>
            <a:endParaRPr lang="en-US" sz="1400" dirty="0"/>
          </a:p>
        </p:txBody>
      </p:sp>
      <p:pic>
        <p:nvPicPr>
          <p:cNvPr id="20" name="Image 0" descr="img/di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7024" y="2286000"/>
            <a:ext cx="365760" cy="30175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224528" y="1929597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+40%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9768535" y="18425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B923C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−19 п.п.</a:t>
            </a:r>
            <a:endParaRPr lang="en-US" sz="1700" dirty="0"/>
          </a:p>
        </p:txBody>
      </p:sp>
      <p:sp>
        <p:nvSpPr>
          <p:cNvPr id="23" name="Text 20"/>
          <p:cNvSpPr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Фронт — невидимая граница способностей AI: по одну сторону он силён, по другую, на вид такой же задаче, — бессилен.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548640" y="6441948"/>
            <a:ext cx="11094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Зубчатый фронт (+40% / −19 п.п.): Navigating the Jagged Technological Frontier — HBS / BCG, 2023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11 / 27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ГДЕ ЦЕННОСТЬ ·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Ценность — не в модели, а в обвязке вокруг неё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69839" cy="1143000"/>
          </a:xfrm>
          <a:prstGeom prst="rect">
            <a:avLst/>
          </a:prstGeom>
          <a:solidFill>
            <a:srgbClr val="2D1B69"/>
          </a:solidFill>
          <a:ln/>
        </p:spPr>
      </p:sp>
      <p:sp>
        <p:nvSpPr>
          <p:cNvPr id="5" name="Shape 3"/>
          <p:cNvSpPr/>
          <p:nvPr/>
        </p:nvSpPr>
        <p:spPr>
          <a:xfrm>
            <a:off x="11418479" y="1828800"/>
            <a:ext cx="221833" cy="114300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828800"/>
            <a:ext cx="7772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98%</a:t>
            </a:r>
            <a:endParaRPr lang="en-US" sz="3400" dirty="0"/>
          </a:p>
          <a:p>
            <a:pPr marL="0" indent="0">
              <a:buNone/>
            </a:pPr>
            <a:r>
              <a:rPr lang="en-US" sz="1400" dirty="0">
                <a:solidFill>
                  <a:srgbClr val="C7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обвязка: контекст, проверки, политики, маршрутизация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64906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B923C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2% </a:t>
            </a: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логика модели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6118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Аналогия: </a:t>
            </a:r>
            <a:r>
              <a:rPr lang="en-US" sz="15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— это мотор. Но машину делают кузов, тормоза, руль и приборка — и это 98%. Купить можно мотор; собрать всё вокруг — ваша инженерия.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F1EEFA"/>
          </a:solidFill>
          <a:ln w="9525">
            <a:solidFill>
              <a:srgbClr val="E8E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i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«Если harness будет передан наружу — компетенция уходит наружу». </a:t>
            </a:r>
            <a:r>
              <a:rPr lang="en-US" sz="150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Поэтому оснастку строят внутри. Это и есть ров.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41948"/>
            <a:ext cx="11094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98/2: «AI-Disrupt PDLC», Сбер · ЦИПР-2026 (по Claude Code — 98,4% / 1,6%)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12 / 27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ГДЕ ЦЕННОСТЬ ·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Дефицитная роль — </a:t>
            </a:r>
            <a:r>
              <a:rPr lang="ru-RU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архитектор</a:t>
            </a: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 экзоскелета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53492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2082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Продуктовое мышление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4780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Знает, какую ценность ищем у клиента.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99048" y="1874520"/>
            <a:ext cx="53492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19088" y="202082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419088" y="24780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Понимает, как машина построит решение и где ошибётся.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3492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39242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Бизнес-видение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38496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Видит, что строить из бизнеса, а не «у всех так».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9048" y="3246120"/>
            <a:ext cx="53492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19088" y="339242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Бриф на инженерном языке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19088" y="38496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Переводит бизнес в технический контракт для машины.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Готовых на рынке сотни. Делающих сложные продукты — единицы. Tiny Team из 4–5 человек — это не «команда меньше», а «команда дороже»: ~80% сеньоров.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208776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Teams и роли: «AI-Disrupt PDLC», Сбер · ЦИПР-2026, май 2026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— усилитель (сильные выигрывают, слабые усугубляют): DORA 2025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13 / 27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ГДЕ ЦЕННОСТЬ ·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Решения человека — не в кнопке «Approve»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F1EEFA"/>
          </a:solidFill>
          <a:ln w="9525">
            <a:solidFill>
              <a:srgbClr val="E8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Поштучный аппрув не работает: </a:t>
            </a:r>
            <a:r>
              <a:rPr lang="en-US" sz="1550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93% случаев человек жмёт «да», не вчитываясь. Ручной контроль вырождается в театр.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Рычаг человека — на двух узлах, и оба выше поштучного контроля: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611880"/>
            <a:ext cx="11091672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22960" y="3867912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867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508760" y="3703320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Рамка на входе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852160" y="3703320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Точная постановка задачи и контекст. Здесь решается 80% результата.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90872"/>
            <a:ext cx="11091672" cy="932688"/>
          </a:xfrm>
          <a:prstGeom prst="roundRect">
            <a:avLst>
              <a:gd name="adj" fmla="val 15686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946904"/>
            <a:ext cx="420624" cy="42062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4782312"/>
            <a:ext cx="4206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Окна доверия и проверки направления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852160" y="4782312"/>
            <a:ext cx="5577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Человек подтверждает не каждое движение, а классы действий и параметры окна — и сверяет, куда движется машина.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6208776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 и окна доверия (trust windows): «AI-Disrupt PDLC», Сбер · ЦИПР-2026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 прослеживает решения машины: Ironies of Automation — Bainbridge, 1983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14 / 27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A78BF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ГЛАВНОЕ ПРО КЕЙСЫ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У вас почти наверняка — десятки таких процессов.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C7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Везде, где человек переваривает много контекста руками, можно поставить экзоскелет — и оставить человеку решения.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15 / 27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ДОКАЗАТЕЛЬСТВО · КЕЙС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Сложный товар продавался без продавца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1783080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В ЧЁМ БЫЛА БЕДА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95728"/>
            <a:ext cx="7178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большинстве розничных точек продавца нет вовсе, а сажать мерчандайзера в каждую точку экономически бессмысленно. У дилеров в павильонах консультация есть не везде и не всегда верная.</a:t>
            </a:r>
            <a:endParaRPr lang="en-US" sz="1400" dirty="0"/>
          </a:p>
        </p:txBody>
      </p:sp>
      <p:pic>
        <p:nvPicPr>
          <p:cNvPr id="7" name="Image 0" descr="img/case_zav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084832"/>
            <a:ext cx="3108960" cy="130011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794760"/>
            <a:ext cx="5440680" cy="1051560"/>
          </a:xfrm>
          <a:prstGeom prst="roundRect">
            <a:avLst>
              <a:gd name="adj" fmla="val 12174"/>
            </a:avLst>
          </a:prstGeom>
          <a:solidFill>
            <a:srgbClr val="F1EEFA"/>
          </a:solidFill>
          <a:ln w="9525">
            <a:solidFill>
              <a:srgbClr val="E8E5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794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чек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Доска на 5 м². Столько уносили из сетевой точки.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199632" y="3794760"/>
            <a:ext cx="5440680" cy="1051560"/>
          </a:xfrm>
          <a:prstGeom prst="roundRect">
            <a:avLst>
              <a:gd name="adj" fmla="val 12174"/>
            </a:avLst>
          </a:prstGeom>
          <a:solidFill>
            <a:srgbClr val="FFF7ED"/>
          </a:solidFill>
          <a:ln w="9525">
            <a:solidFill>
              <a:srgbClr val="FBD9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19672" y="3794760"/>
            <a:ext cx="4846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Причина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такое подсистема и сколько нужно лаг — объяснить некому.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507492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Продавать сложное без продавца нельзя. Посадить продавца в каждую точку — тоже нельзя.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16 / 27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Что стало видн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893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ДОКАЗАТЕЛЬСТВО · КЕЙС · ЧТО ИЗМЕНИЛОСЬ</a:t>
            </a:r>
            <a:endParaRPr lang="ru-RU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ru-RU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Мерчандайзер без мерчандайзера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92224"/>
            <a:ext cx="11089386" cy="1188720"/>
          </a:xfrm>
          <a:prstGeom prst="roundRect">
            <a:avLst>
              <a:gd name="adj" fmla="val 9000"/>
            </a:avLst>
          </a:prstGeom>
          <a:solidFill>
            <a:srgbClr val="FBFAFE"/>
          </a:solidFill>
          <a:ln w="9525">
            <a:solidFill>
              <a:srgbClr val="E8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9385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950" b="1" kern="0" spc="150" dirty="0">
                <a:solidFill>
                  <a:srgbClr val="5B21B6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БЫЛО</a:t>
            </a:r>
            <a:endParaRPr lang="ru-RU" sz="950" dirty="0"/>
          </a:p>
        </p:txBody>
      </p:sp>
      <p:sp>
        <p:nvSpPr>
          <p:cNvPr id="6" name="Shape 4"/>
          <p:cNvSpPr/>
          <p:nvPr/>
        </p:nvSpPr>
        <p:spPr>
          <a:xfrm>
            <a:off x="877824" y="2212848"/>
            <a:ext cx="457200" cy="274320"/>
          </a:xfrm>
          <a:prstGeom prst="roundRect">
            <a:avLst>
              <a:gd name="adj" fmla="val 26000"/>
            </a:avLst>
          </a:prstGeom>
          <a:solidFill>
            <a:srgbClr val="DDD6FE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877824" y="2578608"/>
            <a:ext cx="45720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1517904" y="2212848"/>
            <a:ext cx="457200" cy="274320"/>
          </a:xfrm>
          <a:prstGeom prst="roundRect">
            <a:avLst>
              <a:gd name="adj" fmla="val 26000"/>
            </a:avLst>
          </a:prstGeom>
          <a:solidFill>
            <a:srgbClr val="DDD6FE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1517904" y="2679192"/>
            <a:ext cx="457200" cy="173736"/>
          </a:xfrm>
          <a:prstGeom prst="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2157984" y="2212848"/>
            <a:ext cx="457200" cy="274320"/>
          </a:xfrm>
          <a:prstGeom prst="roundRect">
            <a:avLst>
              <a:gd name="adj" fmla="val 26000"/>
            </a:avLst>
          </a:prstGeom>
          <a:solidFill>
            <a:srgbClr val="DDD6FE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2157984" y="2752344"/>
            <a:ext cx="457200" cy="100584"/>
          </a:xfrm>
          <a:prstGeom prst="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2852928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ru-RU" sz="11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доска на 5 м²</a:t>
            </a:r>
            <a:endParaRPr lang="ru-RU" sz="1150" dirty="0"/>
          </a:p>
          <a:p>
            <a:pPr marL="0" indent="0">
              <a:lnSpc>
                <a:spcPct val="114000"/>
              </a:lnSpc>
              <a:buNone/>
            </a:pPr>
            <a:r>
              <a:rPr lang="ru-RU" sz="105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ещё нужно — объяснить некому</a:t>
            </a:r>
            <a:endParaRPr lang="ru-RU" sz="1050" dirty="0"/>
          </a:p>
        </p:txBody>
      </p:sp>
      <p:cxnSp>
        <p:nvCxnSpPr>
          <p:cNvPr id="13" name="Line 11"/>
          <p:cNvCxnSpPr/>
          <p:nvPr/>
        </p:nvCxnSpPr>
        <p:spPr>
          <a:xfrm>
            <a:off x="5614416" y="2523744"/>
            <a:ext cx="658368" cy="0"/>
          </a:xfrm>
          <a:prstGeom prst="line">
            <a:avLst/>
          </a:prstGeom>
          <a:ln w="22225" cap="rnd">
            <a:solidFill>
              <a:srgbClr val="FB923C"/>
            </a:solidFill>
            <a:round/>
            <a:headEnd type="none"/>
            <a:tailEnd type="triangle" w="med" len="med"/>
          </a:ln>
        </p:spPr>
      </p:cxnSp>
      <p:sp>
        <p:nvSpPr>
          <p:cNvPr id="14" name="Text 12"/>
          <p:cNvSpPr/>
          <p:nvPr/>
        </p:nvSpPr>
        <p:spPr>
          <a:xfrm>
            <a:off x="5394960" y="21579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kern="0" spc="100" dirty="0">
                <a:solidFill>
                  <a:srgbClr val="FB923C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САМООБСЛУЖИВАНИЕ</a:t>
            </a:r>
            <a:endParaRPr lang="ru-RU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19385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950" b="1" kern="0" spc="150" dirty="0">
                <a:solidFill>
                  <a:srgbClr val="FB923C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СТАЛО</a:t>
            </a:r>
            <a:endParaRPr lang="ru-RU" sz="950" dirty="0"/>
          </a:p>
        </p:txBody>
      </p:sp>
      <p:sp>
        <p:nvSpPr>
          <p:cNvPr id="16" name="Shape 14"/>
          <p:cNvSpPr/>
          <p:nvPr/>
        </p:nvSpPr>
        <p:spPr>
          <a:xfrm>
            <a:off x="6492240" y="2212848"/>
            <a:ext cx="457200" cy="274320"/>
          </a:xfrm>
          <a:prstGeom prst="roundRect">
            <a:avLst>
              <a:gd name="adj" fmla="val 26000"/>
            </a:avLst>
          </a:prstGeom>
          <a:solidFill>
            <a:srgbClr val="FBD9B8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6492240" y="2578608"/>
            <a:ext cx="457200" cy="274320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7132320" y="2212848"/>
            <a:ext cx="457200" cy="274320"/>
          </a:xfrm>
          <a:prstGeom prst="roundRect">
            <a:avLst>
              <a:gd name="adj" fmla="val 26000"/>
            </a:avLst>
          </a:prstGeom>
          <a:solidFill>
            <a:srgbClr val="FBD9B8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7132320" y="2679192"/>
            <a:ext cx="457200" cy="173736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7772400" y="2212848"/>
            <a:ext cx="457200" cy="274320"/>
          </a:xfrm>
          <a:prstGeom prst="roundRect">
            <a:avLst>
              <a:gd name="adj" fmla="val 26000"/>
            </a:avLst>
          </a:prstGeom>
          <a:solidFill>
            <a:srgbClr val="FBD9B8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7772400" y="2752344"/>
            <a:ext cx="457200" cy="100584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8467344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ru-RU" sz="11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терраса целиком</a:t>
            </a:r>
            <a:endParaRPr lang="ru-RU" sz="1150" dirty="0"/>
          </a:p>
          <a:p>
            <a:pPr marL="0" indent="0">
              <a:lnSpc>
                <a:spcPct val="114000"/>
              </a:lnSpc>
              <a:buNone/>
            </a:pPr>
            <a:r>
              <a:rPr lang="ru-RU" sz="105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 подсистемой, крепежом и ограждением</a:t>
            </a:r>
            <a:endParaRPr lang="ru-RU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090672"/>
            <a:ext cx="5434965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9536" y="3383280"/>
            <a:ext cx="91440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1097280" y="3291840"/>
            <a:ext cx="457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Объясняет, а не только считает</a:t>
            </a:r>
            <a:endParaRPr lang="ru-RU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639312"/>
            <a:ext cx="45754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2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шаг называет, что это и зачем: подсистема, шаг лаг, зазоры. Разрез показывает, что под настилом, — этого покупатель раньше не видел.</a:t>
            </a:r>
            <a:endParaRPr lang="ru-RU" sz="1200" dirty="0"/>
          </a:p>
        </p:txBody>
      </p:sp>
      <p:sp>
        <p:nvSpPr>
          <p:cNvPr id="27" name="Shape 25"/>
          <p:cNvSpPr/>
          <p:nvPr/>
        </p:nvSpPr>
        <p:spPr>
          <a:xfrm>
            <a:off x="6203061" y="3090672"/>
            <a:ext cx="5434965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13957" y="3383280"/>
            <a:ext cx="91440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6751701" y="3291840"/>
            <a:ext cx="457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Доукомплектовывает заказ</a:t>
            </a:r>
            <a:endParaRPr lang="ru-RU" sz="1400" dirty="0"/>
          </a:p>
        </p:txBody>
      </p:sp>
      <p:sp>
        <p:nvSpPr>
          <p:cNvPr id="30" name="Text 28"/>
          <p:cNvSpPr/>
          <p:nvPr/>
        </p:nvSpPr>
        <p:spPr>
          <a:xfrm>
            <a:off x="6751701" y="3639312"/>
            <a:ext cx="45754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2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кляймеров и лаг до ограждения, ступеней и заглушек: в смету попадает то, о чём покупатель не знал, что оно нужно.</a:t>
            </a:r>
            <a:endParaRPr lang="ru-RU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480560"/>
            <a:ext cx="5434965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9536" y="4773168"/>
            <a:ext cx="91440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1097280" y="4681728"/>
            <a:ext cx="457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Работает и без терминала</a:t>
            </a:r>
            <a:endParaRPr lang="ru-RU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5029200"/>
            <a:ext cx="45754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2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тачскрин ставить не на что, покупатель сканирует QR: в телефоне тот же расчёт и те же объяснения, шагов только меньше.</a:t>
            </a:r>
            <a:endParaRPr lang="ru-RU" sz="1200" dirty="0"/>
          </a:p>
        </p:txBody>
      </p:sp>
      <p:sp>
        <p:nvSpPr>
          <p:cNvPr id="35" name="Shape 33"/>
          <p:cNvSpPr/>
          <p:nvPr/>
        </p:nvSpPr>
        <p:spPr>
          <a:xfrm>
            <a:off x="6203061" y="4480560"/>
            <a:ext cx="5434965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3957" y="4773168"/>
            <a:ext cx="91440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37" name="Text 35"/>
          <p:cNvSpPr/>
          <p:nvPr/>
        </p:nvSpPr>
        <p:spPr>
          <a:xfrm>
            <a:off x="6751701" y="4681728"/>
            <a:ext cx="457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Самообслуживание — значит дёшево</a:t>
            </a:r>
            <a:endParaRPr lang="ru-RU" sz="1400" dirty="0"/>
          </a:p>
        </p:txBody>
      </p:sp>
      <p:sp>
        <p:nvSpPr>
          <p:cNvPr id="38" name="Text 36"/>
          <p:cNvSpPr/>
          <p:nvPr/>
        </p:nvSpPr>
        <p:spPr>
          <a:xfrm>
            <a:off x="6751701" y="5029200"/>
            <a:ext cx="45754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2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раз собранный экзоскелет обслуживает сеть точек. Продавца в каждую точку не нанимают — его там и не было.</a:t>
            </a:r>
            <a:endParaRPr lang="ru-RU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5888736"/>
            <a:ext cx="11089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ru-RU" sz="135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Объясняющий, продающий и вовлекающий мерчандайзинг сложного товара — без человека на каждой точке.</a:t>
            </a:r>
            <a:endParaRPr lang="ru-RU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419088"/>
            <a:ext cx="11089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на 15.09.2026: один стенд, 102 позиции каталога, 58 посчитанных смет.</a:t>
            </a:r>
            <a:endParaRPr lang="ru-RU" sz="1400" dirty="0"/>
          </a:p>
        </p:txBody>
      </p:sp>
      <p:sp>
        <p:nvSpPr>
          <p:cNvPr id="41" name="Text 39"/>
          <p:cNvSpPr/>
          <p:nvPr/>
        </p:nvSpPr>
        <p:spPr>
          <a:xfrm>
            <a:off x="10820095" y="647184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19 / 27</a:t>
            </a:r>
            <a:endParaRPr lang="ru-RU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1689C-67DD-BE45-024D-0DD3CB39A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F31474-B99C-395E-D33B-3CBF96B94AF8}"/>
              </a:ext>
            </a:extLst>
          </p:cNvPr>
          <p:cNvSpPr/>
          <p:nvPr/>
        </p:nvSpPr>
        <p:spPr>
          <a:xfrm>
            <a:off x="548640" y="457200"/>
            <a:ext cx="110893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ДОКАЗАТЕЛЬСТВО · КЕЙС · ЧТО ВИДИТ ПОКУПАТЕЛЬ</a:t>
            </a:r>
            <a:endParaRPr lang="ru-RU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C18B6B-5F7E-182D-A15D-AF50FB750208}"/>
              </a:ext>
            </a:extLst>
          </p:cNvPr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ru-RU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Собирает сам, по шагам — и видит, как меняется цена</a:t>
            </a:r>
            <a:endParaRPr lang="ru-RU" sz="27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6C732B7-7EDB-B566-6154-F5B2C1C0406D}"/>
              </a:ext>
            </a:extLst>
          </p:cNvPr>
          <p:cNvSpPr/>
          <p:nvPr/>
        </p:nvSpPr>
        <p:spPr>
          <a:xfrm>
            <a:off x="548640" y="6419088"/>
            <a:ext cx="11089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ru-RU" sz="14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9AFD617-9DE0-7600-73A7-DFE1B3BA4A2F}"/>
              </a:ext>
            </a:extLst>
          </p:cNvPr>
          <p:cNvSpPr/>
          <p:nvPr/>
        </p:nvSpPr>
        <p:spPr>
          <a:xfrm>
            <a:off x="10820095" y="647184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17 / 27</a:t>
            </a:r>
            <a:endParaRPr lang="ru-RU" sz="1000" dirty="0"/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3CE3EE3-4C5C-60B7-A956-96487F85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539" y="1755648"/>
            <a:ext cx="8676168" cy="4630365"/>
          </a:xfrm>
          <a:prstGeom prst="rect">
            <a:avLst/>
          </a:prstGeom>
        </p:spPr>
      </p:pic>
      <p:sp>
        <p:nvSpPr>
          <p:cNvPr id="46" name="Text 38">
            <a:extLst>
              <a:ext uri="{FF2B5EF4-FFF2-40B4-BE49-F238E27FC236}">
                <a16:creationId xmlns:a16="http://schemas.microsoft.com/office/drawing/2014/main" id="{A8E83C0B-6661-1FF0-8374-DC1B74BADD4F}"/>
              </a:ext>
            </a:extLst>
          </p:cNvPr>
          <p:cNvSpPr/>
          <p:nvPr/>
        </p:nvSpPr>
        <p:spPr>
          <a:xfrm>
            <a:off x="553974" y="6317453"/>
            <a:ext cx="11089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dirty="0">
                <a:solidFill>
                  <a:srgbClr val="8B80A8"/>
                </a:solidFill>
                <a:latin typeface="Arial" pitchFamily="34" charset="0"/>
                <a:cs typeface="Arial" pitchFamily="34" charset="-120"/>
              </a:rPr>
              <a:t>сборка снизу вверх: на каждом шаге видно, что это и во что обходится</a:t>
            </a:r>
            <a:r>
              <a:rPr lang="ru-RU" dirty="0"/>
              <a:t/>
            </a:r>
            <a:r>
              <a:rPr lang="ru-RU" sz="1400" dirty="0">
                <a:solidFill>
                  <a:srgbClr val="8B80A8"/>
                </a:solidFill>
                <a:latin typeface="Arial" pitchFamily="34" charset="0"/>
                <a:cs typeface="Arial" pitchFamily="34" charset="-120"/>
              </a:rPr>
              <a:t/>
            </a:r>
            <a:r>
              <a:rPr lang="ru-RU" sz="1400" dirty="0" err="1">
                <a:solidFill>
                  <a:srgbClr val="8B80A8"/>
                </a:solidFill>
                <a:latin typeface="Arial" pitchFamily="34" charset="0"/>
                <a:cs typeface="Arial" pitchFamily="34" charset="-120"/>
              </a:rPr>
              <a:t/>
            </a:r>
            <a:r>
              <a:rPr lang="ru-RU" sz="1400" dirty="0">
                <a:solidFill>
                  <a:srgbClr val="8B80A8"/>
                </a:solidFill>
                <a:latin typeface="Arial" pitchFamily="34" charset="0"/>
                <a:cs typeface="Arial" pitchFamily="34" charset="-12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2847975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Как построен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893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ДОКАЗАТЕЛЬСТВО · КЕЙС · КАК ПОСТРОЕНО</a:t>
            </a:r>
            <a:endParaRPr lang="ru-RU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ru-RU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Машина построила продукт. Нормы спросили у завода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1737360" y="1773936"/>
            <a:ext cx="9900666" cy="384048"/>
          </a:xfrm>
          <a:prstGeom prst="rect">
            <a:avLst/>
          </a:prstGeom>
          <a:solidFill>
            <a:srgbClr val="FFF7ED"/>
          </a:solidFill>
          <a:ln w="9525">
            <a:solidFill>
              <a:srgbClr val="FB923C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548640" y="177393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50" b="1" kern="0" spc="120" dirty="0">
                <a:solidFill>
                  <a:srgbClr val="FB923C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ДАЛЬШЕ</a:t>
            </a:r>
            <a:endParaRPr lang="ru-RU" sz="950" dirty="0"/>
          </a:p>
        </p:txBody>
      </p:sp>
      <p:sp>
        <p:nvSpPr>
          <p:cNvPr id="6" name="Text 4"/>
          <p:cNvSpPr/>
          <p:nvPr/>
        </p:nvSpPr>
        <p:spPr>
          <a:xfrm>
            <a:off x="2011680" y="1773936"/>
            <a:ext cx="93520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5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Голос · сеть точек · вторая линейка</a:t>
            </a:r>
            <a:endParaRPr lang="ru-RU" sz="1350" dirty="0"/>
          </a:p>
        </p:txBody>
      </p:sp>
      <p:sp>
        <p:nvSpPr>
          <p:cNvPr id="7" name="Shape 5"/>
          <p:cNvSpPr/>
          <p:nvPr/>
        </p:nvSpPr>
        <p:spPr>
          <a:xfrm>
            <a:off x="1737360" y="2231136"/>
            <a:ext cx="9900666" cy="384048"/>
          </a:xfrm>
          <a:prstGeom prst="roundRect">
            <a:avLst>
              <a:gd name="adj" fmla="val 22000"/>
            </a:avLst>
          </a:prstGeom>
          <a:solidFill>
            <a:srgbClr val="7C3AED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548640" y="223113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50" b="1" kern="0" spc="120" dirty="0">
                <a:solidFill>
                  <a:srgbClr val="5B21B6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ГОТОВО</a:t>
            </a:r>
            <a:endParaRPr lang="ru-RU" sz="950" dirty="0"/>
          </a:p>
        </p:txBody>
      </p:sp>
      <p:sp>
        <p:nvSpPr>
          <p:cNvPr id="9" name="Text 7"/>
          <p:cNvSpPr/>
          <p:nvPr/>
        </p:nvSpPr>
        <p:spPr>
          <a:xfrm>
            <a:off x="2011680" y="2231136"/>
            <a:ext cx="93520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Админка: локальный ассортимент и цены по точкам</a:t>
            </a:r>
            <a:endParaRPr lang="ru-RU" sz="1350" dirty="0"/>
          </a:p>
        </p:txBody>
      </p:sp>
      <p:sp>
        <p:nvSpPr>
          <p:cNvPr id="10" name="Shape 8"/>
          <p:cNvSpPr/>
          <p:nvPr/>
        </p:nvSpPr>
        <p:spPr>
          <a:xfrm>
            <a:off x="1737360" y="2688336"/>
            <a:ext cx="9900666" cy="384048"/>
          </a:xfrm>
          <a:prstGeom prst="roundRect">
            <a:avLst>
              <a:gd name="adj" fmla="val 22000"/>
            </a:avLst>
          </a:prstGeom>
          <a:solidFill>
            <a:srgbClr val="A78BFA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548640" y="268833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50" b="1" kern="0" spc="120" dirty="0">
                <a:solidFill>
                  <a:srgbClr val="5B21B6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ГОТОВО</a:t>
            </a:r>
            <a:endParaRPr lang="ru-RU" sz="950" dirty="0"/>
          </a:p>
        </p:txBody>
      </p:sp>
      <p:sp>
        <p:nvSpPr>
          <p:cNvPr id="12" name="Text 10"/>
          <p:cNvSpPr/>
          <p:nvPr/>
        </p:nvSpPr>
        <p:spPr>
          <a:xfrm>
            <a:off x="2011680" y="2688336"/>
            <a:ext cx="93520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Конструктор: киоск 32″ и телефон по QR</a:t>
            </a:r>
            <a:endParaRPr lang="ru-RU" sz="1350" dirty="0"/>
          </a:p>
        </p:txBody>
      </p:sp>
      <p:sp>
        <p:nvSpPr>
          <p:cNvPr id="13" name="Shape 11"/>
          <p:cNvSpPr/>
          <p:nvPr/>
        </p:nvSpPr>
        <p:spPr>
          <a:xfrm>
            <a:off x="1737360" y="3145536"/>
            <a:ext cx="9900666" cy="384048"/>
          </a:xfrm>
          <a:prstGeom prst="roundRect">
            <a:avLst>
              <a:gd name="adj" fmla="val 22000"/>
            </a:avLst>
          </a:prstGeom>
          <a:solidFill>
            <a:srgbClr val="EDEAF4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548640" y="3145536"/>
            <a:ext cx="1042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950" b="1" kern="0" spc="12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ИСТОЧНИК</a:t>
            </a:r>
            <a:endParaRPr lang="ru-RU" sz="950" dirty="0"/>
          </a:p>
        </p:txBody>
      </p:sp>
      <p:sp>
        <p:nvSpPr>
          <p:cNvPr id="15" name="Text 13"/>
          <p:cNvSpPr/>
          <p:nvPr/>
        </p:nvSpPr>
        <p:spPr>
          <a:xfrm>
            <a:off x="2011680" y="3145536"/>
            <a:ext cx="93520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35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Нормы завода · каталог и цены точки</a:t>
            </a:r>
            <a:endParaRPr lang="ru-RU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5434965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59536" y="4005072"/>
            <a:ext cx="914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1097280" y="3913632"/>
            <a:ext cx="457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Нормы — от завода, не из сети</a:t>
            </a:r>
            <a:endParaRPr lang="ru-RU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261104"/>
            <a:ext cx="45754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2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лаг, зазоры, что режет завод и чего не режет. Это не гуглится: три круга письменных вопросов производству.</a:t>
            </a:r>
            <a:endParaRPr lang="ru-RU" sz="1200" dirty="0"/>
          </a:p>
        </p:txBody>
      </p:sp>
      <p:sp>
        <p:nvSpPr>
          <p:cNvPr id="20" name="Shape 18"/>
          <p:cNvSpPr/>
          <p:nvPr/>
        </p:nvSpPr>
        <p:spPr>
          <a:xfrm>
            <a:off x="6203061" y="3730752"/>
            <a:ext cx="5434965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13957" y="4005072"/>
            <a:ext cx="914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6751701" y="3913632"/>
            <a:ext cx="457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 ядро на два входа</a:t>
            </a:r>
            <a:endParaRPr lang="ru-RU" sz="1400" dirty="0"/>
          </a:p>
        </p:txBody>
      </p:sp>
      <p:sp>
        <p:nvSpPr>
          <p:cNvPr id="23" name="Text 21"/>
          <p:cNvSpPr/>
          <p:nvPr/>
        </p:nvSpPr>
        <p:spPr>
          <a:xfrm>
            <a:off x="6751701" y="4261104"/>
            <a:ext cx="45754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2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Киоск и телефон считают одним кодом. Две копии расчёта разошлись бы молча — и на разнице поймал бы нас покупатель.</a:t>
            </a:r>
            <a:endParaRPr lang="ru-RU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047488"/>
            <a:ext cx="5434965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59536" y="5321808"/>
            <a:ext cx="914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1097280" y="5230368"/>
            <a:ext cx="457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Обвязка ловит свои ошибки</a:t>
            </a:r>
            <a:endParaRPr lang="ru-RU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5577840"/>
            <a:ext cx="45754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2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Ограждение почти удваивало смету: балясина 748 мм заказывалась целым хлыстом 3 м. 220 872 ₽ вместо 79 272 ₽ — глазами не поймать.</a:t>
            </a:r>
            <a:endParaRPr lang="ru-RU" sz="1200" dirty="0"/>
          </a:p>
        </p:txBody>
      </p:sp>
      <p:sp>
        <p:nvSpPr>
          <p:cNvPr id="28" name="Shape 26"/>
          <p:cNvSpPr/>
          <p:nvPr/>
        </p:nvSpPr>
        <p:spPr>
          <a:xfrm>
            <a:off x="6203061" y="5047488"/>
            <a:ext cx="5434965" cy="11887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513957" y="5321808"/>
            <a:ext cx="9144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6751701" y="5230368"/>
            <a:ext cx="457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Сторожа вместо доверия</a:t>
            </a:r>
            <a:endParaRPr lang="ru-RU" sz="1400" dirty="0"/>
          </a:p>
        </p:txBody>
      </p:sp>
      <p:sp>
        <p:nvSpPr>
          <p:cNvPr id="31" name="Text 29"/>
          <p:cNvSpPr/>
          <p:nvPr/>
        </p:nvSpPr>
        <p:spPr>
          <a:xfrm>
            <a:off x="6751701" y="5577840"/>
            <a:ext cx="457542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2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Около трёх тысяч автоматических проверок. Отдельный сторож меряет сам экран в боевом размере 1920 × 1080.</a:t>
            </a:r>
            <a:endParaRPr lang="ru-RU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6272784"/>
            <a:ext cx="1108938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ru-RU" sz="135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Вайб-кодинг с погружением в производство — кратно быстрее и дешевле классической разработки.</a:t>
            </a:r>
            <a:endParaRPr lang="ru-RU" sz="1350" dirty="0"/>
          </a:p>
        </p:txBody>
      </p:sp>
      <p:sp>
        <p:nvSpPr>
          <p:cNvPr id="33" name="Text 31"/>
          <p:cNvSpPr/>
          <p:nvPr/>
        </p:nvSpPr>
        <p:spPr>
          <a:xfrm>
            <a:off x="10820095" y="647184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20 / 27</a:t>
            </a:r>
            <a:endParaRPr lang="ru-RU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6CEDC-9AB6-1F32-D843-31384970A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BB55BC-895E-F005-C313-E916C420B8C9}"/>
              </a:ext>
            </a:extLst>
          </p:cNvPr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A78BF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ГЛАВНОЕ ПРО КЕЙСЫ</a:t>
            </a:r>
            <a:endParaRPr lang="en-US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4C6270E-EF70-0B8F-B038-648BB847F2A8}"/>
              </a:ext>
            </a:extLst>
          </p:cNvPr>
          <p:cNvSpPr/>
          <p:nvPr/>
        </p:nvSpPr>
        <p:spPr>
          <a:xfrm>
            <a:off x="548640" y="23774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У вас почти наверняка — десятки таких процессов.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2D4C0F-253A-58AB-A910-DC7B921C0128}"/>
              </a:ext>
            </a:extLst>
          </p:cNvPr>
          <p:cNvSpPr/>
          <p:nvPr/>
        </p:nvSpPr>
        <p:spPr>
          <a:xfrm>
            <a:off x="548640" y="4297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900" i="1" dirty="0">
                <a:solidFill>
                  <a:srgbClr val="C7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Везде, где человек переваривает много контекста руками, можно поставить экзоскелет — и оставить человеку решения.</a:t>
            </a:r>
            <a:endParaRPr lang="en-US" sz="19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AEF94E8-B8F4-4397-C742-DEC531A33243}"/>
              </a:ext>
            </a:extLst>
          </p:cNvPr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22 / 27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292651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ЧТО ЭТО ЗНАЧИТ ДЛЯ СОБСТВЕННИКА ·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Чек-лист провала: пять знакомых антипаттернов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923C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✕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1828800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Зоопарк инструментов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37760" y="1828800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Каждая команда выбрала своё. Через год — 15 несвязанных платформ, каждая со своим бюджетом.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2670048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923C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✕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17320" y="2670048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Культурный балласт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37760" y="2670048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Лицензии куплены всем, в commit history их нет. CTO считает успехом «количество выданных лицензий».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511296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511296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923C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✕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511296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ИИ только в кодировании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4937760" y="3511296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Кодинг — треть работы инженера. Потолок ~10% на полную работу. Дальше — упёрлись.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" y="4352544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923C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352544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Пилоты не масштабируются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937760" y="4352544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команды из 5 человек удался, на 50 — провалился. Вскрывается через полгода после отчёта об успехе.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193792"/>
            <a:ext cx="11091672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5193792"/>
            <a:ext cx="457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B923C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17320" y="5193792"/>
            <a:ext cx="3383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Гонка за объёмом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937760" y="5193792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кода и потраченных токенов ≠ рост эффективности. Объём использования AI и прирост — это разные вещи.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41948"/>
            <a:ext cx="1109441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Таблица из ~20 антипаттернов: «AI-Disrupt PDLC», Сбер · ЦИПР-2026, май 2026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23 / 27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ЧТО ЭТО ЗНАЧИТ ДЛЯ СОБСТВЕННИКА ·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Не ставьте KPI «внедрить AI» вашему IT-директору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Это KPI на форму, не на содержание. Умный CTO закроет его, ничего не поменяв по сути. Что вы получите: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980944"/>
            <a:ext cx="274320" cy="27432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7" name="Text 5"/>
          <p:cNvSpPr/>
          <p:nvPr/>
        </p:nvSpPr>
        <p:spPr>
          <a:xfrm>
            <a:off x="1417320" y="2743200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Дописывание строк кода в IDE с AI-подсказкой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639312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3877056"/>
            <a:ext cx="274320" cy="27432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639312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Презентацию «у нас 80% разработчиков используют AI»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48640" y="4535424"/>
            <a:ext cx="11091672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41248" y="4773168"/>
            <a:ext cx="274320" cy="274320"/>
          </a:xfrm>
          <a:prstGeom prst="ellipse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1417320" y="4535424"/>
            <a:ext cx="10058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Ноль новых продуктов и ноль изменений в P&amp;L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Метрика должна быть на бизнес-результат, а не на «долю AI». Хороший CTO как раз внедрит по-настоящему.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24 / 27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ЧТО ЭТО ЗНАЧИТ ДЛЯ СОБСТВЕННИКА ·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Рабочая формула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7C3AED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Построитель снаружи  +  оператор (всё чаще свой)  +  продукт-цель  +  90 дней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53492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5237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Построитель экзоскелета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9260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Почти наверняка внешний: разобрать чужие харнесы и собрать ваш — редкая инженерия.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99048" y="2377440"/>
            <a:ext cx="53492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19088" y="25237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Оператор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19088" y="292608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Управляет экзоскелетом постоянно. С большой вероятностью находится внутри команды.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53492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68680" y="38496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Конкретный продукт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2519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«трансформация», а один продукт за квартал.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9048" y="3703320"/>
            <a:ext cx="5349240" cy="118872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19088" y="38496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Сдвиг ролей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19088" y="425196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мере внедрения роль построителя уходит, оператор остаётся внутри.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Внешний строит и ставит экзоскелет; внутренний человек учится им оперировать — и по мере внедрения роли распиливаются в пользу своих.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25 / 27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A78BF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ВЫВОД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201168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Перестроить мышление с нуля.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352044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C7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«прикрутить AI» к существующим процессам — получится монстр Франкенштейна. Процессы перекраиваются под новые возможности, а не наоборот. Готовность перестраивать бизнес с нуля — и есть точка входа.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26 / 27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24231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Спасибо за внимание.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A78BF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TELEGRAM   </a:t>
            </a: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@vstille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548640" y="5760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C0D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Виктор Крылов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82009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78BFA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27 / 27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8732520" y="2286000"/>
            <a:ext cx="2194560" cy="21945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qr_vstil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3688" y="2487168"/>
            <a:ext cx="1792224" cy="17922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732520" y="4590288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onsolas"/>
              </a:rPr>
              <a:t>@vstille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Что стало видно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893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ДОКАЗАТЕЛЬСТВО · КЕЙС · КУДА ЭТО РАСТЁТ</a:t>
            </a:r>
            <a:endParaRPr lang="ru-RU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ru-RU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Не только считает: рекомендует, оформляет и принимает оплату</a:t>
            </a:r>
            <a:endParaRPr lang="ru-RU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92224"/>
            <a:ext cx="11089386" cy="1188720"/>
          </a:xfrm>
          <a:prstGeom prst="roundRect">
            <a:avLst>
              <a:gd name="adj" fmla="val 9000"/>
            </a:avLst>
          </a:prstGeom>
          <a:solidFill>
            <a:srgbClr val="FBFAFE"/>
          </a:solidFill>
          <a:ln w="9525">
            <a:solidFill>
              <a:srgbClr val="E8E5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7824" y="19385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950" b="1" kern="0" spc="150" dirty="0">
                <a:solidFill>
                  <a:srgbClr val="5B21B6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БЕЗ ТЕРМИНАЛА</a:t>
            </a:r>
            <a:endParaRPr lang="ru-RU" sz="950" dirty="0"/>
          </a:p>
        </p:txBody>
      </p:sp>
      <p:sp>
        <p:nvSpPr>
          <p:cNvPr id="6" name="Shape 4"/>
          <p:cNvSpPr/>
          <p:nvPr/>
        </p:nvSpPr>
        <p:spPr>
          <a:xfrm>
            <a:off x="877824" y="2212848"/>
            <a:ext cx="457200" cy="274320"/>
          </a:xfrm>
          <a:prstGeom prst="roundRect">
            <a:avLst>
              <a:gd name="adj" fmla="val 26000"/>
            </a:avLst>
          </a:prstGeom>
          <a:solidFill>
            <a:srgbClr val="DDD6FE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877824" y="2578608"/>
            <a:ext cx="457200" cy="274320"/>
          </a:xfrm>
          <a:prstGeom prst="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1517904" y="2212848"/>
            <a:ext cx="457200" cy="274320"/>
          </a:xfrm>
          <a:prstGeom prst="roundRect">
            <a:avLst>
              <a:gd name="adj" fmla="val 26000"/>
            </a:avLst>
          </a:prstGeom>
          <a:solidFill>
            <a:srgbClr val="DDD6FE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1517904" y="2679192"/>
            <a:ext cx="457200" cy="173736"/>
          </a:xfrm>
          <a:prstGeom prst="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2157984" y="2212848"/>
            <a:ext cx="457200" cy="274320"/>
          </a:xfrm>
          <a:prstGeom prst="roundRect">
            <a:avLst>
              <a:gd name="adj" fmla="val 26000"/>
            </a:avLst>
          </a:prstGeom>
          <a:solidFill>
            <a:srgbClr val="DDD6FE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2157984" y="2752344"/>
            <a:ext cx="457200" cy="100584"/>
          </a:xfrm>
          <a:prstGeom prst="rect">
            <a:avLst/>
          </a:prstGeom>
          <a:solidFill>
            <a:srgbClr val="A78BFA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2852928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ru-RU" sz="1150" b="1" dirty="0">
                <a:solidFill>
                  <a:srgbClr val="5B21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 по QR</a:t>
            </a:r>
            <a:endParaRPr lang="ru-RU" sz="1150" dirty="0"/>
          </a:p>
          <a:p>
            <a:pPr marL="0" indent="0">
              <a:lnSpc>
                <a:spcPct val="114000"/>
              </a:lnSpc>
              <a:buNone/>
            </a:pPr>
            <a:r>
              <a:rPr lang="ru-RU" sz="105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 же шаги, проще экран</a:t>
            </a:r>
            <a:endParaRPr lang="ru-RU" sz="1050" dirty="0"/>
          </a:p>
        </p:txBody>
      </p:sp>
      <p:cxnSp>
        <p:nvCxnSpPr>
          <p:cNvPr id="13" name="Line 11"/>
          <p:cNvCxnSpPr/>
          <p:nvPr/>
        </p:nvCxnSpPr>
        <p:spPr>
          <a:xfrm>
            <a:off x="5614416" y="2523744"/>
            <a:ext cx="658368" cy="0"/>
          </a:xfrm>
          <a:prstGeom prst="line">
            <a:avLst/>
          </a:prstGeom>
          <a:ln w="22225" cap="rnd">
            <a:solidFill>
              <a:srgbClr val="FB923C"/>
            </a:solidFill>
            <a:round/>
            <a:headEnd type="none"/>
            <a:tailEnd type="triangle" w="med" len="med"/>
          </a:ln>
        </p:spPr>
      </p:cxnSp>
      <p:sp>
        <p:nvSpPr>
          <p:cNvPr id="14" name="Text 12"/>
          <p:cNvSpPr/>
          <p:nvPr/>
        </p:nvSpPr>
        <p:spPr>
          <a:xfrm>
            <a:off x="5394960" y="21579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900" b="1" kern="0" spc="100" dirty="0">
                <a:solidFill>
                  <a:srgbClr val="FB923C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ОДИН РАСЧЁТ</a:t>
            </a:r>
            <a:endParaRPr lang="ru-RU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19385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950" b="1" kern="0" spc="150" dirty="0">
                <a:solidFill>
                  <a:srgbClr val="FB923C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С ТЕРМИНАЛОМ</a:t>
            </a:r>
            <a:endParaRPr lang="ru-RU" sz="950" dirty="0"/>
          </a:p>
        </p:txBody>
      </p:sp>
      <p:sp>
        <p:nvSpPr>
          <p:cNvPr id="16" name="Shape 14"/>
          <p:cNvSpPr/>
          <p:nvPr/>
        </p:nvSpPr>
        <p:spPr>
          <a:xfrm>
            <a:off x="6492240" y="2212848"/>
            <a:ext cx="457200" cy="274320"/>
          </a:xfrm>
          <a:prstGeom prst="roundRect">
            <a:avLst>
              <a:gd name="adj" fmla="val 26000"/>
            </a:avLst>
          </a:prstGeom>
          <a:solidFill>
            <a:srgbClr val="FBD9B8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6492240" y="2578608"/>
            <a:ext cx="457200" cy="274320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7132320" y="2212848"/>
            <a:ext cx="457200" cy="274320"/>
          </a:xfrm>
          <a:prstGeom prst="roundRect">
            <a:avLst>
              <a:gd name="adj" fmla="val 26000"/>
            </a:avLst>
          </a:prstGeom>
          <a:solidFill>
            <a:srgbClr val="FBD9B8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7132320" y="2679192"/>
            <a:ext cx="457200" cy="173736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7772400" y="2212848"/>
            <a:ext cx="457200" cy="274320"/>
          </a:xfrm>
          <a:prstGeom prst="roundRect">
            <a:avLst>
              <a:gd name="adj" fmla="val 26000"/>
            </a:avLst>
          </a:prstGeom>
          <a:solidFill>
            <a:srgbClr val="FBD9B8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7772400" y="2752344"/>
            <a:ext cx="457200" cy="100584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8467344" y="221284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4000"/>
              </a:lnSpc>
              <a:buNone/>
            </a:pPr>
            <a:r>
              <a:rPr lang="ru-RU" sz="115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киоск 32″ в зале</a:t>
            </a:r>
            <a:endParaRPr lang="ru-RU" sz="1150" dirty="0"/>
          </a:p>
          <a:p>
            <a:pPr marL="0" indent="0">
              <a:lnSpc>
                <a:spcPct val="114000"/>
              </a:lnSpc>
              <a:buNone/>
            </a:pPr>
            <a:r>
              <a:rPr lang="ru-RU" sz="105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полный конструктор и оплата на месте</a:t>
            </a:r>
            <a:endParaRPr lang="ru-RU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090672"/>
            <a:ext cx="5434965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9536" y="3383280"/>
            <a:ext cx="91440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1097280" y="3291840"/>
            <a:ext cx="457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Считает нюансы этого производства</a:t>
            </a:r>
            <a:endParaRPr lang="ru-RU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639312"/>
            <a:ext cx="45754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2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Шаг лаг по профилю, рецептуры цветов, вес метра, число линий. Коробочный калькулятор под конкретный завод не настроить.</a:t>
            </a:r>
            <a:endParaRPr lang="ru-RU" sz="1200" dirty="0"/>
          </a:p>
        </p:txBody>
      </p:sp>
      <p:sp>
        <p:nvSpPr>
          <p:cNvPr id="27" name="Shape 25"/>
          <p:cNvSpPr/>
          <p:nvPr/>
        </p:nvSpPr>
        <p:spPr>
          <a:xfrm>
            <a:off x="6203061" y="3090672"/>
            <a:ext cx="5434965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13957" y="3383280"/>
            <a:ext cx="91440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6751701" y="3291840"/>
            <a:ext cx="457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Рекомендует, а не только считает</a:t>
            </a:r>
            <a:endParaRPr lang="ru-RU" sz="1400" dirty="0"/>
          </a:p>
        </p:txBody>
      </p:sp>
      <p:sp>
        <p:nvSpPr>
          <p:cNvPr id="30" name="Text 28"/>
          <p:cNvSpPr/>
          <p:nvPr/>
        </p:nvSpPr>
        <p:spPr>
          <a:xfrm>
            <a:off x="6751701" y="3639312"/>
            <a:ext cx="45754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2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Подбирает позиции под задачу: опору под высоту, лагу под шаг, крепёж под доску, ограждение под край.</a:t>
            </a:r>
            <a:endParaRPr lang="ru-RU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480560"/>
            <a:ext cx="5434965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59536" y="4773168"/>
            <a:ext cx="91440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1097280" y="4681728"/>
            <a:ext cx="457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Годится и профессионалу</a:t>
            </a:r>
            <a:endParaRPr lang="ru-RU" sz="1400" dirty="0"/>
          </a:p>
        </p:txBody>
      </p:sp>
      <p:sp>
        <p:nvSpPr>
          <p:cNvPr id="34" name="Text 32"/>
          <p:cNvSpPr/>
          <p:nvPr/>
        </p:nvSpPr>
        <p:spPr>
          <a:xfrm>
            <a:off x="1097280" y="5029200"/>
            <a:ext cx="45754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2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Инженерная смета со спецификацией и планом раскроя: по ней работают дилер и монтажник, а не только покупатель.</a:t>
            </a:r>
            <a:endParaRPr lang="ru-RU" sz="1200" dirty="0"/>
          </a:p>
        </p:txBody>
      </p:sp>
      <p:sp>
        <p:nvSpPr>
          <p:cNvPr id="35" name="Shape 33"/>
          <p:cNvSpPr/>
          <p:nvPr/>
        </p:nvSpPr>
        <p:spPr>
          <a:xfrm>
            <a:off x="6203061" y="4480560"/>
            <a:ext cx="5434965" cy="12435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E8E5F0"/>
            </a:solidFill>
            <a:prstDash val="solid"/>
          </a:ln>
          <a:effectLst>
            <a:outerShdw blurRad="127000" dist="38100" dir="5400000" algn="bl" rotWithShape="0">
              <a:srgbClr val="2D1B69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513957" y="4773168"/>
            <a:ext cx="91440" cy="91440"/>
          </a:xfrm>
          <a:prstGeom prst="rect">
            <a:avLst/>
          </a:prstGeom>
          <a:solidFill>
            <a:srgbClr val="FB923C"/>
          </a:solidFill>
          <a:ln>
            <a:noFill/>
          </a:ln>
        </p:spPr>
      </p:sp>
      <p:sp>
        <p:nvSpPr>
          <p:cNvPr id="37" name="Text 35"/>
          <p:cNvSpPr/>
          <p:nvPr/>
        </p:nvSpPr>
        <p:spPr>
          <a:xfrm>
            <a:off x="6751701" y="4681728"/>
            <a:ext cx="45754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rgbClr val="2D1B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Оплата может идти напрямую заводу</a:t>
            </a:r>
            <a:endParaRPr lang="ru-RU" sz="1400" dirty="0"/>
          </a:p>
        </p:txBody>
      </p:sp>
      <p:sp>
        <p:nvSpPr>
          <p:cNvPr id="38" name="Text 36"/>
          <p:cNvSpPr/>
          <p:nvPr/>
        </p:nvSpPr>
        <p:spPr>
          <a:xfrm>
            <a:off x="6751701" y="5029200"/>
            <a:ext cx="457542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ru-RU" sz="12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Терминал у экрана: деньги уходят производству без лишнего звена в цепочке — и без налогов на нём.</a:t>
            </a:r>
            <a:endParaRPr lang="ru-RU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5888736"/>
            <a:ext cx="11089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ru-RU" sz="1350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Локальные цены по точкам, две формы установки и оплата на месте — одна коробка на всю сеть.</a:t>
            </a:r>
            <a:endParaRPr lang="ru-RU" sz="1350" dirty="0"/>
          </a:p>
        </p:txBody>
      </p:sp>
      <p:sp>
        <p:nvSpPr>
          <p:cNvPr id="40" name="Text 38"/>
          <p:cNvSpPr/>
          <p:nvPr/>
        </p:nvSpPr>
        <p:spPr>
          <a:xfrm>
            <a:off x="548640" y="6419088"/>
            <a:ext cx="11089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rgbClr val="8B8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Прямая оплата с терминала — предусмотренный вариант поставки.</a:t>
            </a:r>
            <a:endParaRPr lang="ru-RU" sz="1400" dirty="0"/>
          </a:p>
        </p:txBody>
      </p:sp>
      <p:sp>
        <p:nvSpPr>
          <p:cNvPr id="41" name="Text 39"/>
          <p:cNvSpPr/>
          <p:nvPr/>
        </p:nvSpPr>
        <p:spPr>
          <a:xfrm>
            <a:off x="10820095" y="647184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21 / 27</a:t>
            </a:r>
            <a:endParaRPr lang="ru-RU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1689C-67DD-BE45-024D-0DD3CB39A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BF31474-B99C-395E-D33B-3CBF96B94AF8}"/>
              </a:ext>
            </a:extLst>
          </p:cNvPr>
          <p:cNvSpPr/>
          <p:nvPr/>
        </p:nvSpPr>
        <p:spPr>
          <a:xfrm>
            <a:off x="548640" y="457200"/>
            <a:ext cx="1108938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50" dirty="0">
                <a:solidFill>
                  <a:srgbClr val="7C3AED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ДОКАЗАТЕЛЬСТВО · КЕЙС · ГДЕ НЕТ ТЕРМИНАЛА</a:t>
            </a:r>
            <a:endParaRPr lang="ru-RU" sz="1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CC18B6B-5F7E-182D-A15D-AF50FB750208}"/>
              </a:ext>
            </a:extLst>
          </p:cNvPr>
          <p:cNvSpPr/>
          <p:nvPr/>
        </p:nvSpPr>
        <p:spPr>
          <a:xfrm>
            <a:off x="548640" y="84124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ru-RU" sz="2700" b="1" dirty="0">
                <a:solidFill>
                  <a:srgbClr val="2D1B69"/>
                </a:solidFill>
                <a:latin typeface="Cambria" pitchFamily="18" charset="0"/>
                <a:ea typeface="Cambria" pitchFamily="18" charset="-122"/>
                <a:cs typeface="Cambria" pitchFamily="18" charset="-120"/>
              </a:rPr>
              <a:t>Тот же расчёт — в телефоне, по QR-коду со стенда</a:t>
            </a:r>
            <a:endParaRPr lang="ru-RU" sz="27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86C732B7-7EDB-B566-6154-F5B2C1C0406D}"/>
              </a:ext>
            </a:extLst>
          </p:cNvPr>
          <p:cNvSpPr/>
          <p:nvPr/>
        </p:nvSpPr>
        <p:spPr>
          <a:xfrm>
            <a:off x="548640" y="6419088"/>
            <a:ext cx="11089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ru-RU" sz="1400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29AFD617-9DE0-7600-73A7-DFE1B3BA4A2F}"/>
              </a:ext>
            </a:extLst>
          </p:cNvPr>
          <p:cNvSpPr/>
          <p:nvPr/>
        </p:nvSpPr>
        <p:spPr>
          <a:xfrm>
            <a:off x="10820095" y="6471849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ru-RU" sz="1000" dirty="0">
                <a:solidFill>
                  <a:srgbClr val="8B80A8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18 / 27</a:t>
            </a:r>
            <a:endParaRPr lang="ru-RU" sz="1000" dirty="0"/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93CE3EE3-4C5C-60B7-A956-96487F85CE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6539" y="1755648"/>
            <a:ext cx="8676168" cy="4630365"/>
          </a:xfrm>
          <a:prstGeom prst="rect">
            <a:avLst/>
          </a:prstGeom>
        </p:spPr>
      </p:pic>
      <p:sp>
        <p:nvSpPr>
          <p:cNvPr id="46" name="Text 38">
            <a:extLst>
              <a:ext uri="{FF2B5EF4-FFF2-40B4-BE49-F238E27FC236}">
                <a16:creationId xmlns:a16="http://schemas.microsoft.com/office/drawing/2014/main" id="{A8E83C0B-6661-1FF0-8374-DC1B74BADD4F}"/>
              </a:ext>
            </a:extLst>
          </p:cNvPr>
          <p:cNvSpPr/>
          <p:nvPr/>
        </p:nvSpPr>
        <p:spPr>
          <a:xfrm>
            <a:off x="553974" y="6317453"/>
            <a:ext cx="1108938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sz="1400" dirty="0">
                <a:solidFill>
                  <a:srgbClr val="8B80A8"/>
                </a:solidFill>
                <a:latin typeface="Arial" pitchFamily="34" charset="0"/>
                <a:cs typeface="Arial" pitchFamily="34" charset="-120"/>
              </a:rPr>
              <a:t>форма · доска с ценой за всю террасу · готовая терраса с моделью, разрезом и раскладкой</a:t>
            </a:r>
            <a:r>
              <a:rPr lang="ru-RU" dirty="0"/>
              <a:t/>
            </a:r>
            <a:r>
              <a:rPr lang="ru-RU" sz="1400" dirty="0">
                <a:solidFill>
                  <a:srgbClr val="8B80A8"/>
                </a:solidFill>
                <a:latin typeface="Arial" pitchFamily="34" charset="0"/>
                <a:cs typeface="Arial" pitchFamily="34" charset="-120"/>
              </a:rPr>
              <a:t/>
            </a:r>
            <a:r>
              <a:rPr lang="ru-RU" sz="1400" dirty="0" err="1">
                <a:solidFill>
                  <a:srgbClr val="8B80A8"/>
                </a:solidFill>
                <a:latin typeface="Arial" pitchFamily="34" charset="0"/>
                <a:cs typeface="Arial" pitchFamily="34" charset="-120"/>
              </a:rPr>
              <a:t/>
            </a:r>
            <a:r>
              <a:rPr lang="ru-RU" sz="1400" dirty="0">
                <a:solidFill>
                  <a:srgbClr val="8B80A8"/>
                </a:solidFill>
                <a:latin typeface="Arial" pitchFamily="34" charset="0"/>
                <a:cs typeface="Arial" pitchFamily="34" charset="-120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284797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2274</Words>
  <Application>Microsoft Macintosh PowerPoint</Application>
  <PresentationFormat>Широкоэкранный</PresentationFormat>
  <Paragraphs>296</Paragraphs>
  <Slides>26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Почему ваш ИИ-проект не даёт результата</dc:title>
  <dc:subject>PptxGenJS Presentation</dc:subject>
  <dc:creator>Victor Krylov</dc:creator>
  <cp:lastModifiedBy>Microsoft Office User</cp:lastModifiedBy>
  <cp:revision>3</cp:revision>
  <dcterms:created xsi:type="dcterms:W3CDTF">2026-06-24T09:39:30Z</dcterms:created>
  <dcterms:modified xsi:type="dcterms:W3CDTF">2026-09-09T09:53:25Z</dcterms:modified>
</cp:coreProperties>
</file>
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7"/>
  </p:notesMasterIdLst>
  <p:sldIdLst>
    <p:sldId id="257" r:id="rId2"/>
    <p:sldId id="294" r:id="rId3"/>
    <p:sldId id="270" r:id="rId4"/>
    <p:sldId id="258" r:id="rId5"/>
    <p:sldId id="284" r:id="rId6"/>
    <p:sldId id="268" r:id="rId7"/>
    <p:sldId id="286" r:id="rId8"/>
    <p:sldId id="273" r:id="rId9"/>
    <p:sldId id="288" r:id="rId10"/>
    <p:sldId id="287" r:id="rId11"/>
    <p:sldId id="289" r:id="rId12"/>
    <p:sldId id="290" r:id="rId13"/>
    <p:sldId id="291" r:id="rId14"/>
    <p:sldId id="292" r:id="rId15"/>
    <p:sldId id="293" r:id="rId16"/>
  </p:sldIdLst>
  <p:sldSz cx="9144000" cy="5143500" type="screen16x9"/>
  <p:notesSz cx="6858000" cy="9144000"/>
  <p:embeddedFontLs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aleway Medium" pitchFamily="2" charset="0"/>
      <p:regular r:id="rId22"/>
      <p:italic r:id="rId23"/>
    </p:embeddedFont>
    <p:embeddedFont>
      <p:font typeface="Unbounded" pitchFamily="2" charset="0"/>
      <p:regular r:id="rId24"/>
      <p:bold r:id="rId25"/>
    </p:embeddedFont>
    <p:embeddedFont>
      <p:font typeface="Unbounded Light" pitchFamily="2" charset="0"/>
      <p:regular r:id="rId26"/>
    </p:embeddedFont>
    <p:embeddedFont>
      <p:font typeface="Unbounded Medium" pitchFamily="2" charset="0"/>
      <p:regular r:id="rId27"/>
    </p:embeddedFont>
    <p:embeddedFont>
      <p:font typeface="Unbounded SemiBold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7">
          <p15:clr>
            <a:srgbClr val="747775"/>
          </p15:clr>
        </p15:guide>
        <p15:guide id="2" pos="5533">
          <p15:clr>
            <a:srgbClr val="747775"/>
          </p15:clr>
        </p15:guide>
        <p15:guide id="3" orient="horz" pos="227">
          <p15:clr>
            <a:srgbClr val="747775"/>
          </p15:clr>
        </p15:guide>
        <p15:guide id="4" orient="horz" pos="300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 autoAdjust="0"/>
    <p:restoredTop sz="94069" autoAdjust="0"/>
  </p:normalViewPr>
  <p:slideViewPr>
    <p:cSldViewPr snapToGrid="0">
      <p:cViewPr varScale="1">
        <p:scale>
          <a:sx n="144" d="100"/>
          <a:sy n="144" d="100"/>
        </p:scale>
        <p:origin x="408" y="192"/>
      </p:cViewPr>
      <p:guideLst>
        <p:guide pos="227"/>
        <p:guide pos="5533"/>
        <p:guide orient="horz" pos="227"/>
        <p:guide orient="horz" pos="30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F42AB0-B2FC-432F-9A1F-699A88E51EDA}" type="doc">
      <dgm:prSet loTypeId="urn:microsoft.com/office/officeart/2008/layout/IncreasingCircleProcess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ru-RU"/>
        </a:p>
      </dgm:t>
    </dgm:pt>
    <dgm:pt modelId="{823BAB37-7078-4BEE-942F-2E9C48FC6AD3}">
      <dgm:prSet phldrT="[Текст]" custT="1"/>
      <dgm:spPr/>
      <dgm:t>
        <a:bodyPr/>
        <a:lstStyle/>
        <a:p>
          <a:r>
            <a:rPr lang="ru-RU" sz="1200" dirty="0"/>
            <a:t>Этап 1</a:t>
          </a:r>
          <a:br>
            <a:rPr lang="ru-RU" sz="1200" dirty="0"/>
          </a:br>
          <a:r>
            <a:rPr lang="ru-RU" sz="1200" dirty="0"/>
            <a:t>2025</a:t>
          </a:r>
        </a:p>
      </dgm:t>
    </dgm:pt>
    <dgm:pt modelId="{9F520E96-7D3C-47E8-8262-4A01E22A9450}" type="parTrans" cxnId="{EEF755F2-C4CC-497A-B0CA-1449CD9B4CC0}">
      <dgm:prSet/>
      <dgm:spPr/>
      <dgm:t>
        <a:bodyPr/>
        <a:lstStyle/>
        <a:p>
          <a:endParaRPr lang="ru-RU"/>
        </a:p>
      </dgm:t>
    </dgm:pt>
    <dgm:pt modelId="{ABE6C78D-9661-4943-A539-81EDF4E9E2C6}" type="sibTrans" cxnId="{EEF755F2-C4CC-497A-B0CA-1449CD9B4CC0}">
      <dgm:prSet/>
      <dgm:spPr/>
      <dgm:t>
        <a:bodyPr/>
        <a:lstStyle/>
        <a:p>
          <a:endParaRPr lang="ru-RU"/>
        </a:p>
      </dgm:t>
    </dgm:pt>
    <dgm:pt modelId="{275D7A87-A427-490A-B51B-BFA9E32A5D68}">
      <dgm:prSet phldrT="[Текст]" custT="1"/>
      <dgm:spPr/>
      <dgm:t>
        <a:bodyPr/>
        <a:lstStyle/>
        <a:p>
          <a:r>
            <a:rPr lang="ru-RU" sz="1400" dirty="0"/>
            <a:t>Систематизация отзывов</a:t>
          </a:r>
        </a:p>
        <a:p>
          <a:r>
            <a:rPr lang="ru-RU" sz="1000" dirty="0"/>
            <a:t>- Платформа сбора отзывов</a:t>
          </a:r>
        </a:p>
        <a:p>
          <a:r>
            <a:rPr lang="ru-RU" sz="1000" dirty="0"/>
            <a:t>- </a:t>
          </a:r>
          <a:r>
            <a:rPr lang="en-US" sz="1000" dirty="0"/>
            <a:t>AI-</a:t>
          </a:r>
          <a:r>
            <a:rPr lang="ru-RU" sz="1000" dirty="0"/>
            <a:t>классификация тем</a:t>
          </a:r>
        </a:p>
        <a:p>
          <a:r>
            <a:rPr lang="ru-RU" sz="1000" dirty="0"/>
            <a:t>- </a:t>
          </a:r>
          <a:r>
            <a:rPr lang="en-US" sz="1000" dirty="0"/>
            <a:t>AI </a:t>
          </a:r>
          <a:r>
            <a:rPr lang="ru-RU" sz="1000" dirty="0"/>
            <a:t>и шаблоны ответов</a:t>
          </a:r>
        </a:p>
      </dgm:t>
    </dgm:pt>
    <dgm:pt modelId="{D28F5F1E-13D6-43C3-A607-73B540E6840B}" type="parTrans" cxnId="{CEADB114-A69A-46A5-8633-9408C932F80E}">
      <dgm:prSet/>
      <dgm:spPr/>
      <dgm:t>
        <a:bodyPr/>
        <a:lstStyle/>
        <a:p>
          <a:endParaRPr lang="ru-RU"/>
        </a:p>
      </dgm:t>
    </dgm:pt>
    <dgm:pt modelId="{31D06DE0-E59E-4281-9F4F-783EB8EF560C}" type="sibTrans" cxnId="{CEADB114-A69A-46A5-8633-9408C932F80E}">
      <dgm:prSet/>
      <dgm:spPr/>
      <dgm:t>
        <a:bodyPr/>
        <a:lstStyle/>
        <a:p>
          <a:endParaRPr lang="ru-RU"/>
        </a:p>
      </dgm:t>
    </dgm:pt>
    <dgm:pt modelId="{A344173E-CAB1-4586-A573-83EBDCAAED50}">
      <dgm:prSet phldrT="[Текст]" custT="1"/>
      <dgm:spPr/>
      <dgm:t>
        <a:bodyPr/>
        <a:lstStyle/>
        <a:p>
          <a:r>
            <a:rPr lang="ru-RU" sz="1200" dirty="0"/>
            <a:t>Этап 2</a:t>
          </a:r>
          <a:br>
            <a:rPr lang="ru-RU" sz="1200" dirty="0"/>
          </a:br>
          <a:r>
            <a:rPr lang="ru-RU" sz="1200" dirty="0"/>
            <a:t>2026 </a:t>
          </a:r>
        </a:p>
      </dgm:t>
    </dgm:pt>
    <dgm:pt modelId="{89007E83-0D16-4F6D-B65E-0DFA492D4F2A}" type="parTrans" cxnId="{E881691A-C443-49A6-A65E-CE7F5C355A3C}">
      <dgm:prSet/>
      <dgm:spPr/>
      <dgm:t>
        <a:bodyPr/>
        <a:lstStyle/>
        <a:p>
          <a:endParaRPr lang="ru-RU"/>
        </a:p>
      </dgm:t>
    </dgm:pt>
    <dgm:pt modelId="{1749D5CE-1326-4F44-B9DB-BF379E49C37F}" type="sibTrans" cxnId="{E881691A-C443-49A6-A65E-CE7F5C355A3C}">
      <dgm:prSet/>
      <dgm:spPr/>
      <dgm:t>
        <a:bodyPr/>
        <a:lstStyle/>
        <a:p>
          <a:endParaRPr lang="ru-RU"/>
        </a:p>
      </dgm:t>
    </dgm:pt>
    <dgm:pt modelId="{AD8F8AF4-53B8-4398-90F1-F08B0432C34C}">
      <dgm:prSet phldrT="[Текст]" custT="1"/>
      <dgm:spPr/>
      <dgm:t>
        <a:bodyPr/>
        <a:lstStyle/>
        <a:p>
          <a:r>
            <a:rPr lang="ru-RU" sz="1400" dirty="0"/>
            <a:t>Скорость и охват</a:t>
          </a:r>
        </a:p>
        <a:p>
          <a:r>
            <a:rPr lang="ru-RU" sz="1000" dirty="0"/>
            <a:t>- 24 ч. ответ</a:t>
          </a:r>
          <a:br>
            <a:rPr lang="ru-RU" sz="1000" dirty="0"/>
          </a:br>
          <a:r>
            <a:rPr lang="ru-RU" sz="1000" dirty="0"/>
            <a:t>- 85% автоответов</a:t>
          </a:r>
          <a:br>
            <a:rPr lang="ru-RU" sz="1000" dirty="0"/>
          </a:br>
          <a:r>
            <a:rPr lang="ru-RU" sz="1000" dirty="0"/>
            <a:t>- 90% уникальных ответов сотрудников</a:t>
          </a:r>
          <a:br>
            <a:rPr lang="ru-RU" sz="1000" dirty="0"/>
          </a:br>
          <a:r>
            <a:rPr lang="ru-RU" sz="1000" dirty="0"/>
            <a:t>- инсайты за 1 мин.</a:t>
          </a:r>
        </a:p>
      </dgm:t>
    </dgm:pt>
    <dgm:pt modelId="{3DA9A284-C685-406F-BED9-5C4E117F73A0}" type="parTrans" cxnId="{A18D6BA2-AB45-4286-BFA0-E2733439779C}">
      <dgm:prSet/>
      <dgm:spPr/>
      <dgm:t>
        <a:bodyPr/>
        <a:lstStyle/>
        <a:p>
          <a:endParaRPr lang="ru-RU"/>
        </a:p>
      </dgm:t>
    </dgm:pt>
    <dgm:pt modelId="{0EA49FD2-4ADA-4C9B-9323-2B77295C52C4}" type="sibTrans" cxnId="{A18D6BA2-AB45-4286-BFA0-E2733439779C}">
      <dgm:prSet/>
      <dgm:spPr/>
      <dgm:t>
        <a:bodyPr/>
        <a:lstStyle/>
        <a:p>
          <a:endParaRPr lang="ru-RU"/>
        </a:p>
      </dgm:t>
    </dgm:pt>
    <dgm:pt modelId="{1679F686-A253-42AD-9AB7-85D1A7CCE669}">
      <dgm:prSet phldrT="[Текст]" custT="1"/>
      <dgm:spPr/>
      <dgm:t>
        <a:bodyPr/>
        <a:lstStyle/>
        <a:p>
          <a:r>
            <a:rPr lang="ru-RU" sz="1200" dirty="0"/>
            <a:t>Этап 3</a:t>
          </a:r>
          <a:br>
            <a:rPr lang="ru-RU" sz="1200" dirty="0"/>
          </a:br>
          <a:r>
            <a:rPr lang="ru-RU" sz="1200" dirty="0"/>
            <a:t>2026-2027</a:t>
          </a:r>
        </a:p>
      </dgm:t>
    </dgm:pt>
    <dgm:pt modelId="{8E50AB4F-BDBC-400C-9D70-45740BE6741B}" type="parTrans" cxnId="{BB1BCA4C-FE09-41B6-A3B5-122E666D49A5}">
      <dgm:prSet/>
      <dgm:spPr/>
      <dgm:t>
        <a:bodyPr/>
        <a:lstStyle/>
        <a:p>
          <a:endParaRPr lang="ru-RU"/>
        </a:p>
      </dgm:t>
    </dgm:pt>
    <dgm:pt modelId="{D491AA95-0708-4753-BFAD-01068BE21205}" type="sibTrans" cxnId="{BB1BCA4C-FE09-41B6-A3B5-122E666D49A5}">
      <dgm:prSet/>
      <dgm:spPr/>
      <dgm:t>
        <a:bodyPr/>
        <a:lstStyle/>
        <a:p>
          <a:endParaRPr lang="ru-RU"/>
        </a:p>
      </dgm:t>
    </dgm:pt>
    <dgm:pt modelId="{669F3B42-8BF3-43CE-AE04-131C5277EDD7}">
      <dgm:prSet phldrT="[Текст]" custT="1"/>
      <dgm:spPr/>
      <dgm:t>
        <a:bodyPr/>
        <a:lstStyle/>
        <a:p>
          <a:r>
            <a:rPr lang="ru-RU" sz="1400" dirty="0"/>
            <a:t>Предиктивное качество</a:t>
          </a:r>
          <a:br>
            <a:rPr lang="ru-RU" sz="1100" dirty="0"/>
          </a:br>
          <a:r>
            <a:rPr lang="ru-RU" sz="1100" dirty="0"/>
            <a:t>- о</a:t>
          </a:r>
          <a:r>
            <a:rPr lang="ru-RU" sz="1000" dirty="0"/>
            <a:t>сознанный запуск новинок с учетом пользовательского опыта и потребностей</a:t>
          </a:r>
        </a:p>
      </dgm:t>
    </dgm:pt>
    <dgm:pt modelId="{F6B25371-6A84-43AF-8151-4DE0D143FDD7}" type="parTrans" cxnId="{A4D4FDB3-D5B5-41B8-BD61-6E8F8C4844CD}">
      <dgm:prSet/>
      <dgm:spPr/>
      <dgm:t>
        <a:bodyPr/>
        <a:lstStyle/>
        <a:p>
          <a:endParaRPr lang="ru-RU"/>
        </a:p>
      </dgm:t>
    </dgm:pt>
    <dgm:pt modelId="{0EEC3A84-6575-4BD7-9A6C-C9BE87FCAAAA}" type="sibTrans" cxnId="{A4D4FDB3-D5B5-41B8-BD61-6E8F8C4844CD}">
      <dgm:prSet/>
      <dgm:spPr/>
      <dgm:t>
        <a:bodyPr/>
        <a:lstStyle/>
        <a:p>
          <a:endParaRPr lang="ru-RU"/>
        </a:p>
      </dgm:t>
    </dgm:pt>
    <dgm:pt modelId="{8B2AE333-B390-464D-A4B9-E5748C1A5699}">
      <dgm:prSet custT="1"/>
      <dgm:spPr/>
      <dgm:t>
        <a:bodyPr/>
        <a:lstStyle/>
        <a:p>
          <a:r>
            <a:rPr lang="ru-RU" sz="1200" dirty="0"/>
            <a:t>Этап 4</a:t>
          </a:r>
          <a:br>
            <a:rPr lang="ru-RU" sz="1200" dirty="0"/>
          </a:br>
          <a:r>
            <a:rPr lang="ru-RU" sz="1200" dirty="0"/>
            <a:t>2028</a:t>
          </a:r>
        </a:p>
      </dgm:t>
    </dgm:pt>
    <dgm:pt modelId="{A741D08F-DFAC-413E-B946-9FDD8E6090AC}" type="parTrans" cxnId="{6215B362-12E8-40D2-941B-A619FA4971EF}">
      <dgm:prSet/>
      <dgm:spPr/>
      <dgm:t>
        <a:bodyPr/>
        <a:lstStyle/>
        <a:p>
          <a:endParaRPr lang="ru-RU"/>
        </a:p>
      </dgm:t>
    </dgm:pt>
    <dgm:pt modelId="{2BFD6A87-7130-413A-A869-807E5FBFB009}" type="sibTrans" cxnId="{6215B362-12E8-40D2-941B-A619FA4971EF}">
      <dgm:prSet/>
      <dgm:spPr/>
      <dgm:t>
        <a:bodyPr/>
        <a:lstStyle/>
        <a:p>
          <a:endParaRPr lang="ru-RU"/>
        </a:p>
      </dgm:t>
    </dgm:pt>
    <dgm:pt modelId="{79920CF2-39CA-4C8B-8CE0-19BCB1010D2D}">
      <dgm:prSet custT="1"/>
      <dgm:spPr/>
      <dgm:t>
        <a:bodyPr/>
        <a:lstStyle/>
        <a:p>
          <a:r>
            <a:rPr lang="ru-RU" sz="1400" dirty="0"/>
            <a:t>Лидерство</a:t>
          </a:r>
          <a:br>
            <a:rPr lang="ru-RU" sz="1400" dirty="0"/>
          </a:br>
          <a:r>
            <a:rPr lang="ru-RU" sz="1500" dirty="0"/>
            <a:t> </a:t>
          </a:r>
          <a:br>
            <a:rPr lang="ru-RU" sz="1500" dirty="0"/>
          </a:br>
          <a:r>
            <a:rPr lang="ru-RU" sz="1000" dirty="0"/>
            <a:t>- рейтинг 4,9 в 2028г.</a:t>
          </a:r>
          <a:br>
            <a:rPr lang="ru-RU" sz="1000" dirty="0"/>
          </a:br>
          <a:r>
            <a:rPr lang="ru-RU" sz="1000" dirty="0"/>
            <a:t>- скорость ответа </a:t>
          </a:r>
          <a:r>
            <a:rPr lang="en-US" sz="1000" dirty="0"/>
            <a:t>&lt;1</a:t>
          </a:r>
          <a:r>
            <a:rPr lang="ru-RU" sz="1000" dirty="0"/>
            <a:t>8</a:t>
          </a:r>
          <a:r>
            <a:rPr lang="en-US" sz="1000" dirty="0"/>
            <a:t> </a:t>
          </a:r>
          <a:r>
            <a:rPr lang="ru-RU" sz="1000" dirty="0"/>
            <a:t>ч. </a:t>
          </a:r>
          <a:br>
            <a:rPr lang="ru-RU" sz="1500" dirty="0"/>
          </a:br>
          <a:endParaRPr lang="ru-RU" sz="1500" dirty="0"/>
        </a:p>
      </dgm:t>
    </dgm:pt>
    <dgm:pt modelId="{5162BDBC-3C80-47E8-90E3-9FFDCD0BCA32}" type="parTrans" cxnId="{E66478C1-D24E-41EA-AEDE-62675A3CA87A}">
      <dgm:prSet/>
      <dgm:spPr/>
      <dgm:t>
        <a:bodyPr/>
        <a:lstStyle/>
        <a:p>
          <a:endParaRPr lang="ru-RU"/>
        </a:p>
      </dgm:t>
    </dgm:pt>
    <dgm:pt modelId="{0D2A42F1-36C0-4D2C-9711-72A1F58677B4}" type="sibTrans" cxnId="{E66478C1-D24E-41EA-AEDE-62675A3CA87A}">
      <dgm:prSet/>
      <dgm:spPr/>
      <dgm:t>
        <a:bodyPr/>
        <a:lstStyle/>
        <a:p>
          <a:endParaRPr lang="ru-RU"/>
        </a:p>
      </dgm:t>
    </dgm:pt>
    <dgm:pt modelId="{B6B116E0-043E-490A-8C61-1ACD9D303B44}" type="pres">
      <dgm:prSet presAssocID="{B9F42AB0-B2FC-432F-9A1F-699A88E51EDA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58A610E3-8DCC-4E5B-A099-9DFA5810EC50}" type="pres">
      <dgm:prSet presAssocID="{823BAB37-7078-4BEE-942F-2E9C48FC6AD3}" presName="composite" presStyleCnt="0"/>
      <dgm:spPr/>
    </dgm:pt>
    <dgm:pt modelId="{463B84A3-686C-4071-AA3F-5486E1813C8D}" type="pres">
      <dgm:prSet presAssocID="{823BAB37-7078-4BEE-942F-2E9C48FC6AD3}" presName="BackAccent" presStyleLbl="bgShp" presStyleIdx="0" presStyleCnt="4" custFlipVert="1" custFlipHor="1" custScaleX="15140" custScaleY="26052"/>
      <dgm:spPr>
        <a:xfrm>
          <a:off x="578478" y="0"/>
          <a:ext cx="301978" cy="301978"/>
        </a:xfrm>
        <a:prstGeom prst="ellipse">
          <a:avLst/>
        </a:prstGeom>
        <a:gradFill rotWithShape="0">
          <a:gsLst>
            <a:gs pos="0">
              <a:srgbClr val="4285F4">
                <a:lumMod val="5000"/>
                <a:lumOff val="95000"/>
                <a:alpha val="0"/>
              </a:srgbClr>
            </a:gs>
            <a:gs pos="74000">
              <a:srgbClr val="4285F4">
                <a:lumMod val="45000"/>
                <a:lumOff val="55000"/>
              </a:srgbClr>
            </a:gs>
            <a:gs pos="83000">
              <a:srgbClr val="4285F4">
                <a:lumMod val="45000"/>
                <a:lumOff val="55000"/>
              </a:srgbClr>
            </a:gs>
            <a:gs pos="100000">
              <a:srgbClr val="4285F4">
                <a:lumMod val="30000"/>
                <a:lumOff val="70000"/>
              </a:srgbClr>
            </a:gs>
          </a:gsLst>
          <a:lin ang="5400000" scaled="1"/>
        </a:gradFill>
        <a:ln w="25400" cap="flat" cmpd="sng" algn="ctr">
          <a:solidFill>
            <a:srgbClr val="4285F4">
              <a:hueOff val="0"/>
              <a:satOff val="0"/>
              <a:lumOff val="0"/>
              <a:alpha val="0"/>
            </a:srgbClr>
          </a:solidFill>
          <a:prstDash val="solid"/>
        </a:ln>
        <a:effectLst/>
      </dgm:spPr>
    </dgm:pt>
    <dgm:pt modelId="{B3DD89AE-E0CA-4393-B9C8-2386045CB734}" type="pres">
      <dgm:prSet presAssocID="{823BAB37-7078-4BEE-942F-2E9C48FC6AD3}" presName="Accent" presStyleLbl="alignNode1" presStyleIdx="0" presStyleCnt="4"/>
      <dgm:spPr/>
    </dgm:pt>
    <dgm:pt modelId="{200C856D-E550-4B2E-B7A9-873B7FC95605}" type="pres">
      <dgm:prSet presAssocID="{823BAB37-7078-4BEE-942F-2E9C48FC6AD3}" presName="Child" presStyleLbl="revTx" presStyleIdx="0" presStyleCnt="8" custScaleX="198544">
        <dgm:presLayoutVars>
          <dgm:chMax val="0"/>
          <dgm:chPref val="0"/>
          <dgm:bulletEnabled val="1"/>
        </dgm:presLayoutVars>
      </dgm:prSet>
      <dgm:spPr/>
    </dgm:pt>
    <dgm:pt modelId="{3FCC82CF-2817-4E26-9FFD-145A378ED36F}" type="pres">
      <dgm:prSet presAssocID="{823BAB37-7078-4BEE-942F-2E9C48FC6AD3}" presName="Parent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984BC46C-92F7-4B3A-9058-C19571DCA7D8}" type="pres">
      <dgm:prSet presAssocID="{ABE6C78D-9661-4943-A539-81EDF4E9E2C6}" presName="sibTrans" presStyleCnt="0"/>
      <dgm:spPr/>
    </dgm:pt>
    <dgm:pt modelId="{13021E21-97C1-402D-9906-FB1BDBCB79F1}" type="pres">
      <dgm:prSet presAssocID="{A344173E-CAB1-4586-A573-83EBDCAAED50}" presName="composite" presStyleCnt="0"/>
      <dgm:spPr/>
    </dgm:pt>
    <dgm:pt modelId="{259F6D18-46C4-435E-8492-A8F00025BB53}" type="pres">
      <dgm:prSet presAssocID="{A344173E-CAB1-4586-A573-83EBDCAAED50}" presName="BackAccent" presStyleLbl="bgShp" presStyleIdx="1" presStyleCnt="4" custFlipVert="1" custFlipHor="1" custScaleX="19113" custScaleY="25755" custLinFactX="-500000" custLinFactY="100000" custLinFactNeighborX="-585909" custLinFactNeighborY="151694"/>
      <dgm:spPr>
        <a:solidFill>
          <a:schemeClr val="bg1"/>
        </a:solidFill>
      </dgm:spPr>
    </dgm:pt>
    <dgm:pt modelId="{427A7AD4-D98F-4C9C-B530-2C48098D1DBE}" type="pres">
      <dgm:prSet presAssocID="{A344173E-CAB1-4586-A573-83EBDCAAED50}" presName="Accent" presStyleLbl="alignNode1" presStyleIdx="1" presStyleCnt="4" custFlipVert="1" custFlipHor="1" custScaleX="22387" custScaleY="26388" custLinFactX="-683589" custLinFactY="100000" custLinFactNeighborX="-700000" custLinFactNeighborY="126495"/>
      <dgm:spPr>
        <a:xfrm>
          <a:off x="2370005" y="30197"/>
          <a:ext cx="241582" cy="241582"/>
        </a:xfrm>
        <a:prstGeom prst="chord">
          <a:avLst>
            <a:gd name="adj1" fmla="val 0"/>
            <a:gd name="adj2" fmla="val 10800000"/>
          </a:avLst>
        </a:prstGeom>
        <a:noFill/>
        <a:ln w="25400" cap="flat" cmpd="sng" algn="ctr">
          <a:solidFill>
            <a:srgbClr val="4285F4">
              <a:hueOff val="0"/>
              <a:satOff val="0"/>
              <a:lumOff val="0"/>
              <a:alpha val="0"/>
            </a:srgbClr>
          </a:solidFill>
          <a:prstDash val="solid"/>
        </a:ln>
        <a:effectLst/>
      </dgm:spPr>
    </dgm:pt>
    <dgm:pt modelId="{A0CF274D-82E3-4B6D-95DC-4340F3DE4824}" type="pres">
      <dgm:prSet presAssocID="{A344173E-CAB1-4586-A573-83EBDCAAED50}" presName="Child" presStyleLbl="revTx" presStyleIdx="2" presStyleCnt="8" custScaleX="180468">
        <dgm:presLayoutVars>
          <dgm:chMax val="0"/>
          <dgm:chPref val="0"/>
          <dgm:bulletEnabled val="1"/>
        </dgm:presLayoutVars>
      </dgm:prSet>
      <dgm:spPr/>
    </dgm:pt>
    <dgm:pt modelId="{9CF10074-A631-48A8-BBEB-4A3A687689B9}" type="pres">
      <dgm:prSet presAssocID="{A344173E-CAB1-4586-A573-83EBDCAAED50}" presName="Parent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ECCE2BBF-D74E-4155-9569-4F561E07423C}" type="pres">
      <dgm:prSet presAssocID="{1749D5CE-1326-4F44-B9DB-BF379E49C37F}" presName="sibTrans" presStyleCnt="0"/>
      <dgm:spPr/>
    </dgm:pt>
    <dgm:pt modelId="{8DD929B5-093B-4071-9F97-E0D4AA603D8D}" type="pres">
      <dgm:prSet presAssocID="{1679F686-A253-42AD-9AB7-85D1A7CCE669}" presName="composite" presStyleCnt="0"/>
      <dgm:spPr/>
    </dgm:pt>
    <dgm:pt modelId="{F6FBCD37-0FAB-4A92-94F0-E5D2D47AB289}" type="pres">
      <dgm:prSet presAssocID="{1679F686-A253-42AD-9AB7-85D1A7CCE669}" presName="BackAccent" presStyleLbl="bgShp" presStyleIdx="2" presStyleCnt="4" custFlipVert="0" custFlipHor="0" custScaleX="42565" custScaleY="26053" custLinFactNeighborX="5819" custLinFactNeighborY="-11703"/>
      <dgm:spPr/>
    </dgm:pt>
    <dgm:pt modelId="{9A269BF4-D20C-4095-A27E-2A919C8BEB4B}" type="pres">
      <dgm:prSet presAssocID="{1679F686-A253-42AD-9AB7-85D1A7CCE669}" presName="Accent" presStyleLbl="alignNode1" presStyleIdx="2" presStyleCnt="4" custFlipVert="1" custFlipHor="0" custScaleX="46441" custScaleY="18925" custLinFactNeighborX="18389" custLinFactNeighborY="-21788"/>
      <dgm:spPr>
        <a:xfrm>
          <a:off x="4050594" y="30197"/>
          <a:ext cx="241582" cy="241582"/>
        </a:xfrm>
        <a:prstGeom prst="chord">
          <a:avLst>
            <a:gd name="adj1" fmla="val 19800000"/>
            <a:gd name="adj2" fmla="val 12600000"/>
          </a:avLst>
        </a:prstGeom>
        <a:noFill/>
        <a:ln w="25400" cap="flat" cmpd="sng" algn="ctr">
          <a:solidFill>
            <a:srgbClr val="4285F4">
              <a:hueOff val="0"/>
              <a:satOff val="0"/>
              <a:lumOff val="0"/>
              <a:alpha val="0"/>
            </a:srgbClr>
          </a:solidFill>
          <a:prstDash val="solid"/>
        </a:ln>
        <a:effectLst/>
      </dgm:spPr>
    </dgm:pt>
    <dgm:pt modelId="{585C9964-13D8-4FEE-9B88-BDC68FB114F7}" type="pres">
      <dgm:prSet presAssocID="{1679F686-A253-42AD-9AB7-85D1A7CCE669}" presName="Child" presStyleLbl="revTx" presStyleIdx="4" presStyleCnt="8" custScaleX="176587">
        <dgm:presLayoutVars>
          <dgm:chMax val="0"/>
          <dgm:chPref val="0"/>
          <dgm:bulletEnabled val="1"/>
        </dgm:presLayoutVars>
      </dgm:prSet>
      <dgm:spPr/>
    </dgm:pt>
    <dgm:pt modelId="{5DCC0899-7C35-4DCF-9D31-203B09BE5699}" type="pres">
      <dgm:prSet presAssocID="{1679F686-A253-42AD-9AB7-85D1A7CCE669}" presName="Parent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DCEF0CC7-E953-4857-B6BF-801DC3355E19}" type="pres">
      <dgm:prSet presAssocID="{D491AA95-0708-4753-BFAD-01068BE21205}" presName="sibTrans" presStyleCnt="0"/>
      <dgm:spPr/>
    </dgm:pt>
    <dgm:pt modelId="{39B482C8-9ACB-4095-A704-4570AB97381D}" type="pres">
      <dgm:prSet presAssocID="{8B2AE333-B390-464D-A4B9-E5748C1A5699}" presName="composite" presStyleCnt="0"/>
      <dgm:spPr/>
    </dgm:pt>
    <dgm:pt modelId="{3767B267-643E-4B38-BE64-E0AC8E9F9FED}" type="pres">
      <dgm:prSet presAssocID="{8B2AE333-B390-464D-A4B9-E5748C1A5699}" presName="BackAccent" presStyleLbl="bgShp" presStyleIdx="3" presStyleCnt="4" custScaleX="32019" custScaleY="16548" custLinFactNeighborX="9420" custLinFactNeighborY="51193"/>
      <dgm:spPr/>
    </dgm:pt>
    <dgm:pt modelId="{2B0274CE-6E03-4E81-9AB2-70941D4AFBCF}" type="pres">
      <dgm:prSet presAssocID="{8B2AE333-B390-464D-A4B9-E5748C1A5699}" presName="Accent" presStyleLbl="alignNode1" presStyleIdx="3" presStyleCnt="4" custFlipVert="1" custFlipHor="1" custScaleX="40024" custScaleY="24724" custLinFactNeighborX="5886" custLinFactNeighborY="38387"/>
      <dgm:spPr>
        <a:noFill/>
        <a:ln>
          <a:solidFill>
            <a:schemeClr val="accent1">
              <a:hueOff val="0"/>
              <a:satOff val="0"/>
              <a:lumOff val="0"/>
              <a:alpha val="0"/>
            </a:schemeClr>
          </a:solidFill>
        </a:ln>
      </dgm:spPr>
    </dgm:pt>
    <dgm:pt modelId="{825DDFC2-ADCE-433A-A6D0-6151A57C0FA9}" type="pres">
      <dgm:prSet presAssocID="{8B2AE333-B390-464D-A4B9-E5748C1A5699}" presName="Child" presStyleLbl="revTx" presStyleIdx="6" presStyleCnt="8" custScaleX="204096">
        <dgm:presLayoutVars>
          <dgm:chMax val="0"/>
          <dgm:chPref val="0"/>
          <dgm:bulletEnabled val="1"/>
        </dgm:presLayoutVars>
      </dgm:prSet>
      <dgm:spPr/>
    </dgm:pt>
    <dgm:pt modelId="{92A80EA8-4762-4990-87A9-C32F19EBA412}" type="pres">
      <dgm:prSet presAssocID="{8B2AE333-B390-464D-A4B9-E5748C1A5699}" presName="Parent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91F01009-3624-4530-8319-2E34FC9A63E6}" type="presOf" srcId="{A344173E-CAB1-4586-A573-83EBDCAAED50}" destId="{9CF10074-A631-48A8-BBEB-4A3A687689B9}" srcOrd="0" destOrd="0" presId="urn:microsoft.com/office/officeart/2008/layout/IncreasingCircleProcess"/>
    <dgm:cxn modelId="{C180E111-BA0D-4009-B269-64FD2B7BDD1E}" type="presOf" srcId="{275D7A87-A427-490A-B51B-BFA9E32A5D68}" destId="{200C856D-E550-4B2E-B7A9-873B7FC95605}" srcOrd="0" destOrd="0" presId="urn:microsoft.com/office/officeart/2008/layout/IncreasingCircleProcess"/>
    <dgm:cxn modelId="{CEADB114-A69A-46A5-8633-9408C932F80E}" srcId="{823BAB37-7078-4BEE-942F-2E9C48FC6AD3}" destId="{275D7A87-A427-490A-B51B-BFA9E32A5D68}" srcOrd="0" destOrd="0" parTransId="{D28F5F1E-13D6-43C3-A607-73B540E6840B}" sibTransId="{31D06DE0-E59E-4281-9F4F-783EB8EF560C}"/>
    <dgm:cxn modelId="{E881691A-C443-49A6-A65E-CE7F5C355A3C}" srcId="{B9F42AB0-B2FC-432F-9A1F-699A88E51EDA}" destId="{A344173E-CAB1-4586-A573-83EBDCAAED50}" srcOrd="1" destOrd="0" parTransId="{89007E83-0D16-4F6D-B65E-0DFA492D4F2A}" sibTransId="{1749D5CE-1326-4F44-B9DB-BF379E49C37F}"/>
    <dgm:cxn modelId="{3E8B9420-B64F-4BD0-8385-D3BA5633294C}" type="presOf" srcId="{79920CF2-39CA-4C8B-8CE0-19BCB1010D2D}" destId="{825DDFC2-ADCE-433A-A6D0-6151A57C0FA9}" srcOrd="0" destOrd="0" presId="urn:microsoft.com/office/officeart/2008/layout/IncreasingCircleProcess"/>
    <dgm:cxn modelId="{BB1BCA4C-FE09-41B6-A3B5-122E666D49A5}" srcId="{B9F42AB0-B2FC-432F-9A1F-699A88E51EDA}" destId="{1679F686-A253-42AD-9AB7-85D1A7CCE669}" srcOrd="2" destOrd="0" parTransId="{8E50AB4F-BDBC-400C-9D70-45740BE6741B}" sibTransId="{D491AA95-0708-4753-BFAD-01068BE21205}"/>
    <dgm:cxn modelId="{3F37E250-62DD-4873-8A41-DDE265D20FEF}" type="presOf" srcId="{B9F42AB0-B2FC-432F-9A1F-699A88E51EDA}" destId="{B6B116E0-043E-490A-8C61-1ACD9D303B44}" srcOrd="0" destOrd="0" presId="urn:microsoft.com/office/officeart/2008/layout/IncreasingCircleProcess"/>
    <dgm:cxn modelId="{6215B362-12E8-40D2-941B-A619FA4971EF}" srcId="{B9F42AB0-B2FC-432F-9A1F-699A88E51EDA}" destId="{8B2AE333-B390-464D-A4B9-E5748C1A5699}" srcOrd="3" destOrd="0" parTransId="{A741D08F-DFAC-413E-B946-9FDD8E6090AC}" sibTransId="{2BFD6A87-7130-413A-A869-807E5FBFB009}"/>
    <dgm:cxn modelId="{6D6F898F-E243-4A91-AD2B-1247CF4AEED4}" type="presOf" srcId="{823BAB37-7078-4BEE-942F-2E9C48FC6AD3}" destId="{3FCC82CF-2817-4E26-9FFD-145A378ED36F}" srcOrd="0" destOrd="0" presId="urn:microsoft.com/office/officeart/2008/layout/IncreasingCircleProcess"/>
    <dgm:cxn modelId="{A18D6BA2-AB45-4286-BFA0-E2733439779C}" srcId="{A344173E-CAB1-4586-A573-83EBDCAAED50}" destId="{AD8F8AF4-53B8-4398-90F1-F08B0432C34C}" srcOrd="0" destOrd="0" parTransId="{3DA9A284-C685-406F-BED9-5C4E117F73A0}" sibTransId="{0EA49FD2-4ADA-4C9B-9323-2B77295C52C4}"/>
    <dgm:cxn modelId="{177A24A3-BA6D-4143-9FBA-1ADF8883BCE8}" type="presOf" srcId="{669F3B42-8BF3-43CE-AE04-131C5277EDD7}" destId="{585C9964-13D8-4FEE-9B88-BDC68FB114F7}" srcOrd="0" destOrd="0" presId="urn:microsoft.com/office/officeart/2008/layout/IncreasingCircleProcess"/>
    <dgm:cxn modelId="{C102E2B1-1347-4ABE-939F-0CA4704B2EFE}" type="presOf" srcId="{AD8F8AF4-53B8-4398-90F1-F08B0432C34C}" destId="{A0CF274D-82E3-4B6D-95DC-4340F3DE4824}" srcOrd="0" destOrd="0" presId="urn:microsoft.com/office/officeart/2008/layout/IncreasingCircleProcess"/>
    <dgm:cxn modelId="{A4D4FDB3-D5B5-41B8-BD61-6E8F8C4844CD}" srcId="{1679F686-A253-42AD-9AB7-85D1A7CCE669}" destId="{669F3B42-8BF3-43CE-AE04-131C5277EDD7}" srcOrd="0" destOrd="0" parTransId="{F6B25371-6A84-43AF-8151-4DE0D143FDD7}" sibTransId="{0EEC3A84-6575-4BD7-9A6C-C9BE87FCAAAA}"/>
    <dgm:cxn modelId="{9ED15BBB-F85C-4622-B1FB-E7B2D0422100}" type="presOf" srcId="{1679F686-A253-42AD-9AB7-85D1A7CCE669}" destId="{5DCC0899-7C35-4DCF-9D31-203B09BE5699}" srcOrd="0" destOrd="0" presId="urn:microsoft.com/office/officeart/2008/layout/IncreasingCircleProcess"/>
    <dgm:cxn modelId="{E66478C1-D24E-41EA-AEDE-62675A3CA87A}" srcId="{8B2AE333-B390-464D-A4B9-E5748C1A5699}" destId="{79920CF2-39CA-4C8B-8CE0-19BCB1010D2D}" srcOrd="0" destOrd="0" parTransId="{5162BDBC-3C80-47E8-90E3-9FFDCD0BCA32}" sibTransId="{0D2A42F1-36C0-4D2C-9711-72A1F58677B4}"/>
    <dgm:cxn modelId="{C17E4ED5-1258-468B-AD0D-281C8B9DCB33}" type="presOf" srcId="{8B2AE333-B390-464D-A4B9-E5748C1A5699}" destId="{92A80EA8-4762-4990-87A9-C32F19EBA412}" srcOrd="0" destOrd="0" presId="urn:microsoft.com/office/officeart/2008/layout/IncreasingCircleProcess"/>
    <dgm:cxn modelId="{EEF755F2-C4CC-497A-B0CA-1449CD9B4CC0}" srcId="{B9F42AB0-B2FC-432F-9A1F-699A88E51EDA}" destId="{823BAB37-7078-4BEE-942F-2E9C48FC6AD3}" srcOrd="0" destOrd="0" parTransId="{9F520E96-7D3C-47E8-8262-4A01E22A9450}" sibTransId="{ABE6C78D-9661-4943-A539-81EDF4E9E2C6}"/>
    <dgm:cxn modelId="{73B719CF-59BA-4B86-8433-86639C681CBA}" type="presParOf" srcId="{B6B116E0-043E-490A-8C61-1ACD9D303B44}" destId="{58A610E3-8DCC-4E5B-A099-9DFA5810EC50}" srcOrd="0" destOrd="0" presId="urn:microsoft.com/office/officeart/2008/layout/IncreasingCircleProcess"/>
    <dgm:cxn modelId="{E17B85F6-A8C8-43F8-9E0D-7F9FD746F86D}" type="presParOf" srcId="{58A610E3-8DCC-4E5B-A099-9DFA5810EC50}" destId="{463B84A3-686C-4071-AA3F-5486E1813C8D}" srcOrd="0" destOrd="0" presId="urn:microsoft.com/office/officeart/2008/layout/IncreasingCircleProcess"/>
    <dgm:cxn modelId="{29CCE216-F11F-4855-A43E-9A350EC3FD4F}" type="presParOf" srcId="{58A610E3-8DCC-4E5B-A099-9DFA5810EC50}" destId="{B3DD89AE-E0CA-4393-B9C8-2386045CB734}" srcOrd="1" destOrd="0" presId="urn:microsoft.com/office/officeart/2008/layout/IncreasingCircleProcess"/>
    <dgm:cxn modelId="{4C951A34-BF19-4917-9B7E-3F788C546562}" type="presParOf" srcId="{58A610E3-8DCC-4E5B-A099-9DFA5810EC50}" destId="{200C856D-E550-4B2E-B7A9-873B7FC95605}" srcOrd="2" destOrd="0" presId="urn:microsoft.com/office/officeart/2008/layout/IncreasingCircleProcess"/>
    <dgm:cxn modelId="{7F8CEB11-745D-4E3D-80B9-75D33DA3EB8D}" type="presParOf" srcId="{58A610E3-8DCC-4E5B-A099-9DFA5810EC50}" destId="{3FCC82CF-2817-4E26-9FFD-145A378ED36F}" srcOrd="3" destOrd="0" presId="urn:microsoft.com/office/officeart/2008/layout/IncreasingCircleProcess"/>
    <dgm:cxn modelId="{0A288EBC-6E5D-457B-BD68-5D6BD0963236}" type="presParOf" srcId="{B6B116E0-043E-490A-8C61-1ACD9D303B44}" destId="{984BC46C-92F7-4B3A-9058-C19571DCA7D8}" srcOrd="1" destOrd="0" presId="urn:microsoft.com/office/officeart/2008/layout/IncreasingCircleProcess"/>
    <dgm:cxn modelId="{81E1DFEE-5814-4D1F-AC26-9241F44D4351}" type="presParOf" srcId="{B6B116E0-043E-490A-8C61-1ACD9D303B44}" destId="{13021E21-97C1-402D-9906-FB1BDBCB79F1}" srcOrd="2" destOrd="0" presId="urn:microsoft.com/office/officeart/2008/layout/IncreasingCircleProcess"/>
    <dgm:cxn modelId="{ED547134-6B2E-4CB6-86F2-C159786126A4}" type="presParOf" srcId="{13021E21-97C1-402D-9906-FB1BDBCB79F1}" destId="{259F6D18-46C4-435E-8492-A8F00025BB53}" srcOrd="0" destOrd="0" presId="urn:microsoft.com/office/officeart/2008/layout/IncreasingCircleProcess"/>
    <dgm:cxn modelId="{DDAE037F-65BE-4961-AD95-0586E45423D7}" type="presParOf" srcId="{13021E21-97C1-402D-9906-FB1BDBCB79F1}" destId="{427A7AD4-D98F-4C9C-B530-2C48098D1DBE}" srcOrd="1" destOrd="0" presId="urn:microsoft.com/office/officeart/2008/layout/IncreasingCircleProcess"/>
    <dgm:cxn modelId="{A6A8AFAC-825D-4FCA-875E-2EF630A6879E}" type="presParOf" srcId="{13021E21-97C1-402D-9906-FB1BDBCB79F1}" destId="{A0CF274D-82E3-4B6D-95DC-4340F3DE4824}" srcOrd="2" destOrd="0" presId="urn:microsoft.com/office/officeart/2008/layout/IncreasingCircleProcess"/>
    <dgm:cxn modelId="{0127112B-5B41-444F-9C9F-F8E6AD5FF632}" type="presParOf" srcId="{13021E21-97C1-402D-9906-FB1BDBCB79F1}" destId="{9CF10074-A631-48A8-BBEB-4A3A687689B9}" srcOrd="3" destOrd="0" presId="urn:microsoft.com/office/officeart/2008/layout/IncreasingCircleProcess"/>
    <dgm:cxn modelId="{8B796CB9-EA94-4D71-B403-FA498F6E233C}" type="presParOf" srcId="{B6B116E0-043E-490A-8C61-1ACD9D303B44}" destId="{ECCE2BBF-D74E-4155-9569-4F561E07423C}" srcOrd="3" destOrd="0" presId="urn:microsoft.com/office/officeart/2008/layout/IncreasingCircleProcess"/>
    <dgm:cxn modelId="{BE81CA7B-D8DB-4EC9-806F-7D2F47072BAC}" type="presParOf" srcId="{B6B116E0-043E-490A-8C61-1ACD9D303B44}" destId="{8DD929B5-093B-4071-9F97-E0D4AA603D8D}" srcOrd="4" destOrd="0" presId="urn:microsoft.com/office/officeart/2008/layout/IncreasingCircleProcess"/>
    <dgm:cxn modelId="{9F333E49-F57F-4E27-B5FF-661E1020808B}" type="presParOf" srcId="{8DD929B5-093B-4071-9F97-E0D4AA603D8D}" destId="{F6FBCD37-0FAB-4A92-94F0-E5D2D47AB289}" srcOrd="0" destOrd="0" presId="urn:microsoft.com/office/officeart/2008/layout/IncreasingCircleProcess"/>
    <dgm:cxn modelId="{3266869A-3EFE-4204-93B3-E01A45086B78}" type="presParOf" srcId="{8DD929B5-093B-4071-9F97-E0D4AA603D8D}" destId="{9A269BF4-D20C-4095-A27E-2A919C8BEB4B}" srcOrd="1" destOrd="0" presId="urn:microsoft.com/office/officeart/2008/layout/IncreasingCircleProcess"/>
    <dgm:cxn modelId="{9EF92CD5-2F1D-44F0-8021-28EF32ADEA50}" type="presParOf" srcId="{8DD929B5-093B-4071-9F97-E0D4AA603D8D}" destId="{585C9964-13D8-4FEE-9B88-BDC68FB114F7}" srcOrd="2" destOrd="0" presId="urn:microsoft.com/office/officeart/2008/layout/IncreasingCircleProcess"/>
    <dgm:cxn modelId="{676AA943-68CC-41D9-8B8A-D0A3832845E6}" type="presParOf" srcId="{8DD929B5-093B-4071-9F97-E0D4AA603D8D}" destId="{5DCC0899-7C35-4DCF-9D31-203B09BE5699}" srcOrd="3" destOrd="0" presId="urn:microsoft.com/office/officeart/2008/layout/IncreasingCircleProcess"/>
    <dgm:cxn modelId="{F6894BD9-6CA6-4D7B-A70B-1DDB0146F851}" type="presParOf" srcId="{B6B116E0-043E-490A-8C61-1ACD9D303B44}" destId="{DCEF0CC7-E953-4857-B6BF-801DC3355E19}" srcOrd="5" destOrd="0" presId="urn:microsoft.com/office/officeart/2008/layout/IncreasingCircleProcess"/>
    <dgm:cxn modelId="{D77A570E-21DD-4250-8A56-CE6404E8A321}" type="presParOf" srcId="{B6B116E0-043E-490A-8C61-1ACD9D303B44}" destId="{39B482C8-9ACB-4095-A704-4570AB97381D}" srcOrd="6" destOrd="0" presId="urn:microsoft.com/office/officeart/2008/layout/IncreasingCircleProcess"/>
    <dgm:cxn modelId="{A746BE63-E17E-45DC-B35F-B85A3A6B3C20}" type="presParOf" srcId="{39B482C8-9ACB-4095-A704-4570AB97381D}" destId="{3767B267-643E-4B38-BE64-E0AC8E9F9FED}" srcOrd="0" destOrd="0" presId="urn:microsoft.com/office/officeart/2008/layout/IncreasingCircleProcess"/>
    <dgm:cxn modelId="{1AB11D36-023E-4CD3-8955-BC34898200F3}" type="presParOf" srcId="{39B482C8-9ACB-4095-A704-4570AB97381D}" destId="{2B0274CE-6E03-4E81-9AB2-70941D4AFBCF}" srcOrd="1" destOrd="0" presId="urn:microsoft.com/office/officeart/2008/layout/IncreasingCircleProcess"/>
    <dgm:cxn modelId="{78C55C6C-DF53-4F7F-977E-7CF7753CF16E}" type="presParOf" srcId="{39B482C8-9ACB-4095-A704-4570AB97381D}" destId="{825DDFC2-ADCE-433A-A6D0-6151A57C0FA9}" srcOrd="2" destOrd="0" presId="urn:microsoft.com/office/officeart/2008/layout/IncreasingCircleProcess"/>
    <dgm:cxn modelId="{2C1E166E-09F5-4A6B-B4EB-6E7DC81D99CD}" type="presParOf" srcId="{39B482C8-9ACB-4095-A704-4570AB97381D}" destId="{92A80EA8-4762-4990-87A9-C32F19EBA412}" srcOrd="3" destOrd="0" presId="urn:microsoft.com/office/officeart/2008/layout/IncreasingCircleProcess"/>
  </dgm:cxnLst>
  <dgm:bg>
    <a:solidFill>
      <a:schemeClr val="lt1">
        <a:alpha val="0"/>
      </a:schemeClr>
    </a:soli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B84A3-686C-4071-AA3F-5486E1813C8D}">
      <dsp:nvSpPr>
        <dsp:cNvPr id="0" name=""/>
        <dsp:cNvSpPr/>
      </dsp:nvSpPr>
      <dsp:spPr>
        <a:xfrm flipH="1" flipV="1">
          <a:off x="720734" y="111653"/>
          <a:ext cx="45719" cy="78671"/>
        </a:xfrm>
        <a:prstGeom prst="ellipse">
          <a:avLst/>
        </a:prstGeom>
        <a:gradFill rotWithShape="0">
          <a:gsLst>
            <a:gs pos="0">
              <a:srgbClr val="4285F4">
                <a:lumMod val="5000"/>
                <a:lumOff val="95000"/>
                <a:alpha val="0"/>
              </a:srgbClr>
            </a:gs>
            <a:gs pos="74000">
              <a:srgbClr val="4285F4">
                <a:lumMod val="45000"/>
                <a:lumOff val="55000"/>
              </a:srgbClr>
            </a:gs>
            <a:gs pos="83000">
              <a:srgbClr val="4285F4">
                <a:lumMod val="45000"/>
                <a:lumOff val="55000"/>
              </a:srgbClr>
            </a:gs>
            <a:gs pos="100000">
              <a:srgbClr val="4285F4">
                <a:lumMod val="30000"/>
                <a:lumOff val="70000"/>
              </a:srgbClr>
            </a:gs>
          </a:gsLst>
          <a:lin ang="5400000" scaled="1"/>
        </a:gradFill>
        <a:ln w="25400" cap="flat" cmpd="sng" algn="ctr">
          <a:solidFill>
            <a:srgbClr val="4285F4">
              <a:hueOff val="0"/>
              <a:satOff val="0"/>
              <a:lumOff val="0"/>
              <a:alpha val="0"/>
            </a:srgbClr>
          </a:solidFill>
          <a:prstDash val="solid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D89AE-E0CA-4393-B9C8-2386045CB734}">
      <dsp:nvSpPr>
        <dsp:cNvPr id="0" name=""/>
        <dsp:cNvSpPr/>
      </dsp:nvSpPr>
      <dsp:spPr>
        <a:xfrm>
          <a:off x="622802" y="30197"/>
          <a:ext cx="241582" cy="241582"/>
        </a:xfrm>
        <a:prstGeom prst="chord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C856D-E550-4B2E-B7A9-873B7FC95605}">
      <dsp:nvSpPr>
        <dsp:cNvPr id="0" name=""/>
        <dsp:cNvSpPr/>
      </dsp:nvSpPr>
      <dsp:spPr>
        <a:xfrm>
          <a:off x="517322" y="301978"/>
          <a:ext cx="1773699" cy="1270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Систематизация отзывов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- Платформа сбора отзывов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- </a:t>
          </a:r>
          <a:r>
            <a:rPr lang="en-US" sz="1000" kern="1200" dirty="0"/>
            <a:t>AI-</a:t>
          </a:r>
          <a:r>
            <a:rPr lang="ru-RU" sz="1000" kern="1200" dirty="0"/>
            <a:t>классификация тем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- </a:t>
          </a:r>
          <a:r>
            <a:rPr lang="en-US" sz="1000" kern="1200" dirty="0"/>
            <a:t>AI </a:t>
          </a:r>
          <a:r>
            <a:rPr lang="ru-RU" sz="1000" kern="1200" dirty="0"/>
            <a:t>и шаблоны ответов</a:t>
          </a:r>
        </a:p>
      </dsp:txBody>
      <dsp:txXfrm>
        <a:off x="517322" y="301978"/>
        <a:ext cx="1773699" cy="1270826"/>
      </dsp:txXfrm>
    </dsp:sp>
    <dsp:sp modelId="{3FCC82CF-2817-4E26-9FFD-145A378ED36F}">
      <dsp:nvSpPr>
        <dsp:cNvPr id="0" name=""/>
        <dsp:cNvSpPr/>
      </dsp:nvSpPr>
      <dsp:spPr>
        <a:xfrm>
          <a:off x="957495" y="0"/>
          <a:ext cx="893353" cy="30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Этап 1</a:t>
          </a:r>
          <a:br>
            <a:rPr lang="ru-RU" sz="1200" kern="1200" dirty="0"/>
          </a:br>
          <a:r>
            <a:rPr lang="ru-RU" sz="1200" kern="1200" dirty="0"/>
            <a:t>2025</a:t>
          </a:r>
        </a:p>
      </dsp:txBody>
      <dsp:txXfrm>
        <a:off x="957495" y="0"/>
        <a:ext cx="893353" cy="301978"/>
      </dsp:txXfrm>
    </dsp:sp>
    <dsp:sp modelId="{259F6D18-46C4-435E-8492-A8F00025BB53}">
      <dsp:nvSpPr>
        <dsp:cNvPr id="0" name=""/>
        <dsp:cNvSpPr/>
      </dsp:nvSpPr>
      <dsp:spPr>
        <a:xfrm flipH="1" flipV="1">
          <a:off x="0" y="872164"/>
          <a:ext cx="57717" cy="77774"/>
        </a:xfrm>
        <a:prstGeom prst="ellipse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A7AD4-D98F-4C9C-B530-2C48098D1DBE}">
      <dsp:nvSpPr>
        <dsp:cNvPr id="0" name=""/>
        <dsp:cNvSpPr/>
      </dsp:nvSpPr>
      <dsp:spPr>
        <a:xfrm flipH="1" flipV="1">
          <a:off x="-27041" y="666288"/>
          <a:ext cx="54083" cy="63748"/>
        </a:xfrm>
        <a:prstGeom prst="chord">
          <a:avLst>
            <a:gd name="adj1" fmla="val 0"/>
            <a:gd name="adj2" fmla="val 10800000"/>
          </a:avLst>
        </a:prstGeom>
        <a:noFill/>
        <a:ln w="25400" cap="flat" cmpd="sng" algn="ctr">
          <a:solidFill>
            <a:srgbClr val="4285F4">
              <a:hueOff val="0"/>
              <a:satOff val="0"/>
              <a:lumOff val="0"/>
              <a:alpha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F274D-82E3-4B6D-95DC-4340F3DE4824}">
      <dsp:nvSpPr>
        <dsp:cNvPr id="0" name=""/>
        <dsp:cNvSpPr/>
      </dsp:nvSpPr>
      <dsp:spPr>
        <a:xfrm>
          <a:off x="2353934" y="301978"/>
          <a:ext cx="1612217" cy="1270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Скорость и охват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- 24 ч. ответ</a:t>
          </a:r>
          <a:br>
            <a:rPr lang="ru-RU" sz="1000" kern="1200" dirty="0"/>
          </a:br>
          <a:r>
            <a:rPr lang="ru-RU" sz="1000" kern="1200" dirty="0"/>
            <a:t>- 85% автоответов</a:t>
          </a:r>
          <a:br>
            <a:rPr lang="ru-RU" sz="1000" kern="1200" dirty="0"/>
          </a:br>
          <a:r>
            <a:rPr lang="ru-RU" sz="1000" kern="1200" dirty="0"/>
            <a:t>- 90% уникальных ответов сотрудников</a:t>
          </a:r>
          <a:br>
            <a:rPr lang="ru-RU" sz="1000" kern="1200" dirty="0"/>
          </a:br>
          <a:r>
            <a:rPr lang="ru-RU" sz="1000" kern="1200" dirty="0"/>
            <a:t>- инсайты за 1 мин.</a:t>
          </a:r>
        </a:p>
      </dsp:txBody>
      <dsp:txXfrm>
        <a:off x="2353934" y="301978"/>
        <a:ext cx="1612217" cy="1270826"/>
      </dsp:txXfrm>
    </dsp:sp>
    <dsp:sp modelId="{9CF10074-A631-48A8-BBEB-4A3A687689B9}">
      <dsp:nvSpPr>
        <dsp:cNvPr id="0" name=""/>
        <dsp:cNvSpPr/>
      </dsp:nvSpPr>
      <dsp:spPr>
        <a:xfrm>
          <a:off x="2713366" y="0"/>
          <a:ext cx="893353" cy="30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Этап 2</a:t>
          </a:r>
          <a:br>
            <a:rPr lang="ru-RU" sz="1200" kern="1200" dirty="0"/>
          </a:br>
          <a:r>
            <a:rPr lang="ru-RU" sz="1200" kern="1200" dirty="0"/>
            <a:t>2026 </a:t>
          </a:r>
        </a:p>
      </dsp:txBody>
      <dsp:txXfrm>
        <a:off x="2713366" y="0"/>
        <a:ext cx="893353" cy="301978"/>
      </dsp:txXfrm>
    </dsp:sp>
    <dsp:sp modelId="{F6FBCD37-0FAB-4A92-94F0-E5D2D47AB289}">
      <dsp:nvSpPr>
        <dsp:cNvPr id="0" name=""/>
        <dsp:cNvSpPr/>
      </dsp:nvSpPr>
      <dsp:spPr>
        <a:xfrm>
          <a:off x="4110562" y="76311"/>
          <a:ext cx="128537" cy="786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69BF4-D20C-4095-A27E-2A919C8BEB4B}">
      <dsp:nvSpPr>
        <dsp:cNvPr id="0" name=""/>
        <dsp:cNvSpPr/>
      </dsp:nvSpPr>
      <dsp:spPr>
        <a:xfrm flipV="1">
          <a:off x="4145586" y="75493"/>
          <a:ext cx="112193" cy="45719"/>
        </a:xfrm>
        <a:prstGeom prst="chord">
          <a:avLst>
            <a:gd name="adj1" fmla="val 19800000"/>
            <a:gd name="adj2" fmla="val 12600000"/>
          </a:avLst>
        </a:prstGeom>
        <a:noFill/>
        <a:ln w="25400" cap="flat" cmpd="sng" algn="ctr">
          <a:solidFill>
            <a:srgbClr val="4285F4">
              <a:hueOff val="0"/>
              <a:satOff val="0"/>
              <a:lumOff val="0"/>
              <a:alpha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C9964-13D8-4FEE-9B88-BDC68FB114F7}">
      <dsp:nvSpPr>
        <dsp:cNvPr id="0" name=""/>
        <dsp:cNvSpPr/>
      </dsp:nvSpPr>
      <dsp:spPr>
        <a:xfrm>
          <a:off x="4029064" y="301978"/>
          <a:ext cx="1577546" cy="1270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Предиктивное качество</a:t>
          </a:r>
          <a:br>
            <a:rPr lang="ru-RU" sz="1100" kern="1200" dirty="0"/>
          </a:br>
          <a:r>
            <a:rPr lang="ru-RU" sz="1100" kern="1200" dirty="0"/>
            <a:t>- о</a:t>
          </a:r>
          <a:r>
            <a:rPr lang="ru-RU" sz="1000" kern="1200" dirty="0"/>
            <a:t>сознанный запуск новинок с учетом пользовательского опыта и потребностей</a:t>
          </a:r>
        </a:p>
      </dsp:txBody>
      <dsp:txXfrm>
        <a:off x="4029064" y="301978"/>
        <a:ext cx="1577546" cy="1270826"/>
      </dsp:txXfrm>
    </dsp:sp>
    <dsp:sp modelId="{5DCC0899-7C35-4DCF-9D31-203B09BE5699}">
      <dsp:nvSpPr>
        <dsp:cNvPr id="0" name=""/>
        <dsp:cNvSpPr/>
      </dsp:nvSpPr>
      <dsp:spPr>
        <a:xfrm>
          <a:off x="4371160" y="0"/>
          <a:ext cx="893353" cy="30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Этап 3</a:t>
          </a:r>
          <a:br>
            <a:rPr lang="ru-RU" sz="1200" kern="1200" dirty="0"/>
          </a:br>
          <a:r>
            <a:rPr lang="ru-RU" sz="1200" kern="1200" dirty="0"/>
            <a:t>2026-2027</a:t>
          </a:r>
        </a:p>
      </dsp:txBody>
      <dsp:txXfrm>
        <a:off x="4371160" y="0"/>
        <a:ext cx="893353" cy="301978"/>
      </dsp:txXfrm>
    </dsp:sp>
    <dsp:sp modelId="{3767B267-643E-4B38-BE64-E0AC8E9F9FED}">
      <dsp:nvSpPr>
        <dsp:cNvPr id="0" name=""/>
        <dsp:cNvSpPr/>
      </dsp:nvSpPr>
      <dsp:spPr>
        <a:xfrm>
          <a:off x="5900694" y="280595"/>
          <a:ext cx="96690" cy="499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274CE-6E03-4E81-9AB2-70941D4AFBCF}">
      <dsp:nvSpPr>
        <dsp:cNvPr id="0" name=""/>
        <dsp:cNvSpPr/>
      </dsp:nvSpPr>
      <dsp:spPr>
        <a:xfrm flipH="1" flipV="1">
          <a:off x="5886467" y="213861"/>
          <a:ext cx="96691" cy="59728"/>
        </a:xfrm>
        <a:prstGeom prst="chord">
          <a:avLst>
            <a:gd name="adj1" fmla="val 16200000"/>
            <a:gd name="adj2" fmla="val 16200000"/>
          </a:avLst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DDFC2-ADCE-433A-A6D0-6151A57C0FA9}">
      <dsp:nvSpPr>
        <dsp:cNvPr id="0" name=""/>
        <dsp:cNvSpPr/>
      </dsp:nvSpPr>
      <dsp:spPr>
        <a:xfrm>
          <a:off x="5669522" y="301978"/>
          <a:ext cx="1823298" cy="1270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Лидерство</a:t>
          </a:r>
          <a:br>
            <a:rPr lang="ru-RU" sz="1400" kern="1200" dirty="0"/>
          </a:br>
          <a:r>
            <a:rPr lang="ru-RU" sz="1500" kern="1200" dirty="0"/>
            <a:t> </a:t>
          </a:r>
          <a:br>
            <a:rPr lang="ru-RU" sz="1500" kern="1200" dirty="0"/>
          </a:br>
          <a:r>
            <a:rPr lang="ru-RU" sz="1000" kern="1200" dirty="0"/>
            <a:t>- рейтинг 4,9 в 2028г.</a:t>
          </a:r>
          <a:br>
            <a:rPr lang="ru-RU" sz="1000" kern="1200" dirty="0"/>
          </a:br>
          <a:r>
            <a:rPr lang="ru-RU" sz="1000" kern="1200" dirty="0"/>
            <a:t>- скорость ответа </a:t>
          </a:r>
          <a:r>
            <a:rPr lang="en-US" sz="1000" kern="1200" dirty="0"/>
            <a:t>&lt;1</a:t>
          </a:r>
          <a:r>
            <a:rPr lang="ru-RU" sz="1000" kern="1200" dirty="0"/>
            <a:t>8</a:t>
          </a:r>
          <a:r>
            <a:rPr lang="en-US" sz="1000" kern="1200" dirty="0"/>
            <a:t> </a:t>
          </a:r>
          <a:r>
            <a:rPr lang="ru-RU" sz="1000" kern="1200" dirty="0"/>
            <a:t>ч. </a:t>
          </a:r>
          <a:br>
            <a:rPr lang="ru-RU" sz="1500" kern="1200" dirty="0"/>
          </a:br>
          <a:endParaRPr lang="ru-RU" sz="1500" kern="1200" dirty="0"/>
        </a:p>
      </dsp:txBody>
      <dsp:txXfrm>
        <a:off x="5669522" y="301978"/>
        <a:ext cx="1823298" cy="1270826"/>
      </dsp:txXfrm>
    </dsp:sp>
    <dsp:sp modelId="{92A80EA8-4762-4990-87A9-C32F19EBA412}">
      <dsp:nvSpPr>
        <dsp:cNvPr id="0" name=""/>
        <dsp:cNvSpPr/>
      </dsp:nvSpPr>
      <dsp:spPr>
        <a:xfrm>
          <a:off x="6134495" y="0"/>
          <a:ext cx="893353" cy="301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Этап 4</a:t>
          </a:r>
          <a:br>
            <a:rPr lang="ru-RU" sz="1200" kern="1200" dirty="0"/>
          </a:br>
          <a:r>
            <a:rPr lang="ru-RU" sz="1200" kern="1200" dirty="0"/>
            <a:t>2028</a:t>
          </a:r>
        </a:p>
      </dsp:txBody>
      <dsp:txXfrm>
        <a:off x="6134495" y="0"/>
        <a:ext cx="893353" cy="301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70c0c7f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70c0c7f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0610D0D-0619-D960-7BCE-AF4CA3EFF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70c0c7f4_0_4:notes">
            <a:extLst>
              <a:ext uri="{FF2B5EF4-FFF2-40B4-BE49-F238E27FC236}">
                <a16:creationId xmlns:a16="http://schemas.microsoft.com/office/drawing/2014/main" id="{745D40F2-1D49-09CD-B8EB-7FE0FC241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70c0c7f4_0_4:notes">
            <a:extLst>
              <a:ext uri="{FF2B5EF4-FFF2-40B4-BE49-F238E27FC236}">
                <a16:creationId xmlns:a16="http://schemas.microsoft.com/office/drawing/2014/main" id="{7337B691-83C5-9496-6DD3-FBCE7EA74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759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870c0c7f4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870c0c7f4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70c0c7f4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70c0c7f4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70c0c7f4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70c0c7f4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0568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870c0c7f4_1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870c0c7f4_1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70c0c7f4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70c0c7f4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5169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870c0c7f4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870c0c7f4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70c0c7f4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70c0c7f4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1606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70c0c7f4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70c0c7f4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707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870c0c7f4_1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870c0c7f4_1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70c0c7f4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70c0c7f4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9254DAE-7FAB-752C-B884-621A66A3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70c0c7f4_0_4:notes">
            <a:extLst>
              <a:ext uri="{FF2B5EF4-FFF2-40B4-BE49-F238E27FC236}">
                <a16:creationId xmlns:a16="http://schemas.microsoft.com/office/drawing/2014/main" id="{CFF8C45C-A120-B1F5-A684-65A614B35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70c0c7f4_0_4:notes">
            <a:extLst>
              <a:ext uri="{FF2B5EF4-FFF2-40B4-BE49-F238E27FC236}">
                <a16:creationId xmlns:a16="http://schemas.microsoft.com/office/drawing/2014/main" id="{54103179-3822-A49E-4231-04F1A13A9F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0337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59D921D-31A5-0860-C02A-BD2CA676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70c0c7f4_0_4:notes">
            <a:extLst>
              <a:ext uri="{FF2B5EF4-FFF2-40B4-BE49-F238E27FC236}">
                <a16:creationId xmlns:a16="http://schemas.microsoft.com/office/drawing/2014/main" id="{EB47B5BF-0243-D0E6-8DE3-0B3FE2695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70c0c7f4_0_4:notes">
            <a:extLst>
              <a:ext uri="{FF2B5EF4-FFF2-40B4-BE49-F238E27FC236}">
                <a16:creationId xmlns:a16="http://schemas.microsoft.com/office/drawing/2014/main" id="{E6D6A56D-F0D6-46A3-6FDB-33338347E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927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76A861B-E239-E718-B6A2-375D327D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70c0c7f4_0_4:notes">
            <a:extLst>
              <a:ext uri="{FF2B5EF4-FFF2-40B4-BE49-F238E27FC236}">
                <a16:creationId xmlns:a16="http://schemas.microsoft.com/office/drawing/2014/main" id="{DBD3D590-0F7E-07BE-B1DB-7414193F2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70c0c7f4_0_4:notes">
            <a:extLst>
              <a:ext uri="{FF2B5EF4-FFF2-40B4-BE49-F238E27FC236}">
                <a16:creationId xmlns:a16="http://schemas.microsoft.com/office/drawing/2014/main" id="{9A4F9778-C392-1F46-8E1B-8DB44F883E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544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TWIGA CG + photo ">
  <p:cSld name="TITLE_5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7924177" y="148271"/>
            <a:ext cx="597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D9D9D9"/>
                </a:solidFill>
                <a:latin typeface="Raleway"/>
                <a:ea typeface="Raleway"/>
                <a:cs typeface="Raleway"/>
                <a:sym typeface="Raleway"/>
              </a:rPr>
              <a:t>Москва | </a:t>
            </a:r>
            <a:endParaRPr sz="900" b="0" i="0" u="none" strike="noStrike" cap="none">
              <a:solidFill>
                <a:srgbClr val="D9D9D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2" name="Google Shape;52;p13"/>
          <p:cNvCxnSpPr/>
          <p:nvPr/>
        </p:nvCxnSpPr>
        <p:spPr>
          <a:xfrm>
            <a:off x="184650" y="368525"/>
            <a:ext cx="8774700" cy="0"/>
          </a:xfrm>
          <a:prstGeom prst="straightConnector1">
            <a:avLst/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" name="Google Shape;53;p13"/>
          <p:cNvCxnSpPr/>
          <p:nvPr/>
        </p:nvCxnSpPr>
        <p:spPr>
          <a:xfrm>
            <a:off x="184650" y="81609"/>
            <a:ext cx="8774700" cy="0"/>
          </a:xfrm>
          <a:prstGeom prst="straightConnector1">
            <a:avLst/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13"/>
          <p:cNvSpPr/>
          <p:nvPr/>
        </p:nvSpPr>
        <p:spPr>
          <a:xfrm>
            <a:off x="8439181" y="156963"/>
            <a:ext cx="477000" cy="1362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2024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785718" y="130333"/>
            <a:ext cx="95056" cy="167395"/>
          </a:xfrm>
          <a:custGeom>
            <a:avLst/>
            <a:gdLst/>
            <a:ahLst/>
            <a:cxnLst/>
            <a:rect l="l" t="t" r="r" b="b"/>
            <a:pathLst>
              <a:path w="3802240" h="6695816" extrusionOk="0">
                <a:moveTo>
                  <a:pt x="4465" y="5617206"/>
                </a:moveTo>
                <a:cubicBezTo>
                  <a:pt x="9974" y="5473539"/>
                  <a:pt x="16148" y="5329206"/>
                  <a:pt x="62022" y="5190103"/>
                </a:cubicBezTo>
                <a:cubicBezTo>
                  <a:pt x="122334" y="5007642"/>
                  <a:pt x="228805" y="4856749"/>
                  <a:pt x="370893" y="4730292"/>
                </a:cubicBezTo>
                <a:cubicBezTo>
                  <a:pt x="595802" y="4530146"/>
                  <a:pt x="862216" y="4416335"/>
                  <a:pt x="1154750" y="4358716"/>
                </a:cubicBezTo>
                <a:cubicBezTo>
                  <a:pt x="1268154" y="4336372"/>
                  <a:pt x="1383078" y="4326008"/>
                  <a:pt x="1498572" y="4320969"/>
                </a:cubicBezTo>
                <a:cubicBezTo>
                  <a:pt x="1557553" y="4318401"/>
                  <a:pt x="1615015" y="4310224"/>
                  <a:pt x="1665829" y="4275995"/>
                </a:cubicBezTo>
                <a:cubicBezTo>
                  <a:pt x="1708189" y="4247471"/>
                  <a:pt x="1740007" y="4210199"/>
                  <a:pt x="1753684" y="4161518"/>
                </a:cubicBezTo>
                <a:cubicBezTo>
                  <a:pt x="1773724" y="4090302"/>
                  <a:pt x="1796994" y="4020323"/>
                  <a:pt x="1803928" y="3945114"/>
                </a:cubicBezTo>
                <a:cubicBezTo>
                  <a:pt x="1810671" y="3871426"/>
                  <a:pt x="1831756" y="3799070"/>
                  <a:pt x="1845433" y="3725953"/>
                </a:cubicBezTo>
                <a:cubicBezTo>
                  <a:pt x="1875921" y="3562794"/>
                  <a:pt x="1902800" y="3398874"/>
                  <a:pt x="1936802" y="3236476"/>
                </a:cubicBezTo>
                <a:cubicBezTo>
                  <a:pt x="1967195" y="3090907"/>
                  <a:pt x="1983722" y="2943342"/>
                  <a:pt x="2010031" y="2797203"/>
                </a:cubicBezTo>
                <a:cubicBezTo>
                  <a:pt x="2036055" y="2652585"/>
                  <a:pt x="2058470" y="2507301"/>
                  <a:pt x="2082974" y="2362398"/>
                </a:cubicBezTo>
                <a:cubicBezTo>
                  <a:pt x="2112228" y="2189341"/>
                  <a:pt x="2142716" y="2016399"/>
                  <a:pt x="2171684" y="1843256"/>
                </a:cubicBezTo>
                <a:cubicBezTo>
                  <a:pt x="2210625" y="1609919"/>
                  <a:pt x="2270842" y="1382390"/>
                  <a:pt x="2350624" y="1159806"/>
                </a:cubicBezTo>
                <a:cubicBezTo>
                  <a:pt x="2419768" y="966697"/>
                  <a:pt x="2505248" y="781769"/>
                  <a:pt x="2619603" y="611004"/>
                </a:cubicBezTo>
                <a:cubicBezTo>
                  <a:pt x="2678014" y="523815"/>
                  <a:pt x="2744499" y="443281"/>
                  <a:pt x="2823616" y="374062"/>
                </a:cubicBezTo>
                <a:cubicBezTo>
                  <a:pt x="2959151" y="255306"/>
                  <a:pt x="3109596" y="159655"/>
                  <a:pt x="3278563" y="96426"/>
                </a:cubicBezTo>
                <a:cubicBezTo>
                  <a:pt x="3370312" y="62102"/>
                  <a:pt x="3464531" y="34053"/>
                  <a:pt x="3558844" y="7525"/>
                </a:cubicBezTo>
                <a:cubicBezTo>
                  <a:pt x="3643565" y="-16245"/>
                  <a:pt x="3696563" y="16653"/>
                  <a:pt x="3719928" y="101180"/>
                </a:cubicBezTo>
                <a:cubicBezTo>
                  <a:pt x="3744812" y="191222"/>
                  <a:pt x="3767322" y="282024"/>
                  <a:pt x="3794106" y="371495"/>
                </a:cubicBezTo>
                <a:cubicBezTo>
                  <a:pt x="3814431" y="439478"/>
                  <a:pt x="3796575" y="488350"/>
                  <a:pt x="3741583" y="533893"/>
                </a:cubicBezTo>
                <a:cubicBezTo>
                  <a:pt x="3607473" y="645138"/>
                  <a:pt x="3482957" y="766745"/>
                  <a:pt x="3377815" y="906705"/>
                </a:cubicBezTo>
                <a:cubicBezTo>
                  <a:pt x="3348467" y="945783"/>
                  <a:pt x="3314180" y="982385"/>
                  <a:pt x="3292145" y="1025266"/>
                </a:cubicBezTo>
                <a:cubicBezTo>
                  <a:pt x="3259757" y="1088305"/>
                  <a:pt x="3232119" y="1154576"/>
                  <a:pt x="3210274" y="1221894"/>
                </a:cubicBezTo>
                <a:cubicBezTo>
                  <a:pt x="3174087" y="1333233"/>
                  <a:pt x="3155091" y="1448757"/>
                  <a:pt x="3137995" y="1564565"/>
                </a:cubicBezTo>
                <a:cubicBezTo>
                  <a:pt x="3100194" y="1820142"/>
                  <a:pt x="3083857" y="2077536"/>
                  <a:pt x="3073030" y="2335205"/>
                </a:cubicBezTo>
                <a:cubicBezTo>
                  <a:pt x="3063722" y="2558265"/>
                  <a:pt x="3057168" y="2781514"/>
                  <a:pt x="3052419" y="3004669"/>
                </a:cubicBezTo>
                <a:cubicBezTo>
                  <a:pt x="3046815" y="3262719"/>
                  <a:pt x="3044631" y="3520768"/>
                  <a:pt x="3040737" y="3778817"/>
                </a:cubicBezTo>
                <a:cubicBezTo>
                  <a:pt x="3036083" y="4079748"/>
                  <a:pt x="3028390" y="4380774"/>
                  <a:pt x="3027060" y="4681705"/>
                </a:cubicBezTo>
                <a:cubicBezTo>
                  <a:pt x="3025351" y="5071537"/>
                  <a:pt x="3029055" y="5461359"/>
                  <a:pt x="3029530" y="5851095"/>
                </a:cubicBezTo>
                <a:cubicBezTo>
                  <a:pt x="3029719" y="6072919"/>
                  <a:pt x="3028105" y="6294743"/>
                  <a:pt x="3027155" y="6516566"/>
                </a:cubicBezTo>
                <a:cubicBezTo>
                  <a:pt x="3027060" y="6537199"/>
                  <a:pt x="3026965" y="6557736"/>
                  <a:pt x="3025825" y="6578368"/>
                </a:cubicBezTo>
                <a:cubicBezTo>
                  <a:pt x="3022406" y="6642833"/>
                  <a:pt x="2993248" y="6679164"/>
                  <a:pt x="2929897" y="6688767"/>
                </a:cubicBezTo>
                <a:cubicBezTo>
                  <a:pt x="2888107" y="6695137"/>
                  <a:pt x="2845081" y="6695984"/>
                  <a:pt x="2802626" y="6695794"/>
                </a:cubicBezTo>
                <a:cubicBezTo>
                  <a:pt x="2633374" y="6695318"/>
                  <a:pt x="2464123" y="6693701"/>
                  <a:pt x="2294871" y="6692180"/>
                </a:cubicBezTo>
                <a:cubicBezTo>
                  <a:pt x="2260204" y="6691895"/>
                  <a:pt x="2225347" y="6691324"/>
                  <a:pt x="2190775" y="6688282"/>
                </a:cubicBezTo>
                <a:cubicBezTo>
                  <a:pt x="2097031" y="6679820"/>
                  <a:pt x="2049637" y="6606512"/>
                  <a:pt x="2050397" y="6527500"/>
                </a:cubicBezTo>
                <a:cubicBezTo>
                  <a:pt x="2052106" y="6346942"/>
                  <a:pt x="2050017" y="6166298"/>
                  <a:pt x="2048972" y="5985739"/>
                </a:cubicBezTo>
                <a:cubicBezTo>
                  <a:pt x="2048592" y="5916045"/>
                  <a:pt x="2047737" y="5846341"/>
                  <a:pt x="2045173" y="5776742"/>
                </a:cubicBezTo>
                <a:cubicBezTo>
                  <a:pt x="2042228" y="5694972"/>
                  <a:pt x="2004047" y="5631563"/>
                  <a:pt x="1937182" y="5586019"/>
                </a:cubicBezTo>
                <a:cubicBezTo>
                  <a:pt x="1863479" y="5535721"/>
                  <a:pt x="1780753" y="5508623"/>
                  <a:pt x="1692233" y="5506627"/>
                </a:cubicBezTo>
                <a:cubicBezTo>
                  <a:pt x="1407108" y="5499971"/>
                  <a:pt x="1188847" y="5623481"/>
                  <a:pt x="1034697" y="5859852"/>
                </a:cubicBezTo>
                <a:cubicBezTo>
                  <a:pt x="983029" y="5939055"/>
                  <a:pt x="960519" y="6030608"/>
                  <a:pt x="960709" y="6126554"/>
                </a:cubicBezTo>
                <a:cubicBezTo>
                  <a:pt x="960994" y="6264421"/>
                  <a:pt x="960709" y="6402279"/>
                  <a:pt x="960519" y="6540156"/>
                </a:cubicBezTo>
                <a:cubicBezTo>
                  <a:pt x="960424" y="6633335"/>
                  <a:pt x="925757" y="6672974"/>
                  <a:pt x="833438" y="6684859"/>
                </a:cubicBezTo>
                <a:cubicBezTo>
                  <a:pt x="814727" y="6687236"/>
                  <a:pt x="795541" y="6687331"/>
                  <a:pt x="776640" y="6687426"/>
                </a:cubicBezTo>
                <a:cubicBezTo>
                  <a:pt x="570917" y="6687806"/>
                  <a:pt x="365194" y="6688187"/>
                  <a:pt x="159470" y="6687902"/>
                </a:cubicBezTo>
                <a:cubicBezTo>
                  <a:pt x="135916" y="6687902"/>
                  <a:pt x="111791" y="6686190"/>
                  <a:pt x="88806" y="6680961"/>
                </a:cubicBezTo>
                <a:cubicBezTo>
                  <a:pt x="35143" y="6668790"/>
                  <a:pt x="7885" y="6636758"/>
                  <a:pt x="1806" y="6581801"/>
                </a:cubicBezTo>
                <a:cubicBezTo>
                  <a:pt x="-93" y="6564496"/>
                  <a:pt x="1" y="6547002"/>
                  <a:pt x="1" y="6529602"/>
                </a:cubicBezTo>
                <a:cubicBezTo>
                  <a:pt x="-94" y="6377472"/>
                  <a:pt x="4466" y="6223042"/>
                  <a:pt x="4466" y="6070913"/>
                </a:cubicBezTo>
                <a:cubicBezTo>
                  <a:pt x="4466" y="6056650"/>
                  <a:pt x="4465" y="5690589"/>
                  <a:pt x="4465" y="5617206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27075" y="171176"/>
            <a:ext cx="209100" cy="141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27075" y="218013"/>
            <a:ext cx="209100" cy="141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27075" y="264849"/>
            <a:ext cx="209100" cy="141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 amt="13000"/>
          </a:blip>
          <a:srcRect l="10530" t="31793" r="10419" b="31717"/>
          <a:stretch/>
        </p:blipFill>
        <p:spPr>
          <a:xfrm>
            <a:off x="515800" y="168380"/>
            <a:ext cx="782725" cy="1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>
            <a:spLocks noGrp="1"/>
          </p:cNvSpPr>
          <p:nvPr>
            <p:ph type="pic" idx="2"/>
          </p:nvPr>
        </p:nvSpPr>
        <p:spPr>
          <a:xfrm>
            <a:off x="5166875" y="549700"/>
            <a:ext cx="3792600" cy="4383600"/>
          </a:xfrm>
          <a:prstGeom prst="roundRect">
            <a:avLst>
              <a:gd name="adj" fmla="val 6748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6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11" Type="http://schemas.openxmlformats.org/officeDocument/2006/relationships/image" Target="../media/image23.jpg"/><Relationship Id="rId5" Type="http://schemas.openxmlformats.org/officeDocument/2006/relationships/image" Target="../media/image17.jpg"/><Relationship Id="rId10" Type="http://schemas.openxmlformats.org/officeDocument/2006/relationships/image" Target="../media/image22.png"/><Relationship Id="rId4" Type="http://schemas.openxmlformats.org/officeDocument/2006/relationships/image" Target="../media/image16.jpg"/><Relationship Id="rId9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E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513" y="320186"/>
            <a:ext cx="705125" cy="2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29BF-37BA-C8AF-3374-70F2F222E6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889" r="13889"/>
          <a:stretch>
            <a:fillRect/>
          </a:stretch>
        </p:blipFill>
        <p:spPr>
          <a:xfrm>
            <a:off x="0" y="271250"/>
            <a:ext cx="9144000" cy="5143500"/>
          </a:xfrm>
          <a:prstGeom prst="rect">
            <a:avLst/>
          </a:prstGeom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60000" y="963500"/>
            <a:ext cx="8424000" cy="15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ru-RU" sz="36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Отзывы как источник продуктовых решений</a:t>
            </a:r>
            <a:endParaRPr sz="3600" b="1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5" name="Google Shape;75;p16">
            <a:extLst>
              <a:ext uri="{FF2B5EF4-FFF2-40B4-BE49-F238E27FC236}">
                <a16:creationId xmlns:a16="http://schemas.microsoft.com/office/drawing/2014/main" id="{89D27394-1F27-9EB1-6236-25BA1F5E10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151" y="373500"/>
            <a:ext cx="705125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peaker 1"/>
          <p:cNvSpPr txBox="1"/>
          <p:nvPr/>
        </p:nvSpPr>
        <p:spPr>
          <a:xfrm>
            <a:off x="2459619" y="3003500"/>
            <a:ext cx="4012000" cy="16000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>
              <a:lnSpc>
                <a:spcPct val="118000"/>
              </a:lnSpc>
            </a:pPr>
            <a:r>
              <a:rPr lang="ru-RU" sz="1600" dirty="0">
                <a:solidFill>
                  <a:schemeClr val="lt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Валентин Марченко</a:t>
            </a:r>
          </a:p>
          <a:p>
            <a:pPr>
              <a:spcBef>
                <a:spcPts val="400"/>
              </a:spcBef>
            </a:pPr>
            <a:r>
              <a:rPr lang="ru-RU" sz="1300" dirty="0">
                <a:solidFill>
                  <a:srgbClr val="D7E6FF"/>
                </a:solidFill>
                <a:latin typeface="Unbounded" pitchFamily="2" charset="0"/>
                <a:sym typeface="Arial"/>
              </a:rPr>
              <a:t>Сооснователь и CBDO Спикс</a:t>
            </a:r>
          </a:p>
        </p:txBody>
      </p:sp>
      <p:sp>
        <p:nvSpPr>
          <p:cNvPr id="103" name="Speaker 2"/>
          <p:cNvSpPr txBox="1"/>
          <p:nvPr/>
        </p:nvSpPr>
        <p:spPr>
          <a:xfrm>
            <a:off x="2459619" y="3912405"/>
            <a:ext cx="4807006" cy="959845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>
              <a:lnSpc>
                <a:spcPct val="118000"/>
              </a:lnSpc>
            </a:pPr>
            <a:r>
              <a:rPr lang="ru-RU" sz="1600" dirty="0">
                <a:solidFill>
                  <a:schemeClr val="lt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Александра Хмелевская</a:t>
            </a:r>
          </a:p>
          <a:p>
            <a:pPr>
              <a:spcBef>
                <a:spcPts val="400"/>
              </a:spcBef>
            </a:pPr>
            <a:r>
              <a:rPr lang="ru-RU" sz="1300" dirty="0">
                <a:solidFill>
                  <a:srgbClr val="D7E6FF"/>
                </a:solidFill>
                <a:latin typeface="Unbounded" pitchFamily="2" charset="0"/>
                <a:sym typeface="Arial"/>
              </a:rPr>
              <a:t>Руководитель Клиентского сервиса ICOVER</a:t>
            </a:r>
          </a:p>
        </p:txBody>
      </p:sp>
      <p:pic>
        <p:nvPicPr>
          <p:cNvPr id="3" name="Valentin Photo">
            <a:extLst>
              <a:ext uri="{FF2B5EF4-FFF2-40B4-BE49-F238E27FC236}">
                <a16:creationId xmlns:a16="http://schemas.microsoft.com/office/drawing/2014/main" id="{4432601C-99F6-BA39-7B0B-6F85B4455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952" y="2843000"/>
            <a:ext cx="850000" cy="850000"/>
          </a:xfrm>
          <a:prstGeom prst="ellipse">
            <a:avLst/>
          </a:prstGeom>
          <a:ln w="19050">
            <a:solidFill>
              <a:srgbClr val="4D97FF"/>
            </a:solidFill>
          </a:ln>
        </p:spPr>
      </p:pic>
      <p:pic>
        <p:nvPicPr>
          <p:cNvPr id="4" name="Alexandra Photo">
            <a:extLst>
              <a:ext uri="{FF2B5EF4-FFF2-40B4-BE49-F238E27FC236}">
                <a16:creationId xmlns:a16="http://schemas.microsoft.com/office/drawing/2014/main" id="{E566B67F-5741-2F49-0C94-FD8B88846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952" y="3816235"/>
            <a:ext cx="850000" cy="850000"/>
          </a:xfrm>
          <a:prstGeom prst="ellipse">
            <a:avLst/>
          </a:prstGeom>
          <a:ln w="19050">
            <a:solidFill>
              <a:srgbClr val="4D97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E1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7A4B1F13-AE79-9E06-2FEC-E181BC25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2A72009F-312D-47D3-5CBC-C0A4510525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360000"/>
            <a:ext cx="84240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Что вы знаете о компании </a:t>
            </a:r>
            <a:r>
              <a:rPr lang="en-US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ICOVER </a:t>
            </a:r>
            <a:r>
              <a:rPr lang="ru-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и бренде</a:t>
            </a:r>
            <a:r>
              <a:rPr lang="en-US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4000" dirty="0" err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Ridberg</a:t>
            </a:r>
            <a:endParaRPr sz="4000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75" name="Google Shape;75;p16">
            <a:extLst>
              <a:ext uri="{FF2B5EF4-FFF2-40B4-BE49-F238E27FC236}">
                <a16:creationId xmlns:a16="http://schemas.microsoft.com/office/drawing/2014/main" id="{AE89E5B0-51CD-C2FB-E245-05B581BD25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513" y="320186"/>
            <a:ext cx="705125" cy="21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975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4959477-6AE5-47DE-BDF9-10F02946E29F}"/>
              </a:ext>
            </a:extLst>
          </p:cNvPr>
          <p:cNvSpPr/>
          <p:nvPr/>
        </p:nvSpPr>
        <p:spPr>
          <a:xfrm>
            <a:off x="476315" y="2782013"/>
            <a:ext cx="8191369" cy="35161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18 лет</a:t>
            </a:r>
            <a:r>
              <a:rPr lang="ru" sz="2400" dirty="0"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ru" sz="2400" dirty="0">
                <a:solidFill>
                  <a:srgbClr val="0064E1"/>
                </a:solidFill>
                <a:latin typeface="Unbounded"/>
                <a:ea typeface="Unbounded"/>
                <a:cs typeface="Unbounded"/>
                <a:sym typeface="Unbounded"/>
              </a:rPr>
              <a:t>непрерывной </a:t>
            </a: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работы в </a:t>
            </a:r>
            <a:r>
              <a:rPr lang="ru-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ритейле</a:t>
            </a:r>
            <a:endParaRPr sz="2400" dirty="0">
              <a:solidFill>
                <a:srgbClr val="0064E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367" name="Google Shape;3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9"/>
          <p:cNvSpPr txBox="1">
            <a:spLocks noGrp="1"/>
          </p:cNvSpPr>
          <p:nvPr>
            <p:ph type="title"/>
          </p:nvPr>
        </p:nvSpPr>
        <p:spPr>
          <a:xfrm>
            <a:off x="675229" y="2774513"/>
            <a:ext cx="8399827" cy="4297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bg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Собственные бренды и эксклюзивные контракты с вендорами и производителями</a:t>
            </a:r>
            <a:endParaRPr sz="1200" dirty="0">
              <a:solidFill>
                <a:schemeClr val="bg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cxnSp>
        <p:nvCxnSpPr>
          <p:cNvPr id="377" name="Google Shape;377;p29"/>
          <p:cNvCxnSpPr>
            <a:cxnSpLocks/>
            <a:stCxn id="376" idx="3"/>
          </p:cNvCxnSpPr>
          <p:nvPr/>
        </p:nvCxnSpPr>
        <p:spPr>
          <a:xfrm>
            <a:off x="8255827" y="1660665"/>
            <a:ext cx="1167541" cy="0"/>
          </a:xfrm>
          <a:prstGeom prst="straightConnector1">
            <a:avLst/>
          </a:prstGeom>
          <a:noFill/>
          <a:ln w="19050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8" name="Google Shape;378;p29"/>
          <p:cNvCxnSpPr>
            <a:cxnSpLocks/>
            <a:stCxn id="371" idx="2"/>
          </p:cNvCxnSpPr>
          <p:nvPr/>
        </p:nvCxnSpPr>
        <p:spPr>
          <a:xfrm flipH="1">
            <a:off x="-394875" y="1660666"/>
            <a:ext cx="1338291" cy="0"/>
          </a:xfrm>
          <a:prstGeom prst="straightConnector1">
            <a:avLst/>
          </a:prstGeom>
          <a:noFill/>
          <a:ln w="19050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9C49EA4-E513-42A4-9F33-30C0EF33C21E}"/>
              </a:ext>
            </a:extLst>
          </p:cNvPr>
          <p:cNvGrpSpPr/>
          <p:nvPr/>
        </p:nvGrpSpPr>
        <p:grpSpPr>
          <a:xfrm>
            <a:off x="389530" y="842627"/>
            <a:ext cx="8364939" cy="1815577"/>
            <a:chOff x="654805" y="1768009"/>
            <a:chExt cx="7884265" cy="2665702"/>
          </a:xfrm>
        </p:grpSpPr>
        <p:sp>
          <p:nvSpPr>
            <p:cNvPr id="369" name="Google Shape;369;p29"/>
            <p:cNvSpPr txBox="1"/>
            <p:nvPr/>
          </p:nvSpPr>
          <p:spPr>
            <a:xfrm>
              <a:off x="654805" y="2044165"/>
              <a:ext cx="19059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ru" dirty="0">
                  <a:solidFill>
                    <a:srgbClr val="212121"/>
                  </a:solidFill>
                  <a:latin typeface="Unbounded"/>
                  <a:ea typeface="Unbounded"/>
                  <a:cs typeface="Unbounded"/>
                  <a:sym typeface="Unbounded"/>
                </a:rPr>
                <a:t>ОСНОВАНИЕ</a:t>
              </a:r>
              <a:r>
                <a:rPr lang="ru" i="0" u="none" strike="noStrike" cap="none" dirty="0">
                  <a:solidFill>
                    <a:srgbClr val="212121"/>
                  </a:solidFill>
                  <a:latin typeface="Unbounded"/>
                  <a:ea typeface="Unbounded"/>
                  <a:cs typeface="Unbounded"/>
                  <a:sym typeface="Unbounded"/>
                </a:rPr>
                <a:t> </a:t>
              </a:r>
              <a:endParaRPr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endParaRPr>
            </a:p>
          </p:txBody>
        </p:sp>
        <p:cxnSp>
          <p:nvCxnSpPr>
            <p:cNvPr id="370" name="Google Shape;370;p29"/>
            <p:cNvCxnSpPr>
              <a:cxnSpLocks/>
              <a:stCxn id="371" idx="6"/>
              <a:endCxn id="372" idx="1"/>
            </p:cNvCxnSpPr>
            <p:nvPr/>
          </p:nvCxnSpPr>
          <p:spPr>
            <a:xfrm>
              <a:off x="2042663" y="2969086"/>
              <a:ext cx="1171662" cy="1"/>
            </a:xfrm>
            <a:prstGeom prst="straightConnector1">
              <a:avLst/>
            </a:prstGeom>
            <a:noFill/>
            <a:ln w="19050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29"/>
            <p:cNvCxnSpPr>
              <a:stCxn id="372" idx="3"/>
              <a:endCxn id="374" idx="1"/>
            </p:cNvCxnSpPr>
            <p:nvPr/>
          </p:nvCxnSpPr>
          <p:spPr>
            <a:xfrm>
              <a:off x="3987125" y="2969086"/>
              <a:ext cx="1123200" cy="0"/>
            </a:xfrm>
            <a:prstGeom prst="straightConnector1">
              <a:avLst/>
            </a:prstGeom>
            <a:noFill/>
            <a:ln w="19050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29"/>
            <p:cNvCxnSpPr>
              <a:cxnSpLocks/>
              <a:stCxn id="374" idx="3"/>
              <a:endCxn id="376" idx="1"/>
            </p:cNvCxnSpPr>
            <p:nvPr/>
          </p:nvCxnSpPr>
          <p:spPr>
            <a:xfrm flipV="1">
              <a:off x="5976117" y="2969086"/>
              <a:ext cx="1100451" cy="50"/>
            </a:xfrm>
            <a:prstGeom prst="straightConnector1">
              <a:avLst/>
            </a:prstGeom>
            <a:noFill/>
            <a:ln w="19050" cap="flat" cmpd="sng">
              <a:solidFill>
                <a:srgbClr val="21212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9" name="Google Shape;379;p29"/>
            <p:cNvSpPr txBox="1"/>
            <p:nvPr/>
          </p:nvSpPr>
          <p:spPr>
            <a:xfrm>
              <a:off x="855650" y="3602411"/>
              <a:ext cx="1605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100"/>
                <a:buFont typeface="Arial"/>
                <a:buNone/>
              </a:pPr>
              <a:r>
                <a:rPr lang="ru" sz="800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Интернет-магазин </a:t>
              </a:r>
              <a:r>
                <a:rPr lang="en-US" sz="800" dirty="0">
                  <a:solidFill>
                    <a:srgbClr val="212121"/>
                  </a:solidFill>
                  <a:latin typeface="Unbounded Light"/>
                </a:rPr>
                <a:t>icover.ru, </a:t>
              </a:r>
              <a:r>
                <a:rPr lang="en-US" sz="800" dirty="0" err="1">
                  <a:solidFill>
                    <a:srgbClr val="212121"/>
                  </a:solidFill>
                  <a:latin typeface="Unbounded Light"/>
                </a:rPr>
                <a:t>розничн</a:t>
              </a:r>
              <a:r>
                <a:rPr lang="ru-RU" sz="800" dirty="0" err="1">
                  <a:solidFill>
                    <a:srgbClr val="212121"/>
                  </a:solidFill>
                  <a:latin typeface="Unbounded Light"/>
                </a:rPr>
                <a:t>ая</a:t>
              </a:r>
              <a:r>
                <a:rPr lang="ru-RU" sz="800" dirty="0">
                  <a:solidFill>
                    <a:srgbClr val="212121"/>
                  </a:solidFill>
                  <a:latin typeface="Unbounded Light"/>
                </a:rPr>
                <a:t> торговля электроникой</a:t>
              </a:r>
              <a:r>
                <a:rPr lang="en-US" sz="800" dirty="0">
                  <a:solidFill>
                    <a:srgbClr val="212121"/>
                  </a:solidFill>
                  <a:latin typeface="Unbounded Light"/>
                </a:rPr>
                <a:t> и </a:t>
              </a:r>
              <a:r>
                <a:rPr lang="en-US" sz="800" dirty="0" err="1">
                  <a:solidFill>
                    <a:srgbClr val="212121"/>
                  </a:solidFill>
                  <a:latin typeface="Unbounded Light"/>
                </a:rPr>
                <a:t>аксессуар</a:t>
              </a:r>
              <a:r>
                <a:rPr lang="ru-RU" sz="800" dirty="0" err="1">
                  <a:solidFill>
                    <a:srgbClr val="212121"/>
                  </a:solidFill>
                  <a:latin typeface="Unbounded Light"/>
                </a:rPr>
                <a:t>ами</a:t>
              </a:r>
              <a:endParaRPr sz="800" dirty="0">
                <a:solidFill>
                  <a:srgbClr val="212121"/>
                </a:solidFill>
                <a:latin typeface="Unbounded Light"/>
                <a:sym typeface="Unbounded Light"/>
              </a:endParaRPr>
            </a:p>
          </p:txBody>
        </p:sp>
        <p:sp>
          <p:nvSpPr>
            <p:cNvPr id="380" name="Google Shape;380;p29"/>
            <p:cNvSpPr txBox="1"/>
            <p:nvPr/>
          </p:nvSpPr>
          <p:spPr>
            <a:xfrm>
              <a:off x="2798108" y="3602411"/>
              <a:ext cx="1605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100"/>
                <a:buFont typeface="Arial"/>
                <a:buNone/>
              </a:pPr>
              <a:r>
                <a:rPr lang="ru-RU" sz="800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Трансформация </a:t>
              </a:r>
              <a:r>
                <a:rPr lang="ru-RU" sz="800" i="0" u="none" strike="noStrike" cap="none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на  маркетплейсы</a:t>
              </a:r>
              <a:endParaRPr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  <p:sp>
          <p:nvSpPr>
            <p:cNvPr id="381" name="Google Shape;381;p29"/>
            <p:cNvSpPr txBox="1"/>
            <p:nvPr/>
          </p:nvSpPr>
          <p:spPr>
            <a:xfrm>
              <a:off x="4740567" y="3602411"/>
              <a:ext cx="1605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100"/>
                <a:buFont typeface="Arial"/>
                <a:buNone/>
              </a:pPr>
              <a:r>
                <a:rPr lang="ru-RU" sz="800" i="0" u="none" strike="noStrike" cap="none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Запуск собственного производства мебели </a:t>
              </a:r>
              <a:r>
                <a:rPr lang="en-US" sz="800" i="0" u="none" strike="noStrike" cap="none" dirty="0" err="1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Ridberg</a:t>
              </a:r>
              <a:endParaRPr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  <p:sp>
          <p:nvSpPr>
            <p:cNvPr id="382" name="Google Shape;382;p29"/>
            <p:cNvSpPr txBox="1"/>
            <p:nvPr/>
          </p:nvSpPr>
          <p:spPr>
            <a:xfrm>
              <a:off x="6770174" y="3602411"/>
              <a:ext cx="1605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323"/>
                </a:buClr>
                <a:buSzPts val="1100"/>
                <a:buFont typeface="Arial"/>
                <a:buNone/>
              </a:pPr>
              <a:r>
                <a:rPr lang="ru-RU" sz="1600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Эксперты в </a:t>
              </a:r>
              <a:r>
                <a:rPr lang="en-US" sz="1600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E-com </a:t>
              </a:r>
              <a:r>
                <a:rPr lang="ru-RU" sz="1600" dirty="0">
                  <a:solidFill>
                    <a:srgbClr val="212121"/>
                  </a:solidFill>
                  <a:latin typeface="Unbounded Light"/>
                  <a:ea typeface="Unbounded Light"/>
                  <a:cs typeface="Unbounded Light"/>
                  <a:sym typeface="Unbounded Light"/>
                </a:rPr>
                <a:t>МП </a:t>
              </a:r>
              <a:endParaRPr sz="16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endParaRPr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1176863" y="2553436"/>
              <a:ext cx="865800" cy="831300"/>
            </a:xfrm>
            <a:prstGeom prst="ellipse">
              <a:avLst/>
            </a:pr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ru" sz="1300" b="0" i="0" u="none" strike="noStrike" cap="none" dirty="0">
                  <a:solidFill>
                    <a:srgbClr val="FFFFFF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2008</a:t>
              </a:r>
              <a:endParaRPr lang="ru-RU" sz="1300" b="0" i="0" u="none" strike="noStrike" cap="none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214325" y="2582686"/>
              <a:ext cx="772800" cy="772800"/>
            </a:xfrm>
            <a:prstGeom prst="roundRect">
              <a:avLst>
                <a:gd name="adj" fmla="val 16667"/>
              </a:avLst>
            </a:pr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ru" sz="1300" b="0" i="0" u="none" strike="noStrike" cap="none" dirty="0">
                  <a:solidFill>
                    <a:srgbClr val="FFFFFF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2017</a:t>
              </a:r>
              <a:endParaRPr sz="1300" b="0" i="0" u="none" strike="noStrike" cap="none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5110317" y="2536236"/>
              <a:ext cx="865800" cy="865800"/>
            </a:xfrm>
            <a:prstGeom prst="roundRect">
              <a:avLst>
                <a:gd name="adj" fmla="val 16731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ru" sz="1300" b="0" i="0" u="none" strike="noStrike" cap="none" dirty="0">
                  <a:solidFill>
                    <a:srgbClr val="232323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2024</a:t>
              </a:r>
              <a:endParaRPr sz="1300" b="0" i="0" u="none" strike="noStrike" cap="none" dirty="0">
                <a:solidFill>
                  <a:srgbClr val="232323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7076568" y="2467498"/>
              <a:ext cx="992513" cy="1003175"/>
            </a:xfrm>
            <a:prstGeom prst="roundRect">
              <a:avLst>
                <a:gd name="adj" fmla="val 50000"/>
              </a:avLst>
            </a:pr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ru" sz="1300" b="0" i="0" u="none" strike="noStrike" cap="none" dirty="0">
                  <a:solidFill>
                    <a:srgbClr val="FFFFFF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2026</a:t>
              </a:r>
              <a:endParaRPr sz="1300" b="0" i="0" u="none" strike="noStrike" cap="none" dirty="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endParaRPr>
            </a:p>
          </p:txBody>
        </p:sp>
        <p:sp>
          <p:nvSpPr>
            <p:cNvPr id="383" name="Google Shape;383;p29"/>
            <p:cNvSpPr txBox="1"/>
            <p:nvPr/>
          </p:nvSpPr>
          <p:spPr>
            <a:xfrm>
              <a:off x="2547408" y="1768009"/>
              <a:ext cx="2193159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ru" i="0" u="none" strike="noStrike" cap="none" dirty="0">
                  <a:solidFill>
                    <a:srgbClr val="212121"/>
                  </a:solidFill>
                  <a:latin typeface="Unbounded"/>
                  <a:ea typeface="Unbounded"/>
                  <a:cs typeface="Unbounded"/>
                  <a:sym typeface="Unbounded"/>
                </a:rPr>
                <a:t>ТРАНФОРМАЦИЯ </a:t>
              </a:r>
              <a:endParaRPr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endParaRPr>
            </a:p>
          </p:txBody>
        </p:sp>
        <p:sp>
          <p:nvSpPr>
            <p:cNvPr id="384" name="Google Shape;384;p29"/>
            <p:cNvSpPr txBox="1"/>
            <p:nvPr/>
          </p:nvSpPr>
          <p:spPr>
            <a:xfrm>
              <a:off x="4612720" y="2006465"/>
              <a:ext cx="19059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ru" dirty="0">
                  <a:solidFill>
                    <a:srgbClr val="212121"/>
                  </a:solidFill>
                  <a:latin typeface="Unbounded"/>
                  <a:ea typeface="Unbounded"/>
                  <a:cs typeface="Unbounded"/>
                  <a:sym typeface="Unbounded"/>
                </a:rPr>
                <a:t>РАЗВИТИЕ</a:t>
              </a:r>
              <a:r>
                <a:rPr lang="ru" i="0" u="none" strike="noStrike" cap="none" dirty="0">
                  <a:solidFill>
                    <a:srgbClr val="212121"/>
                  </a:solidFill>
                  <a:latin typeface="Unbounded"/>
                  <a:ea typeface="Unbounded"/>
                  <a:cs typeface="Unbounded"/>
                  <a:sym typeface="Unbounded"/>
                </a:rPr>
                <a:t> </a:t>
              </a:r>
              <a:endParaRPr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endParaRPr>
            </a:p>
          </p:txBody>
        </p:sp>
        <p:sp>
          <p:nvSpPr>
            <p:cNvPr id="385" name="Google Shape;385;p29"/>
            <p:cNvSpPr txBox="1"/>
            <p:nvPr/>
          </p:nvSpPr>
          <p:spPr>
            <a:xfrm>
              <a:off x="6633170" y="1793784"/>
              <a:ext cx="19059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ru" i="0" u="none" strike="noStrike" cap="none" dirty="0">
                  <a:solidFill>
                    <a:srgbClr val="212121"/>
                  </a:solidFill>
                  <a:latin typeface="Unbounded"/>
                  <a:ea typeface="Unbounded"/>
                  <a:cs typeface="Unbounded"/>
                  <a:sym typeface="Unbounded"/>
                </a:rPr>
                <a:t>РОСТ </a:t>
              </a:r>
              <a:endParaRPr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endParaRPr>
            </a:p>
          </p:txBody>
        </p:sp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E3D0453-E1DC-4DE0-8DA1-815B794A2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602" y="3076889"/>
            <a:ext cx="1475905" cy="84337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579678D-62A8-4237-91E2-DFDE513EA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39" y="3522908"/>
            <a:ext cx="1910235" cy="109156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99C9976-20C2-41E5-8745-2B3935A366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330" y="3950812"/>
            <a:ext cx="2613402" cy="149337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5C552E1-F3CA-40D8-931E-356815A160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6268" y="3101859"/>
            <a:ext cx="1973113" cy="197311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6EB3A6F-9ACD-4CAA-9979-D39D5262E9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118" y="4378275"/>
            <a:ext cx="1973347" cy="58224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57EB656-54F4-4C59-9275-FD5E9A2F5B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7470" y="3049707"/>
            <a:ext cx="1538738" cy="87927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2A198490-D187-4FC9-AE71-1B63C04BB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1120" y="3522908"/>
            <a:ext cx="1653044" cy="94459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4EF2FF5-A65F-4147-A561-B452DCB0AF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5186" y="3532249"/>
            <a:ext cx="1653044" cy="94459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799290-4C1B-4BB3-8371-3A91C94A09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518" y="3211279"/>
            <a:ext cx="2572036" cy="6232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Немного аналитики </a:t>
            </a:r>
            <a:r>
              <a:rPr lang="en-US" sz="2400" dirty="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ICOVER</a:t>
            </a:r>
            <a:endParaRPr sz="2400" dirty="0">
              <a:solidFill>
                <a:srgbClr val="0064E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409055" y="945550"/>
            <a:ext cx="2269222" cy="3732776"/>
          </a:xfrm>
          <a:prstGeom prst="roundRect">
            <a:avLst>
              <a:gd name="adj" fmla="val 79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rgbClr val="0064E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1</a:t>
            </a:r>
            <a:br>
              <a:rPr lang="ru-RU" sz="4000" dirty="0">
                <a:solidFill>
                  <a:srgbClr val="0064E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</a:br>
            <a:r>
              <a:rPr lang="ru-RU" dirty="0">
                <a:solidFill>
                  <a:srgbClr val="0064E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заказ в 4 сек.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8 млн.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заказов в год</a:t>
            </a:r>
            <a:endParaRPr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437389" y="945549"/>
            <a:ext cx="2269222" cy="3732775"/>
          </a:xfrm>
          <a:prstGeom prst="roundRect">
            <a:avLst>
              <a:gd name="adj" fmla="val 7967"/>
            </a:avLst>
          </a:prstGeom>
          <a:solidFill>
            <a:srgbClr val="0064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отзыва в минуту</a:t>
            </a:r>
            <a:endParaRPr sz="1100" dirty="0">
              <a:solidFill>
                <a:schemeClr val="lt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200 000 </a:t>
            </a:r>
            <a:br>
              <a:rPr lang="ru-RU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</a:br>
            <a:r>
              <a:rPr lang="ru-RU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отзывов месяц</a:t>
            </a:r>
            <a:endParaRPr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514778" y="945550"/>
            <a:ext cx="2269222" cy="3732774"/>
          </a:xfrm>
          <a:prstGeom prst="roundRect">
            <a:avLst>
              <a:gd name="adj" fmla="val 7967"/>
            </a:avLst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1200</a:t>
            </a:r>
            <a:r>
              <a:rPr lang="ru-RU" sz="10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товаров в ассортименте </a:t>
            </a:r>
            <a:endParaRPr lang="ru-RU" sz="1100" dirty="0">
              <a:solidFill>
                <a:schemeClr val="lt1"/>
              </a:solidFill>
              <a:latin typeface="Unbounded SemiBold"/>
              <a:ea typeface="Unbounded SemiBold"/>
              <a:cs typeface="Unbounded SemiBold"/>
              <a:sym typeface="Unbound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25</a:t>
            </a:r>
            <a:r>
              <a:rPr lang="ru-RU" sz="10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</a:t>
            </a:r>
            <a:br>
              <a:rPr lang="ru-RU" sz="1000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</a:br>
            <a:r>
              <a:rPr lang="ru-RU" dirty="0">
                <a:solidFill>
                  <a:schemeClr val="l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брендов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64E1"/>
                </a:solidFill>
                <a:latin typeface="Unbounded"/>
                <a:ea typeface="Unbounded"/>
                <a:cs typeface="Unbounded"/>
                <a:sym typeface="Unbounded"/>
              </a:rPr>
              <a:t>Каждый 5 человек покупал </a:t>
            </a:r>
            <a:r>
              <a:rPr lang="en-US" sz="2400" dirty="0" err="1">
                <a:solidFill>
                  <a:srgbClr val="0064E1"/>
                </a:solidFill>
                <a:latin typeface="Unbounded"/>
                <a:ea typeface="Unbounded"/>
                <a:cs typeface="Unbounded"/>
                <a:sym typeface="Unbounded"/>
              </a:rPr>
              <a:t>Ridberg</a:t>
            </a:r>
            <a:endParaRPr sz="2400" dirty="0">
              <a:solidFill>
                <a:srgbClr val="0064E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AB031A-4FBD-4B28-A554-E8CDECEA8C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926" b="10505"/>
          <a:stretch/>
        </p:blipFill>
        <p:spPr>
          <a:xfrm>
            <a:off x="346555" y="1330286"/>
            <a:ext cx="1233374" cy="15984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DC3335-05C6-4F4D-8F0D-879D86F30B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22" t="28390" r="11567" b="2153"/>
          <a:stretch/>
        </p:blipFill>
        <p:spPr>
          <a:xfrm>
            <a:off x="1798940" y="3122906"/>
            <a:ext cx="1198813" cy="16638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C0747D-CA5B-41CD-89C7-579E9768D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5" y="3142261"/>
            <a:ext cx="1233375" cy="16444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287B01-0D5D-432E-9167-E766C6940A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8942" y="1337782"/>
            <a:ext cx="1198814" cy="15984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2F7D57-130A-4D4F-86AB-5AF6ED414C36}"/>
              </a:ext>
            </a:extLst>
          </p:cNvPr>
          <p:cNvSpPr txBox="1"/>
          <p:nvPr/>
        </p:nvSpPr>
        <p:spPr>
          <a:xfrm>
            <a:off x="839435" y="927463"/>
            <a:ext cx="1664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аэропорту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E302F-F557-4BD5-B87D-E2D8DA144D83}"/>
              </a:ext>
            </a:extLst>
          </p:cNvPr>
          <p:cNvSpPr txBox="1"/>
          <p:nvPr/>
        </p:nvSpPr>
        <p:spPr>
          <a:xfrm>
            <a:off x="3906905" y="2863470"/>
            <a:ext cx="1664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ванной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507A55-B5F9-4B07-9F81-251CDC491A53}"/>
              </a:ext>
            </a:extLst>
          </p:cNvPr>
          <p:cNvSpPr txBox="1"/>
          <p:nvPr/>
        </p:nvSpPr>
        <p:spPr>
          <a:xfrm>
            <a:off x="3906905" y="930176"/>
            <a:ext cx="1664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 кухне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937E68-C7B9-4FF0-82B8-E0214D9B33C6}"/>
              </a:ext>
            </a:extLst>
          </p:cNvPr>
          <p:cNvSpPr txBox="1"/>
          <p:nvPr/>
        </p:nvSpPr>
        <p:spPr>
          <a:xfrm>
            <a:off x="6517184" y="930176"/>
            <a:ext cx="1664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кабинете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32344F-98CE-4FE6-AD20-508744253A50}"/>
              </a:ext>
            </a:extLst>
          </p:cNvPr>
          <p:cNvSpPr txBox="1"/>
          <p:nvPr/>
        </p:nvSpPr>
        <p:spPr>
          <a:xfrm>
            <a:off x="6146246" y="2863470"/>
            <a:ext cx="2406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И даже в туалете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C28CC5C-977C-445D-A4CE-664E7634027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3573" t="50555" r="32334" b="21157"/>
          <a:stretch/>
        </p:blipFill>
        <p:spPr>
          <a:xfrm>
            <a:off x="6377907" y="3329423"/>
            <a:ext cx="1700940" cy="145506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86ED2F4-3B1E-4DA0-9705-99F6F7E004A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211" r="42025"/>
          <a:stretch/>
        </p:blipFill>
        <p:spPr>
          <a:xfrm>
            <a:off x="3676076" y="3331690"/>
            <a:ext cx="1746394" cy="145506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6E8393F-F408-4753-B3DC-DCDF61E3B96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-1" b="2716"/>
          <a:stretch/>
        </p:blipFill>
        <p:spPr>
          <a:xfrm>
            <a:off x="6377907" y="1297097"/>
            <a:ext cx="1700939" cy="14575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01F8CF-8279-4DD0-8FD0-14CADF64AAB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5030"/>
          <a:stretch/>
        </p:blipFill>
        <p:spPr>
          <a:xfrm>
            <a:off x="3676075" y="1297365"/>
            <a:ext cx="1746394" cy="145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0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От субъективного мнения</a:t>
            </a:r>
            <a:r>
              <a:rPr lang="ru" sz="2400" dirty="0"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ru" sz="2400" dirty="0">
                <a:solidFill>
                  <a:srgbClr val="0064E1"/>
                </a:solidFill>
                <a:latin typeface="Unbounded"/>
                <a:ea typeface="Unbounded"/>
                <a:cs typeface="Unbounded"/>
                <a:sym typeface="Unbounded"/>
              </a:rPr>
              <a:t>к детальной аналитке</a:t>
            </a:r>
            <a:endParaRPr sz="2400" dirty="0">
              <a:solidFill>
                <a:srgbClr val="0064E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305" name="Google Shape;3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>
            <a:spLocks noGrp="1"/>
          </p:cNvSpPr>
          <p:nvPr>
            <p:ph type="title"/>
          </p:nvPr>
        </p:nvSpPr>
        <p:spPr>
          <a:xfrm>
            <a:off x="360000" y="1076543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Человеку свойственно искажать информацию под свои задачи и цели, а иногда вы о ней можете вообще не узнать</a:t>
            </a:r>
            <a:endParaRPr sz="1400" dirty="0">
              <a:solidFill>
                <a:srgbClr val="666666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grpSp>
        <p:nvGrpSpPr>
          <p:cNvPr id="307" name="Google Shape;307;p27"/>
          <p:cNvGrpSpPr/>
          <p:nvPr/>
        </p:nvGrpSpPr>
        <p:grpSpPr>
          <a:xfrm>
            <a:off x="2667412" y="2090332"/>
            <a:ext cx="344010" cy="179430"/>
            <a:chOff x="2080675" y="352325"/>
            <a:chExt cx="485000" cy="254800"/>
          </a:xfrm>
        </p:grpSpPr>
        <p:sp>
          <p:nvSpPr>
            <p:cNvPr id="308" name="Google Shape;308;p27"/>
            <p:cNvSpPr/>
            <p:nvPr/>
          </p:nvSpPr>
          <p:spPr>
            <a:xfrm>
              <a:off x="2080675" y="352325"/>
              <a:ext cx="485000" cy="254800"/>
            </a:xfrm>
            <a:custGeom>
              <a:avLst/>
              <a:gdLst/>
              <a:ahLst/>
              <a:cxnLst/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2246650" y="408900"/>
              <a:ext cx="147075" cy="141600"/>
            </a:xfrm>
            <a:custGeom>
              <a:avLst/>
              <a:gdLst/>
              <a:ahLst/>
              <a:cxnLst/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27"/>
          <p:cNvGrpSpPr/>
          <p:nvPr/>
        </p:nvGrpSpPr>
        <p:grpSpPr>
          <a:xfrm>
            <a:off x="507362" y="2030561"/>
            <a:ext cx="344005" cy="298943"/>
            <a:chOff x="889275" y="861850"/>
            <a:chExt cx="487950" cy="424575"/>
          </a:xfrm>
        </p:grpSpPr>
        <p:sp>
          <p:nvSpPr>
            <p:cNvPr id="311" name="Google Shape;311;p27"/>
            <p:cNvSpPr/>
            <p:nvPr/>
          </p:nvSpPr>
          <p:spPr>
            <a:xfrm>
              <a:off x="1319225" y="1031700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1314475" y="946725"/>
              <a:ext cx="62750" cy="56700"/>
            </a:xfrm>
            <a:custGeom>
              <a:avLst/>
              <a:gdLst/>
              <a:ahLst/>
              <a:cxnLst/>
              <a:rect l="l" t="t" r="r" b="b"/>
              <a:pathLst>
                <a:path w="2510" h="2268" extrusionOk="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1317875" y="108825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889275" y="861850"/>
              <a:ext cx="400700" cy="424575"/>
            </a:xfrm>
            <a:custGeom>
              <a:avLst/>
              <a:gdLst/>
              <a:ahLst/>
              <a:cxnLst/>
              <a:rect l="l" t="t" r="r" b="b"/>
              <a:pathLst>
                <a:path w="16028" h="16983" extrusionOk="0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7"/>
          <p:cNvGrpSpPr/>
          <p:nvPr/>
        </p:nvGrpSpPr>
        <p:grpSpPr>
          <a:xfrm>
            <a:off x="4849642" y="2009976"/>
            <a:ext cx="395342" cy="340151"/>
            <a:chOff x="5049750" y="832600"/>
            <a:chExt cx="505100" cy="483100"/>
          </a:xfrm>
        </p:grpSpPr>
        <p:sp>
          <p:nvSpPr>
            <p:cNvPr id="316" name="Google Shape;316;p27"/>
            <p:cNvSpPr/>
            <p:nvPr/>
          </p:nvSpPr>
          <p:spPr>
            <a:xfrm>
              <a:off x="5049750" y="832600"/>
              <a:ext cx="505100" cy="483100"/>
            </a:xfrm>
            <a:custGeom>
              <a:avLst/>
              <a:gdLst/>
              <a:ahLst/>
              <a:cxnLst/>
              <a:rect l="l" t="t" r="r" b="b"/>
              <a:pathLst>
                <a:path w="20204" h="19324" extrusionOk="0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5216725" y="889175"/>
              <a:ext cx="276000" cy="254400"/>
            </a:xfrm>
            <a:custGeom>
              <a:avLst/>
              <a:gdLst/>
              <a:ahLst/>
              <a:cxnLst/>
              <a:rect l="l" t="t" r="r" b="b"/>
              <a:pathLst>
                <a:path w="11040" h="10176" extrusionOk="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27"/>
          <p:cNvGrpSpPr/>
          <p:nvPr/>
        </p:nvGrpSpPr>
        <p:grpSpPr>
          <a:xfrm>
            <a:off x="6995861" y="2009922"/>
            <a:ext cx="344043" cy="340168"/>
            <a:chOff x="5053900" y="2021500"/>
            <a:chExt cx="483750" cy="483125"/>
          </a:xfrm>
        </p:grpSpPr>
        <p:sp>
          <p:nvSpPr>
            <p:cNvPr id="319" name="Google Shape;319;p27"/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rgbClr val="0064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27"/>
          <p:cNvSpPr txBox="1"/>
          <p:nvPr/>
        </p:nvSpPr>
        <p:spPr>
          <a:xfrm>
            <a:off x="359953" y="2438546"/>
            <a:ext cx="1873200" cy="140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dirty="0">
                <a:solidFill>
                  <a:srgbClr val="212121"/>
                </a:solidFill>
                <a:latin typeface="Unbounded Medium"/>
                <a:ea typeface="Unbounded"/>
                <a:cs typeface="Unbounded"/>
                <a:sym typeface="Unbounded Medium"/>
              </a:rPr>
              <a:t>Ответ на отзыв</a:t>
            </a:r>
            <a:br>
              <a:rPr lang="ru" sz="1200" b="1"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</a:br>
            <a:endParaRPr sz="1200" b="1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Сотрудник клиентского сервиса может не увидеть проблему или наоборот превысить её значение в общем потоке. </a:t>
            </a:r>
            <a:endParaRPr sz="800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2543521" y="2438546"/>
            <a:ext cx="18732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dirty="0">
                <a:solidFill>
                  <a:srgbClr val="212121"/>
                </a:solidFill>
                <a:latin typeface="Unbounded Medium"/>
                <a:ea typeface="Unbounded"/>
                <a:cs typeface="Unbounded"/>
                <a:sym typeface="Unbounded Medium"/>
              </a:rPr>
              <a:t>Консолидация отзывов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ru" sz="1200" b="1"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</a:br>
            <a:r>
              <a:rPr lang="ru" sz="800" dirty="0">
                <a:solidFill>
                  <a:srgbClr val="212121"/>
                </a:solidFill>
                <a:latin typeface="Unbounded Light"/>
                <a:ea typeface="Unbounded"/>
                <a:cs typeface="Unbounded"/>
                <a:sym typeface="Unbounded Light"/>
              </a:rPr>
              <a:t>Единая площадка для работы с отзывами не только </a:t>
            </a:r>
            <a:r>
              <a:rPr lang="ru" sz="800" b="1" dirty="0">
                <a:solidFill>
                  <a:srgbClr val="212121"/>
                </a:solidFill>
                <a:latin typeface="Unbounded Light"/>
                <a:ea typeface="Unbounded"/>
                <a:cs typeface="Unbounded"/>
                <a:sym typeface="Unbounded Light"/>
              </a:rPr>
              <a:t>упрощает</a:t>
            </a:r>
            <a:r>
              <a:rPr lang="ru" sz="800" dirty="0">
                <a:solidFill>
                  <a:srgbClr val="212121"/>
                </a:solidFill>
                <a:latin typeface="Unbounded Light"/>
                <a:ea typeface="Unbounded"/>
                <a:cs typeface="Unbounded"/>
                <a:sym typeface="Unbounded Light"/>
              </a:rPr>
              <a:t> работу сотруднику клиентского сервиса, но и </a:t>
            </a:r>
            <a:r>
              <a:rPr lang="ru" sz="800" b="1" dirty="0">
                <a:solidFill>
                  <a:srgbClr val="212121"/>
                </a:solidFill>
                <a:latin typeface="Unbounded Light"/>
                <a:ea typeface="Unbounded"/>
                <a:cs typeface="Unbounded"/>
                <a:sym typeface="Unbounded Light"/>
              </a:rPr>
              <a:t>позволяет</a:t>
            </a:r>
            <a:r>
              <a:rPr lang="ru" sz="800" dirty="0">
                <a:solidFill>
                  <a:srgbClr val="212121"/>
                </a:solidFill>
                <a:latin typeface="Unbounded Light"/>
                <a:ea typeface="Unbounded"/>
                <a:cs typeface="Unbounded"/>
                <a:sym typeface="Unbounded Light"/>
              </a:rPr>
              <a:t> провести анализ обратной связи и сравнить с продажами</a:t>
            </a:r>
            <a: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. </a:t>
            </a:r>
            <a:endParaRPr sz="9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4727089" y="2438546"/>
            <a:ext cx="1873200" cy="154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Поиск инсайтов</a:t>
            </a:r>
            <a:br>
              <a:rPr lang="ru" sz="12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</a:br>
            <a:endParaRPr sz="1200" i="0" u="none" strike="noStrike" cap="none" dirty="0">
              <a:solidFill>
                <a:srgbClr val="212121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Углубленный анализ обратной связи от покупателей позволяет </a:t>
            </a:r>
            <a:r>
              <a:rPr lang="ru" sz="8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увидеть зоны роста продукта</a:t>
            </a:r>
            <a: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. </a:t>
            </a:r>
            <a:b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С ИИ это можно сделать за 1 миннуту. </a:t>
            </a:r>
            <a:endParaRPr sz="9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6910658" y="2438546"/>
            <a:ext cx="1873200" cy="215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Обоснованные решения</a:t>
            </a:r>
            <a:br>
              <a:rPr lang="ru" sz="12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</a:br>
            <a:endParaRPr sz="1200" i="0" u="none" strike="noStrike" cap="none" dirty="0">
              <a:solidFill>
                <a:srgbClr val="212121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Принятие решеня об изменении продукта происходит на объективных фактах, а не на субъективном мнении сотрудника</a:t>
            </a:r>
            <a: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.</a:t>
            </a:r>
            <a:b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" sz="8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Минимизация рисков для бизнеса </a:t>
            </a:r>
            <a:endParaRPr sz="8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cxnSp>
        <p:nvCxnSpPr>
          <p:cNvPr id="331" name="Google Shape;331;p27"/>
          <p:cNvCxnSpPr/>
          <p:nvPr/>
        </p:nvCxnSpPr>
        <p:spPr>
          <a:xfrm>
            <a:off x="1126974" y="2180044"/>
            <a:ext cx="1344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32" name="Google Shape;332;p27"/>
          <p:cNvCxnSpPr/>
          <p:nvPr/>
        </p:nvCxnSpPr>
        <p:spPr>
          <a:xfrm>
            <a:off x="3296653" y="2180044"/>
            <a:ext cx="1344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33" name="Google Shape;333;p27"/>
          <p:cNvCxnSpPr/>
          <p:nvPr/>
        </p:nvCxnSpPr>
        <p:spPr>
          <a:xfrm>
            <a:off x="5471566" y="2180044"/>
            <a:ext cx="1344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 История чемодана </a:t>
            </a:r>
            <a:r>
              <a:rPr lang="en-US" sz="2400" dirty="0" err="1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Ridberg</a:t>
            </a:r>
            <a:endParaRPr sz="2400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438059" y="663975"/>
            <a:ext cx="82678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Принять негатив и услышать боль покупателя главный инструмент в развитии продукта</a:t>
            </a:r>
            <a:endParaRPr sz="1400" dirty="0">
              <a:solidFill>
                <a:srgbClr val="666666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92149F-EC4F-4FB1-A1DB-CCA334C911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000" b="21743"/>
          <a:stretch/>
        </p:blipFill>
        <p:spPr>
          <a:xfrm>
            <a:off x="438059" y="1359984"/>
            <a:ext cx="7856901" cy="1048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F9139E-B855-4967-8A7F-26DE0B7A0E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5417" b="31924"/>
          <a:stretch/>
        </p:blipFill>
        <p:spPr>
          <a:xfrm>
            <a:off x="438059" y="2571750"/>
            <a:ext cx="7387084" cy="167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9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/>
          <p:nvPr/>
        </p:nvSpPr>
        <p:spPr>
          <a:xfrm>
            <a:off x="360000" y="1606529"/>
            <a:ext cx="3132694" cy="2258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Боли покупателей 2023- </a:t>
            </a:r>
            <a:r>
              <a:rPr lang="en-US" sz="1600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2024</a:t>
            </a:r>
            <a:r>
              <a:rPr lang="ru-RU" sz="1600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г.</a:t>
            </a:r>
            <a:br>
              <a:rPr lang="ru" sz="16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</a:br>
            <a:endParaRPr sz="1000" i="0" u="none" strike="noStrike" cap="none" dirty="0">
              <a:solidFill>
                <a:srgbClr val="212121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  <a:p>
            <a:pPr marL="330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-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Теряются и ломаются съемные колеса </a:t>
            </a:r>
            <a:b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Ломается бегунок молнии</a:t>
            </a: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12</a:t>
            </a:r>
            <a:r>
              <a:rPr lang="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% негатива</a:t>
            </a:r>
            <a:br>
              <a:rPr lang="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endParaRPr lang="ru" sz="1000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-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Р</a:t>
            </a:r>
            <a: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ейтинг 4,7</a:t>
            </a:r>
          </a:p>
        </p:txBody>
      </p:sp>
      <p:sp>
        <p:nvSpPr>
          <p:cNvPr id="412" name="Google Shape;412;p32"/>
          <p:cNvSpPr/>
          <p:nvPr/>
        </p:nvSpPr>
        <p:spPr>
          <a:xfrm>
            <a:off x="3621879" y="566850"/>
            <a:ext cx="5162145" cy="2666100"/>
          </a:xfrm>
          <a:prstGeom prst="roundRect">
            <a:avLst>
              <a:gd name="adj" fmla="val 6195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КЛЮЧЕВЫЕ ДОСТИЖЕНИЯ</a:t>
            </a:r>
            <a:br>
              <a:rPr lang="ru" sz="16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</a:br>
            <a:endParaRPr sz="1600" i="0" u="none" strike="noStrike" cap="none" dirty="0">
              <a:solidFill>
                <a:srgbClr val="212121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  <a:p>
            <a:pPr marL="330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-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6 колес в комплекте (4 основных и 2 запасных)</a:t>
            </a: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2 запасных бегунка для молнии</a:t>
            </a:r>
            <a:b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-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б</a:t>
            </a:r>
            <a: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ирка на чемодан в подарок</a:t>
            </a:r>
            <a:b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endParaRPr lang="ru"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indent="-228600">
              <a:lnSpc>
                <a:spcPct val="115000"/>
              </a:lnSpc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-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5,5 % негатива</a:t>
            </a:r>
            <a:br>
              <a:rPr lang="ru" sz="1000" i="0" u="none" strike="noStrike" cap="none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endParaRPr sz="10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  <a:p>
            <a:pPr marL="330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Unbounded Light"/>
              <a:buChar char="●"/>
            </a:pPr>
            <a:r>
              <a:rPr lang="ru-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р</a:t>
            </a:r>
            <a:r>
              <a:rPr lang="ru" sz="10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азвитие категории – 5 моделей чемоданов в 2026г.</a:t>
            </a:r>
          </a:p>
        </p:txBody>
      </p:sp>
      <p:sp>
        <p:nvSpPr>
          <p:cNvPr id="413" name="Google Shape;413;p32"/>
          <p:cNvSpPr/>
          <p:nvPr/>
        </p:nvSpPr>
        <p:spPr>
          <a:xfrm>
            <a:off x="359999" y="4136999"/>
            <a:ext cx="2976131" cy="633000"/>
          </a:xfrm>
          <a:prstGeom prst="roundRect">
            <a:avLst>
              <a:gd name="adj" fmla="val 22508"/>
            </a:avLst>
          </a:prstGeom>
          <a:solidFill>
            <a:srgbClr val="0064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i="0" u="none" strike="noStrike" cap="none" dirty="0">
                <a:solidFill>
                  <a:srgbClr val="FFFFFF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ПЕРИОД РАБОТЫ</a:t>
            </a:r>
            <a:br>
              <a:rPr lang="ru" sz="1000" i="0" u="none" strike="noStrike" cap="none" dirty="0">
                <a:solidFill>
                  <a:srgbClr val="FFFFFF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</a:br>
            <a:r>
              <a:rPr lang="ru" sz="1000" dirty="0">
                <a:solidFill>
                  <a:srgbClr val="FFFFFF"/>
                </a:solidFill>
                <a:latin typeface="Unbounded Light"/>
                <a:ea typeface="Unbounded SemiBold"/>
                <a:cs typeface="Unbounded SemiBold"/>
                <a:sym typeface="Unbounded Light"/>
              </a:rPr>
              <a:t>ноябрь</a:t>
            </a:r>
            <a:r>
              <a:rPr lang="ru" sz="10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2023 – 2026 г. </a:t>
            </a:r>
            <a:endParaRPr i="0" u="none" strike="noStrike" cap="none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3621880" y="3359550"/>
            <a:ext cx="5162119" cy="1409400"/>
          </a:xfrm>
          <a:prstGeom prst="roundRect">
            <a:avLst>
              <a:gd name="adj" fmla="val 11686"/>
            </a:avLst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i="0" u="none" strike="noStrike" cap="none" dirty="0">
                <a:solidFill>
                  <a:srgbClr val="FFFFFF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ПОКАЗАТЕЛИ</a:t>
            </a:r>
            <a:endParaRPr sz="1600" i="0" u="none" strike="noStrike" cap="none" dirty="0">
              <a:solidFill>
                <a:srgbClr val="FFFFFF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5778603" y="3473700"/>
            <a:ext cx="1385400" cy="1181100"/>
          </a:xfrm>
          <a:prstGeom prst="roundRect">
            <a:avLst>
              <a:gd name="adj" fmla="val 11666"/>
            </a:avLst>
          </a:prstGeom>
          <a:solidFill>
            <a:srgbClr val="2E2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" sz="1700" b="1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4,9</a:t>
            </a:r>
            <a:endParaRPr sz="1200" b="1" i="0" u="none" strike="noStrike" cap="none" dirty="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lang="ru" sz="4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-RU" sz="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С</a:t>
            </a:r>
            <a:r>
              <a:rPr lang="ru" sz="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редний рейтинг</a:t>
            </a:r>
            <a:br>
              <a:rPr lang="ru" sz="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" sz="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</a:t>
            </a:r>
            <a:endParaRPr sz="1200" i="0" u="none" strike="noStrike" cap="none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7293188" y="3473700"/>
            <a:ext cx="1385400" cy="1181100"/>
          </a:xfrm>
          <a:prstGeom prst="roundRect">
            <a:avLst>
              <a:gd name="adj" fmla="val 11666"/>
            </a:avLst>
          </a:prstGeom>
          <a:solidFill>
            <a:srgbClr val="2E2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700" b="1" dirty="0">
                <a:solidFill>
                  <a:srgbClr val="FFFFFF"/>
                </a:solidFill>
                <a:latin typeface="Unbounded Medium"/>
                <a:ea typeface="Unbounded"/>
                <a:cs typeface="Unbounded"/>
                <a:sym typeface="Unbounded Medium"/>
              </a:rPr>
              <a:t>- 6,5</a:t>
            </a:r>
            <a:r>
              <a:rPr lang="ru" sz="1700" b="1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%</a:t>
            </a:r>
            <a:endParaRPr sz="1700" b="1" i="0" u="none" strike="noStrike" cap="none" dirty="0">
              <a:solidFill>
                <a:srgbClr val="FFFFFF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lang="ru" sz="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" sz="800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Н</a:t>
            </a:r>
            <a:r>
              <a:rPr lang="ru" sz="80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егативных отзывов</a:t>
            </a:r>
            <a:endParaRPr sz="800" i="0" u="none" strike="noStrike" cap="none" dirty="0">
              <a:solidFill>
                <a:srgbClr val="FFFFFF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417" name="Google Shape;417;p32"/>
          <p:cNvSpPr txBox="1">
            <a:spLocks noGrp="1"/>
          </p:cNvSpPr>
          <p:nvPr>
            <p:ph type="title"/>
          </p:nvPr>
        </p:nvSpPr>
        <p:spPr>
          <a:xfrm>
            <a:off x="359975" y="566850"/>
            <a:ext cx="3261904" cy="11271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Анализ и </a:t>
            </a:r>
            <a:r>
              <a:rPr lang="ru" sz="2400" dirty="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транформация</a:t>
            </a:r>
            <a:endParaRPr sz="2400" dirty="0">
              <a:solidFill>
                <a:schemeClr val="accen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 Трансформация в цифрах</a:t>
            </a:r>
            <a:endParaRPr sz="2400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514350" y="3092395"/>
            <a:ext cx="8267882" cy="1564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tx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Увеличение рейтинга и количества отзывов – это результат синергии эффективной команды и технологий. </a:t>
            </a:r>
            <a:br>
              <a:rPr lang="ru-RU" sz="12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br>
              <a:rPr lang="ru-RU" sz="12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-RU" sz="1200" dirty="0">
                <a:solidFill>
                  <a:schemeClr val="accen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Глубокая аналитика за 1 минуту: </a:t>
            </a:r>
            <a:r>
              <a:rPr lang="ru-RU" sz="1200" dirty="0" err="1">
                <a:solidFill>
                  <a:schemeClr val="accen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Спикс</a:t>
            </a:r>
            <a:r>
              <a:rPr lang="ru-RU" sz="1200" dirty="0">
                <a:solidFill>
                  <a:schemeClr val="accent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мгновенно формирует подробные отчеты и подсвечивает скрытые инсайты.</a:t>
            </a:r>
            <a:br>
              <a:rPr lang="ru-RU" sz="12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br>
              <a:rPr lang="ru-RU" sz="12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-RU" sz="1200" dirty="0">
                <a:solidFill>
                  <a:schemeClr val="tx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Автоматизированные отчеты позволяют управлять ассортиментом в 1200 товаров и не упустить важные моменты.</a:t>
            </a:r>
            <a:endParaRPr sz="1200" dirty="0">
              <a:solidFill>
                <a:schemeClr val="tx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CC94F0-CF3C-44C3-B35E-414A975A1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706663"/>
            <a:ext cx="5850731" cy="23044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B7B1E7-5031-47D4-8362-891D637D7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694" y="706663"/>
            <a:ext cx="2522656" cy="230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8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 Восторг и признание покупателей</a:t>
            </a:r>
            <a:endParaRPr sz="2400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438059" y="663975"/>
            <a:ext cx="82678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Забота о покупателе станет вашим преимуществом и непременно отразиться на отзывах и рейтинге товара </a:t>
            </a:r>
            <a:endParaRPr sz="1400" dirty="0">
              <a:solidFill>
                <a:srgbClr val="666666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4BBA72-C41E-45CF-9370-8B7969DD00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977"/>
          <a:stretch/>
        </p:blipFill>
        <p:spPr>
          <a:xfrm>
            <a:off x="438059" y="1236675"/>
            <a:ext cx="6682740" cy="21546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6E6A7F-15E0-442F-B05C-6148387EC2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823" b="38315"/>
          <a:stretch/>
        </p:blipFill>
        <p:spPr>
          <a:xfrm>
            <a:off x="438059" y="3538654"/>
            <a:ext cx="6720840" cy="10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9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Ошибки в</a:t>
            </a:r>
            <a:r>
              <a:rPr lang="ru" sz="2400" dirty="0"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ru" sz="2400" dirty="0">
                <a:solidFill>
                  <a:srgbClr val="0064E1"/>
                </a:solidFill>
                <a:latin typeface="Unbounded"/>
                <a:ea typeface="Unbounded"/>
                <a:cs typeface="Unbounded"/>
                <a:sym typeface="Unbounded"/>
              </a:rPr>
              <a:t>контенте</a:t>
            </a:r>
            <a:r>
              <a:rPr lang="ru" sz="2400" dirty="0">
                <a:latin typeface="Unbounded"/>
                <a:ea typeface="Unbounded"/>
                <a:cs typeface="Unbounded"/>
                <a:sym typeface="Unbounded"/>
              </a:rPr>
              <a:t> </a:t>
            </a:r>
            <a:endParaRPr sz="2400" dirty="0">
              <a:solidFill>
                <a:srgbClr val="0064E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305" name="Google Shape;3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>
            <a:spLocks noGrp="1"/>
          </p:cNvSpPr>
          <p:nvPr>
            <p:ph type="title"/>
          </p:nvPr>
        </p:nvSpPr>
        <p:spPr>
          <a:xfrm>
            <a:off x="360000" y="641798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Как увидеть ошибку, если у вас 1200 товаров?</a:t>
            </a:r>
            <a:br>
              <a:rPr lang="ru-RU" sz="14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br>
              <a:rPr lang="ru-RU" sz="200" dirty="0">
                <a:solidFill>
                  <a:srgbClr val="666666"/>
                </a:solidFill>
                <a:latin typeface="Unbounded Light"/>
                <a:ea typeface="Unbounded Light"/>
                <a:cs typeface="Unbounded Light"/>
                <a:sym typeface="Unbounded Light"/>
              </a:rPr>
            </a:br>
            <a:r>
              <a:rPr lang="ru-RU" sz="1400" b="1" u="none" strike="noStrike" dirty="0">
                <a:effectLst/>
                <a:latin typeface="Unbounded Light" panose="020B0604020202020204" charset="-52"/>
              </a:rPr>
              <a:t>Приоритет </a:t>
            </a:r>
            <a:r>
              <a:rPr lang="en-US" sz="1400" b="1" dirty="0">
                <a:latin typeface="Unbounded Light" panose="020B0604020202020204" charset="-52"/>
              </a:rPr>
              <a:t>ICOVER</a:t>
            </a:r>
            <a:r>
              <a:rPr lang="ru-RU" sz="1400" dirty="0">
                <a:latin typeface="Unbounded Light" panose="020B0604020202020204" charset="-52"/>
              </a:rPr>
              <a:t> — сохранение доверия покупателей через честность и достоверную информацию о каждом товаре</a:t>
            </a:r>
            <a:endParaRPr lang="ru-RU" sz="1400" dirty="0">
              <a:solidFill>
                <a:srgbClr val="666666"/>
              </a:solidFill>
              <a:latin typeface="Unbounded Light" panose="020B0604020202020204" charset="-52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337014" y="2097229"/>
            <a:ext cx="1873200" cy="125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Ошибка</a:t>
            </a:r>
            <a:br>
              <a:rPr lang="ru" sz="1200" b="1"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</a:br>
            <a:endParaRPr sz="1200" b="1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>
              <a:lnSpc>
                <a:spcPct val="115000"/>
              </a:lnSpc>
              <a:buSzPts val="800"/>
            </a:pPr>
            <a:r>
              <a:rPr lang="ru-RU" sz="800" dirty="0">
                <a:solidFill>
                  <a:srgbClr val="212121"/>
                </a:solidFill>
                <a:latin typeface="Unbounded Light"/>
                <a:sym typeface="Unbounded"/>
              </a:rPr>
              <a:t>Покупатели внимательно изучают карточки товаров, в случае несоответствия пишут вопросы и отзывы. </a:t>
            </a:r>
            <a:endParaRPr sz="800" dirty="0">
              <a:solidFill>
                <a:srgbClr val="212121"/>
              </a:solidFill>
              <a:latin typeface="Unbounded Light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2520582" y="2097229"/>
            <a:ext cx="18732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Реакция </a:t>
            </a:r>
            <a:br>
              <a:rPr lang="ru" sz="1200" b="1" i="0" u="none" strike="noStrike" cap="none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</a:br>
            <a:endParaRPr lang="ru" sz="1200" b="1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dirty="0" err="1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Спикс</a:t>
            </a:r>
            <a:r>
              <a:rPr lang="ru-RU" sz="8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 тегирует отзывы с упоминанием ошибок в описании, а менеджер КС берет в приоритет и сообщает команде. </a:t>
            </a:r>
            <a:endParaRPr lang="ru-RU" sz="9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4704150" y="2097229"/>
            <a:ext cx="1873200" cy="97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Проверка</a:t>
            </a:r>
            <a:br>
              <a:rPr lang="ru" sz="12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</a:br>
            <a:endParaRPr sz="1200" i="0" u="none" strike="noStrike" cap="none" dirty="0">
              <a:solidFill>
                <a:srgbClr val="212121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dirty="0">
                <a:solidFill>
                  <a:srgbClr val="212121"/>
                </a:solidFill>
                <a:latin typeface="Unbounded Light"/>
                <a:ea typeface="Unbounded Light"/>
                <a:cs typeface="Unbounded Light"/>
                <a:sym typeface="Unbounded Light"/>
              </a:rPr>
              <a:t>Бренд менеджер проверят контент и дает задачу на корректировки</a:t>
            </a:r>
            <a:endParaRPr sz="900" i="0" u="none" strike="noStrike" cap="none" dirty="0">
              <a:solidFill>
                <a:srgbClr val="212121"/>
              </a:solidFill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330" name="Google Shape;330;p27"/>
          <p:cNvSpPr txBox="1"/>
          <p:nvPr/>
        </p:nvSpPr>
        <p:spPr>
          <a:xfrm>
            <a:off x="6663611" y="2097229"/>
            <a:ext cx="2097308" cy="125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Реализация за 24ч.</a:t>
            </a:r>
            <a:br>
              <a:rPr lang="ru" sz="1200" i="0" u="none" strike="noStrike" cap="none" dirty="0">
                <a:solidFill>
                  <a:srgbClr val="21212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</a:br>
            <a:endParaRPr sz="1200" i="0" u="none" strike="noStrike" cap="none" dirty="0">
              <a:solidFill>
                <a:srgbClr val="212121"/>
              </a:solidFill>
              <a:latin typeface="Unbounded Medium"/>
              <a:ea typeface="Unbounded Medium"/>
              <a:cs typeface="Unbounded Medium"/>
              <a:sym typeface="Unbounded Medium"/>
            </a:endParaRPr>
          </a:p>
          <a:p>
            <a:pPr marL="0" lvl="0" indent="0">
              <a:lnSpc>
                <a:spcPct val="115000"/>
              </a:lnSpc>
              <a:buSzPts val="800"/>
              <a:buFont typeface="Arial"/>
              <a:buNone/>
            </a:pPr>
            <a:r>
              <a:rPr lang="ru-RU" sz="800" dirty="0">
                <a:solidFill>
                  <a:srgbClr val="212121"/>
                </a:solidFill>
                <a:latin typeface="Unbounded Light"/>
                <a:sym typeface="Unbounded"/>
              </a:rPr>
              <a:t>Оперативные корректировки позволяют удержать доверие покупателей и снизить </a:t>
            </a:r>
            <a:r>
              <a:rPr lang="ru-RU" sz="800" dirty="0" err="1">
                <a:solidFill>
                  <a:srgbClr val="212121"/>
                </a:solidFill>
                <a:latin typeface="Unbounded Light"/>
                <a:sym typeface="Unbounded"/>
              </a:rPr>
              <a:t>невыкуп</a:t>
            </a:r>
            <a:r>
              <a:rPr lang="ru-RU" sz="800" dirty="0">
                <a:solidFill>
                  <a:srgbClr val="212121"/>
                </a:solidFill>
                <a:latin typeface="Unbounded Light"/>
                <a:sym typeface="Unbounded"/>
              </a:rPr>
              <a:t> товаров. </a:t>
            </a:r>
            <a:endParaRPr sz="800" dirty="0">
              <a:solidFill>
                <a:srgbClr val="212121"/>
              </a:solidFill>
              <a:latin typeface="Unbounded Light"/>
              <a:sym typeface="Unbound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 dirty="0">
              <a:solidFill>
                <a:srgbClr val="21212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60961D0-EF1A-4CAA-9AA5-7800D1319852}"/>
              </a:ext>
            </a:extLst>
          </p:cNvPr>
          <p:cNvGrpSpPr/>
          <p:nvPr/>
        </p:nvGrpSpPr>
        <p:grpSpPr>
          <a:xfrm>
            <a:off x="484422" y="1648695"/>
            <a:ext cx="7295121" cy="448533"/>
            <a:chOff x="484423" y="1648696"/>
            <a:chExt cx="6861489" cy="369578"/>
          </a:xfrm>
        </p:grpSpPr>
        <p:grpSp>
          <p:nvGrpSpPr>
            <p:cNvPr id="310" name="Google Shape;310;p27"/>
            <p:cNvGrpSpPr/>
            <p:nvPr/>
          </p:nvGrpSpPr>
          <p:grpSpPr>
            <a:xfrm>
              <a:off x="484423" y="1689244"/>
              <a:ext cx="344005" cy="298943"/>
              <a:chOff x="889275" y="861850"/>
              <a:chExt cx="487950" cy="424575"/>
            </a:xfrm>
          </p:grpSpPr>
          <p:sp>
            <p:nvSpPr>
              <p:cNvPr id="311" name="Google Shape;311;p27"/>
              <p:cNvSpPr/>
              <p:nvPr/>
            </p:nvSpPr>
            <p:spPr>
              <a:xfrm>
                <a:off x="1319225" y="1031700"/>
                <a:ext cx="5665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133" extrusionOk="0">
                    <a:moveTo>
                      <a:pt x="569" y="1"/>
                    </a:moveTo>
                    <a:cubicBezTo>
                      <a:pt x="255" y="1"/>
                      <a:pt x="1" y="251"/>
                      <a:pt x="1" y="565"/>
                    </a:cubicBezTo>
                    <a:cubicBezTo>
                      <a:pt x="1" y="879"/>
                      <a:pt x="255" y="1133"/>
                      <a:pt x="569" y="1133"/>
                    </a:cubicBezTo>
                    <a:lnTo>
                      <a:pt x="1701" y="1133"/>
                    </a:lnTo>
                    <a:cubicBezTo>
                      <a:pt x="2012" y="1133"/>
                      <a:pt x="2265" y="879"/>
                      <a:pt x="2265" y="565"/>
                    </a:cubicBezTo>
                    <a:cubicBezTo>
                      <a:pt x="2265" y="251"/>
                      <a:pt x="2012" y="1"/>
                      <a:pt x="1701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7"/>
              <p:cNvSpPr/>
              <p:nvPr/>
            </p:nvSpPr>
            <p:spPr>
              <a:xfrm>
                <a:off x="1314475" y="946725"/>
                <a:ext cx="62750" cy="56700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2268" extrusionOk="0">
                    <a:moveTo>
                      <a:pt x="1889" y="0"/>
                    </a:moveTo>
                    <a:cubicBezTo>
                      <a:pt x="1744" y="0"/>
                      <a:pt x="1599" y="55"/>
                      <a:pt x="1489" y="166"/>
                    </a:cubicBezTo>
                    <a:lnTo>
                      <a:pt x="357" y="1298"/>
                    </a:lnTo>
                    <a:cubicBezTo>
                      <a:pt x="1" y="1657"/>
                      <a:pt x="251" y="2267"/>
                      <a:pt x="759" y="2267"/>
                    </a:cubicBezTo>
                    <a:cubicBezTo>
                      <a:pt x="906" y="2267"/>
                      <a:pt x="1051" y="2207"/>
                      <a:pt x="1157" y="2101"/>
                    </a:cubicBezTo>
                    <a:lnTo>
                      <a:pt x="2289" y="969"/>
                    </a:lnTo>
                    <a:cubicBezTo>
                      <a:pt x="2510" y="745"/>
                      <a:pt x="2510" y="389"/>
                      <a:pt x="2289" y="166"/>
                    </a:cubicBezTo>
                    <a:cubicBezTo>
                      <a:pt x="2179" y="55"/>
                      <a:pt x="2034" y="0"/>
                      <a:pt x="1889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7"/>
              <p:cNvSpPr/>
              <p:nvPr/>
            </p:nvSpPr>
            <p:spPr>
              <a:xfrm>
                <a:off x="1317875" y="1088250"/>
                <a:ext cx="59350" cy="56675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2267" extrusionOk="0">
                    <a:moveTo>
                      <a:pt x="621" y="1"/>
                    </a:moveTo>
                    <a:cubicBezTo>
                      <a:pt x="476" y="1"/>
                      <a:pt x="331" y="56"/>
                      <a:pt x="221" y="166"/>
                    </a:cubicBezTo>
                    <a:cubicBezTo>
                      <a:pt x="1" y="390"/>
                      <a:pt x="1" y="746"/>
                      <a:pt x="221" y="969"/>
                    </a:cubicBezTo>
                    <a:lnTo>
                      <a:pt x="1353" y="2102"/>
                    </a:lnTo>
                    <a:cubicBezTo>
                      <a:pt x="1463" y="2212"/>
                      <a:pt x="1608" y="2267"/>
                      <a:pt x="1753" y="2267"/>
                    </a:cubicBezTo>
                    <a:cubicBezTo>
                      <a:pt x="1898" y="2267"/>
                      <a:pt x="2043" y="2212"/>
                      <a:pt x="2153" y="2102"/>
                    </a:cubicBezTo>
                    <a:cubicBezTo>
                      <a:pt x="2374" y="1878"/>
                      <a:pt x="2374" y="1522"/>
                      <a:pt x="2153" y="1298"/>
                    </a:cubicBezTo>
                    <a:lnTo>
                      <a:pt x="1021" y="166"/>
                    </a:lnTo>
                    <a:cubicBezTo>
                      <a:pt x="911" y="56"/>
                      <a:pt x="766" y="1"/>
                      <a:pt x="621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7"/>
              <p:cNvSpPr/>
              <p:nvPr/>
            </p:nvSpPr>
            <p:spPr>
              <a:xfrm>
                <a:off x="889275" y="861850"/>
                <a:ext cx="400700" cy="424575"/>
              </a:xfrm>
              <a:custGeom>
                <a:avLst/>
                <a:gdLst/>
                <a:ahLst/>
                <a:cxnLst/>
                <a:rect l="l" t="t" r="r" b="b"/>
                <a:pathLst>
                  <a:path w="16028" h="16983" extrusionOk="0">
                    <a:moveTo>
                      <a:pt x="4668" y="4530"/>
                    </a:moveTo>
                    <a:lnTo>
                      <a:pt x="4668" y="10191"/>
                    </a:lnTo>
                    <a:lnTo>
                      <a:pt x="4104" y="10191"/>
                    </a:lnTo>
                    <a:cubicBezTo>
                      <a:pt x="2539" y="10191"/>
                      <a:pt x="1271" y="8923"/>
                      <a:pt x="1271" y="7359"/>
                    </a:cubicBezTo>
                    <a:cubicBezTo>
                      <a:pt x="1271" y="5795"/>
                      <a:pt x="2539" y="4530"/>
                      <a:pt x="4104" y="4530"/>
                    </a:cubicBezTo>
                    <a:close/>
                    <a:moveTo>
                      <a:pt x="6972" y="4530"/>
                    </a:moveTo>
                    <a:lnTo>
                      <a:pt x="6972" y="10191"/>
                    </a:lnTo>
                    <a:lnTo>
                      <a:pt x="5800" y="10191"/>
                    </a:lnTo>
                    <a:lnTo>
                      <a:pt x="5800" y="4530"/>
                    </a:lnTo>
                    <a:close/>
                    <a:moveTo>
                      <a:pt x="12633" y="1565"/>
                    </a:moveTo>
                    <a:lnTo>
                      <a:pt x="12633" y="13153"/>
                    </a:lnTo>
                    <a:lnTo>
                      <a:pt x="8104" y="10436"/>
                    </a:lnTo>
                    <a:lnTo>
                      <a:pt x="8104" y="4282"/>
                    </a:lnTo>
                    <a:lnTo>
                      <a:pt x="12633" y="1565"/>
                    </a:lnTo>
                    <a:close/>
                    <a:moveTo>
                      <a:pt x="14330" y="1133"/>
                    </a:moveTo>
                    <a:cubicBezTo>
                      <a:pt x="14644" y="1133"/>
                      <a:pt x="14898" y="1384"/>
                      <a:pt x="14898" y="1698"/>
                    </a:cubicBezTo>
                    <a:lnTo>
                      <a:pt x="14898" y="13021"/>
                    </a:lnTo>
                    <a:cubicBezTo>
                      <a:pt x="14898" y="13335"/>
                      <a:pt x="14644" y="13588"/>
                      <a:pt x="14330" y="13588"/>
                    </a:cubicBezTo>
                    <a:lnTo>
                      <a:pt x="13766" y="13588"/>
                    </a:lnTo>
                    <a:lnTo>
                      <a:pt x="13766" y="1133"/>
                    </a:lnTo>
                    <a:close/>
                    <a:moveTo>
                      <a:pt x="5800" y="11324"/>
                    </a:moveTo>
                    <a:lnTo>
                      <a:pt x="5800" y="15285"/>
                    </a:lnTo>
                    <a:cubicBezTo>
                      <a:pt x="5800" y="15599"/>
                      <a:pt x="5547" y="15850"/>
                      <a:pt x="5236" y="15850"/>
                    </a:cubicBezTo>
                    <a:cubicBezTo>
                      <a:pt x="4922" y="15850"/>
                      <a:pt x="4668" y="15599"/>
                      <a:pt x="4668" y="15285"/>
                    </a:cubicBezTo>
                    <a:lnTo>
                      <a:pt x="4668" y="11324"/>
                    </a:lnTo>
                    <a:close/>
                    <a:moveTo>
                      <a:pt x="13132" y="1"/>
                    </a:moveTo>
                    <a:lnTo>
                      <a:pt x="13098" y="7"/>
                    </a:lnTo>
                    <a:lnTo>
                      <a:pt x="13074" y="10"/>
                    </a:lnTo>
                    <a:cubicBezTo>
                      <a:pt x="13065" y="10"/>
                      <a:pt x="13056" y="16"/>
                      <a:pt x="13047" y="19"/>
                    </a:cubicBezTo>
                    <a:cubicBezTo>
                      <a:pt x="13038" y="22"/>
                      <a:pt x="13029" y="22"/>
                      <a:pt x="13020" y="25"/>
                    </a:cubicBezTo>
                    <a:lnTo>
                      <a:pt x="12996" y="34"/>
                    </a:lnTo>
                    <a:lnTo>
                      <a:pt x="12966" y="46"/>
                    </a:lnTo>
                    <a:lnTo>
                      <a:pt x="12947" y="58"/>
                    </a:lnTo>
                    <a:cubicBezTo>
                      <a:pt x="12935" y="61"/>
                      <a:pt x="12926" y="67"/>
                      <a:pt x="12917" y="73"/>
                    </a:cubicBezTo>
                    <a:lnTo>
                      <a:pt x="12908" y="79"/>
                    </a:lnTo>
                    <a:lnTo>
                      <a:pt x="7380" y="3398"/>
                    </a:lnTo>
                    <a:lnTo>
                      <a:pt x="4104" y="3398"/>
                    </a:lnTo>
                    <a:cubicBezTo>
                      <a:pt x="2023" y="3398"/>
                      <a:pt x="299" y="5001"/>
                      <a:pt x="151" y="7075"/>
                    </a:cubicBezTo>
                    <a:cubicBezTo>
                      <a:pt x="0" y="9150"/>
                      <a:pt x="1480" y="10986"/>
                      <a:pt x="3536" y="11281"/>
                    </a:cubicBezTo>
                    <a:lnTo>
                      <a:pt x="3536" y="15285"/>
                    </a:lnTo>
                    <a:cubicBezTo>
                      <a:pt x="3536" y="16224"/>
                      <a:pt x="4297" y="16982"/>
                      <a:pt x="5236" y="16982"/>
                    </a:cubicBezTo>
                    <a:cubicBezTo>
                      <a:pt x="6172" y="16982"/>
                      <a:pt x="6933" y="16224"/>
                      <a:pt x="6933" y="15285"/>
                    </a:cubicBezTo>
                    <a:lnTo>
                      <a:pt x="6933" y="11324"/>
                    </a:lnTo>
                    <a:lnTo>
                      <a:pt x="7380" y="11324"/>
                    </a:lnTo>
                    <a:lnTo>
                      <a:pt x="12908" y="14639"/>
                    </a:lnTo>
                    <a:cubicBezTo>
                      <a:pt x="12911" y="14642"/>
                      <a:pt x="12914" y="14642"/>
                      <a:pt x="12920" y="14645"/>
                    </a:cubicBezTo>
                    <a:lnTo>
                      <a:pt x="12935" y="14654"/>
                    </a:lnTo>
                    <a:cubicBezTo>
                      <a:pt x="12947" y="14660"/>
                      <a:pt x="12963" y="14666"/>
                      <a:pt x="12975" y="14672"/>
                    </a:cubicBezTo>
                    <a:lnTo>
                      <a:pt x="12984" y="14675"/>
                    </a:lnTo>
                    <a:cubicBezTo>
                      <a:pt x="12996" y="14681"/>
                      <a:pt x="13011" y="14687"/>
                      <a:pt x="13023" y="14690"/>
                    </a:cubicBezTo>
                    <a:lnTo>
                      <a:pt x="13038" y="14696"/>
                    </a:lnTo>
                    <a:cubicBezTo>
                      <a:pt x="13053" y="14699"/>
                      <a:pt x="13068" y="14702"/>
                      <a:pt x="13083" y="14708"/>
                    </a:cubicBezTo>
                    <a:cubicBezTo>
                      <a:pt x="13101" y="14712"/>
                      <a:pt x="13117" y="14715"/>
                      <a:pt x="13135" y="14715"/>
                    </a:cubicBezTo>
                    <a:lnTo>
                      <a:pt x="13144" y="14715"/>
                    </a:lnTo>
                    <a:cubicBezTo>
                      <a:pt x="13162" y="14715"/>
                      <a:pt x="13180" y="14718"/>
                      <a:pt x="13198" y="14718"/>
                    </a:cubicBezTo>
                    <a:lnTo>
                      <a:pt x="14330" y="14718"/>
                    </a:lnTo>
                    <a:cubicBezTo>
                      <a:pt x="15266" y="14718"/>
                      <a:pt x="16027" y="13957"/>
                      <a:pt x="16027" y="13021"/>
                    </a:cubicBezTo>
                    <a:lnTo>
                      <a:pt x="16027" y="1698"/>
                    </a:lnTo>
                    <a:cubicBezTo>
                      <a:pt x="16027" y="759"/>
                      <a:pt x="15266" y="1"/>
                      <a:pt x="14330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5" name="Google Shape;315;p27"/>
            <p:cNvGrpSpPr/>
            <p:nvPr/>
          </p:nvGrpSpPr>
          <p:grpSpPr>
            <a:xfrm>
              <a:off x="4826703" y="1668659"/>
              <a:ext cx="395342" cy="340151"/>
              <a:chOff x="5049750" y="832600"/>
              <a:chExt cx="505100" cy="483100"/>
            </a:xfrm>
          </p:grpSpPr>
          <p:sp>
            <p:nvSpPr>
              <p:cNvPr id="316" name="Google Shape;316;p27"/>
              <p:cNvSpPr/>
              <p:nvPr/>
            </p:nvSpPr>
            <p:spPr>
              <a:xfrm>
                <a:off x="5049750" y="832600"/>
                <a:ext cx="505100" cy="483100"/>
              </a:xfrm>
              <a:custGeom>
                <a:avLst/>
                <a:gdLst/>
                <a:ahLst/>
                <a:cxnLst/>
                <a:rect l="l" t="t" r="r" b="b"/>
                <a:pathLst>
                  <a:path w="20204" h="19324" extrusionOk="0">
                    <a:moveTo>
                      <a:pt x="12136" y="1129"/>
                    </a:moveTo>
                    <a:cubicBezTo>
                      <a:pt x="13730" y="1129"/>
                      <a:pt x="15325" y="1737"/>
                      <a:pt x="16538" y="2952"/>
                    </a:cubicBezTo>
                    <a:cubicBezTo>
                      <a:pt x="18969" y="5383"/>
                      <a:pt x="18969" y="9323"/>
                      <a:pt x="16538" y="11757"/>
                    </a:cubicBezTo>
                    <a:cubicBezTo>
                      <a:pt x="15341" y="12950"/>
                      <a:pt x="13747" y="13579"/>
                      <a:pt x="12129" y="13579"/>
                    </a:cubicBezTo>
                    <a:cubicBezTo>
                      <a:pt x="11233" y="13579"/>
                      <a:pt x="10329" y="13386"/>
                      <a:pt x="9482" y="12989"/>
                    </a:cubicBezTo>
                    <a:cubicBezTo>
                      <a:pt x="9461" y="12980"/>
                      <a:pt x="9440" y="12968"/>
                      <a:pt x="9419" y="12959"/>
                    </a:cubicBezTo>
                    <a:cubicBezTo>
                      <a:pt x="8794" y="12657"/>
                      <a:pt x="8223" y="12249"/>
                      <a:pt x="7734" y="11757"/>
                    </a:cubicBezTo>
                    <a:cubicBezTo>
                      <a:pt x="5306" y="9329"/>
                      <a:pt x="5306" y="5380"/>
                      <a:pt x="7734" y="2952"/>
                    </a:cubicBezTo>
                    <a:cubicBezTo>
                      <a:pt x="8948" y="1737"/>
                      <a:pt x="10542" y="1129"/>
                      <a:pt x="12136" y="1129"/>
                    </a:cubicBezTo>
                    <a:close/>
                    <a:moveTo>
                      <a:pt x="5871" y="11216"/>
                    </a:moveTo>
                    <a:cubicBezTo>
                      <a:pt x="6475" y="12195"/>
                      <a:pt x="7296" y="13016"/>
                      <a:pt x="8271" y="13620"/>
                    </a:cubicBezTo>
                    <a:lnTo>
                      <a:pt x="7734" y="14160"/>
                    </a:lnTo>
                    <a:cubicBezTo>
                      <a:pt x="7622" y="14271"/>
                      <a:pt x="7477" y="14326"/>
                      <a:pt x="7332" y="14326"/>
                    </a:cubicBezTo>
                    <a:cubicBezTo>
                      <a:pt x="7188" y="14326"/>
                      <a:pt x="7044" y="14271"/>
                      <a:pt x="6934" y="14160"/>
                    </a:cubicBezTo>
                    <a:lnTo>
                      <a:pt x="5330" y="12557"/>
                    </a:lnTo>
                    <a:cubicBezTo>
                      <a:pt x="5110" y="12337"/>
                      <a:pt x="5110" y="11977"/>
                      <a:pt x="5330" y="11757"/>
                    </a:cubicBezTo>
                    <a:lnTo>
                      <a:pt x="5871" y="11216"/>
                    </a:lnTo>
                    <a:close/>
                    <a:moveTo>
                      <a:pt x="4932" y="13762"/>
                    </a:moveTo>
                    <a:lnTo>
                      <a:pt x="5732" y="14562"/>
                    </a:lnTo>
                    <a:lnTo>
                      <a:pt x="4932" y="15362"/>
                    </a:lnTo>
                    <a:lnTo>
                      <a:pt x="4131" y="14562"/>
                    </a:lnTo>
                    <a:lnTo>
                      <a:pt x="4932" y="13762"/>
                    </a:lnTo>
                    <a:close/>
                    <a:moveTo>
                      <a:pt x="3328" y="15362"/>
                    </a:moveTo>
                    <a:lnTo>
                      <a:pt x="4128" y="16162"/>
                    </a:lnTo>
                    <a:lnTo>
                      <a:pt x="2268" y="18025"/>
                    </a:lnTo>
                    <a:cubicBezTo>
                      <a:pt x="2157" y="18135"/>
                      <a:pt x="2013" y="18190"/>
                      <a:pt x="1868" y="18190"/>
                    </a:cubicBezTo>
                    <a:cubicBezTo>
                      <a:pt x="1723" y="18190"/>
                      <a:pt x="1577" y="18134"/>
                      <a:pt x="1465" y="18022"/>
                    </a:cubicBezTo>
                    <a:cubicBezTo>
                      <a:pt x="1245" y="17802"/>
                      <a:pt x="1245" y="17443"/>
                      <a:pt x="1465" y="17222"/>
                    </a:cubicBezTo>
                    <a:lnTo>
                      <a:pt x="3328" y="15362"/>
                    </a:lnTo>
                    <a:close/>
                    <a:moveTo>
                      <a:pt x="12135" y="1"/>
                    </a:moveTo>
                    <a:cubicBezTo>
                      <a:pt x="10250" y="1"/>
                      <a:pt x="8365" y="718"/>
                      <a:pt x="6931" y="2152"/>
                    </a:cubicBezTo>
                    <a:cubicBezTo>
                      <a:pt x="4769" y="4311"/>
                      <a:pt x="4237" y="7493"/>
                      <a:pt x="5330" y="10157"/>
                    </a:cubicBezTo>
                    <a:lnTo>
                      <a:pt x="4527" y="10957"/>
                    </a:lnTo>
                    <a:cubicBezTo>
                      <a:pt x="4020" y="11467"/>
                      <a:pt x="3887" y="12240"/>
                      <a:pt x="4198" y="12892"/>
                    </a:cubicBezTo>
                    <a:lnTo>
                      <a:pt x="665" y="16422"/>
                    </a:lnTo>
                    <a:cubicBezTo>
                      <a:pt x="1" y="17086"/>
                      <a:pt x="1" y="18161"/>
                      <a:pt x="665" y="18825"/>
                    </a:cubicBezTo>
                    <a:cubicBezTo>
                      <a:pt x="996" y="19158"/>
                      <a:pt x="1431" y="19324"/>
                      <a:pt x="1865" y="19324"/>
                    </a:cubicBezTo>
                    <a:cubicBezTo>
                      <a:pt x="2300" y="19324"/>
                      <a:pt x="2735" y="19158"/>
                      <a:pt x="3066" y="18825"/>
                    </a:cubicBezTo>
                    <a:lnTo>
                      <a:pt x="6598" y="15293"/>
                    </a:lnTo>
                    <a:cubicBezTo>
                      <a:pt x="6831" y="15403"/>
                      <a:pt x="7081" y="15457"/>
                      <a:pt x="7328" y="15457"/>
                    </a:cubicBezTo>
                    <a:cubicBezTo>
                      <a:pt x="7770" y="15457"/>
                      <a:pt x="8206" y="15286"/>
                      <a:pt x="8531" y="14961"/>
                    </a:cubicBezTo>
                    <a:lnTo>
                      <a:pt x="9331" y="14163"/>
                    </a:lnTo>
                    <a:cubicBezTo>
                      <a:pt x="10241" y="14538"/>
                      <a:pt x="11190" y="14717"/>
                      <a:pt x="12127" y="14717"/>
                    </a:cubicBezTo>
                    <a:cubicBezTo>
                      <a:pt x="14530" y="14717"/>
                      <a:pt x="16858" y="13537"/>
                      <a:pt x="18256" y="11437"/>
                    </a:cubicBezTo>
                    <a:cubicBezTo>
                      <a:pt x="20204" y="8520"/>
                      <a:pt x="19821" y="4631"/>
                      <a:pt x="17342" y="2152"/>
                    </a:cubicBezTo>
                    <a:cubicBezTo>
                      <a:pt x="15906" y="718"/>
                      <a:pt x="14020" y="1"/>
                      <a:pt x="12135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7"/>
              <p:cNvSpPr/>
              <p:nvPr/>
            </p:nvSpPr>
            <p:spPr>
              <a:xfrm>
                <a:off x="5216725" y="889175"/>
                <a:ext cx="276000" cy="254400"/>
              </a:xfrm>
              <a:custGeom>
                <a:avLst/>
                <a:gdLst/>
                <a:ahLst/>
                <a:cxnLst/>
                <a:rect l="l" t="t" r="r" b="b"/>
                <a:pathLst>
                  <a:path w="11040" h="10176" extrusionOk="0">
                    <a:moveTo>
                      <a:pt x="5456" y="1133"/>
                    </a:moveTo>
                    <a:cubicBezTo>
                      <a:pt x="6487" y="1133"/>
                      <a:pt x="7500" y="1535"/>
                      <a:pt x="8259" y="2293"/>
                    </a:cubicBezTo>
                    <a:cubicBezTo>
                      <a:pt x="9802" y="3839"/>
                      <a:pt x="9802" y="6348"/>
                      <a:pt x="8259" y="7897"/>
                    </a:cubicBezTo>
                    <a:cubicBezTo>
                      <a:pt x="7501" y="8653"/>
                      <a:pt x="6489" y="9055"/>
                      <a:pt x="5460" y="9055"/>
                    </a:cubicBezTo>
                    <a:cubicBezTo>
                      <a:pt x="4948" y="9055"/>
                      <a:pt x="4433" y="8956"/>
                      <a:pt x="3941" y="8751"/>
                    </a:cubicBezTo>
                    <a:cubicBezTo>
                      <a:pt x="2462" y="8138"/>
                      <a:pt x="1499" y="6695"/>
                      <a:pt x="1499" y="5095"/>
                    </a:cubicBezTo>
                    <a:cubicBezTo>
                      <a:pt x="1499" y="3491"/>
                      <a:pt x="2462" y="2048"/>
                      <a:pt x="3941" y="1435"/>
                    </a:cubicBezTo>
                    <a:cubicBezTo>
                      <a:pt x="4431" y="1232"/>
                      <a:pt x="4946" y="1133"/>
                      <a:pt x="5456" y="1133"/>
                    </a:cubicBezTo>
                    <a:close/>
                    <a:moveTo>
                      <a:pt x="5468" y="1"/>
                    </a:moveTo>
                    <a:cubicBezTo>
                      <a:pt x="5465" y="1"/>
                      <a:pt x="5461" y="1"/>
                      <a:pt x="5457" y="1"/>
                    </a:cubicBezTo>
                    <a:cubicBezTo>
                      <a:pt x="3029" y="4"/>
                      <a:pt x="943" y="1719"/>
                      <a:pt x="472" y="4098"/>
                    </a:cubicBezTo>
                    <a:cubicBezTo>
                      <a:pt x="1" y="6481"/>
                      <a:pt x="1275" y="8860"/>
                      <a:pt x="3519" y="9787"/>
                    </a:cubicBezTo>
                    <a:cubicBezTo>
                      <a:pt x="4151" y="10049"/>
                      <a:pt x="4811" y="10175"/>
                      <a:pt x="5463" y="10175"/>
                    </a:cubicBezTo>
                    <a:cubicBezTo>
                      <a:pt x="7120" y="10175"/>
                      <a:pt x="8725" y="9362"/>
                      <a:pt x="9693" y="7912"/>
                    </a:cubicBezTo>
                    <a:cubicBezTo>
                      <a:pt x="11040" y="5895"/>
                      <a:pt x="10774" y="3207"/>
                      <a:pt x="9059" y="1492"/>
                    </a:cubicBezTo>
                    <a:cubicBezTo>
                      <a:pt x="8108" y="535"/>
                      <a:pt x="6814" y="1"/>
                      <a:pt x="5468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1" name="Google Shape;331;p27"/>
            <p:cNvCxnSpPr/>
            <p:nvPr/>
          </p:nvCxnSpPr>
          <p:spPr>
            <a:xfrm>
              <a:off x="1104035" y="1838727"/>
              <a:ext cx="13440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32" name="Google Shape;332;p27"/>
            <p:cNvCxnSpPr/>
            <p:nvPr/>
          </p:nvCxnSpPr>
          <p:spPr>
            <a:xfrm>
              <a:off x="3273714" y="1838727"/>
              <a:ext cx="13440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33" name="Google Shape;333;p27"/>
            <p:cNvCxnSpPr/>
            <p:nvPr/>
          </p:nvCxnSpPr>
          <p:spPr>
            <a:xfrm>
              <a:off x="5448627" y="1838727"/>
              <a:ext cx="1344000" cy="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32" name="Google Shape;2009;p40">
              <a:extLst>
                <a:ext uri="{FF2B5EF4-FFF2-40B4-BE49-F238E27FC236}">
                  <a16:creationId xmlns:a16="http://schemas.microsoft.com/office/drawing/2014/main" id="{F1120E5E-186B-4916-96B0-C567A89FA990}"/>
                </a:ext>
              </a:extLst>
            </p:cNvPr>
            <p:cNvGrpSpPr/>
            <p:nvPr/>
          </p:nvGrpSpPr>
          <p:grpSpPr>
            <a:xfrm>
              <a:off x="6986758" y="1659150"/>
              <a:ext cx="359154" cy="359124"/>
              <a:chOff x="-47159525" y="2342000"/>
              <a:chExt cx="300900" cy="300875"/>
            </a:xfrm>
          </p:grpSpPr>
          <p:sp>
            <p:nvSpPr>
              <p:cNvPr id="33" name="Google Shape;2010;p40">
                <a:extLst>
                  <a:ext uri="{FF2B5EF4-FFF2-40B4-BE49-F238E27FC236}">
                    <a16:creationId xmlns:a16="http://schemas.microsoft.com/office/drawing/2014/main" id="{FC14C256-809B-406A-B1D8-D60885C70083}"/>
                  </a:ext>
                </a:extLst>
              </p:cNvPr>
              <p:cNvSpPr/>
              <p:nvPr/>
            </p:nvSpPr>
            <p:spPr>
              <a:xfrm>
                <a:off x="-47122500" y="2376650"/>
                <a:ext cx="123675" cy="125250"/>
              </a:xfrm>
              <a:custGeom>
                <a:avLst/>
                <a:gdLst/>
                <a:ahLst/>
                <a:cxnLst/>
                <a:rect l="l" t="t" r="r" b="b"/>
                <a:pathLst>
                  <a:path w="4947" h="5010" extrusionOk="0">
                    <a:moveTo>
                      <a:pt x="1765" y="756"/>
                    </a:moveTo>
                    <a:cubicBezTo>
                      <a:pt x="2237" y="756"/>
                      <a:pt x="2615" y="1008"/>
                      <a:pt x="2741" y="1450"/>
                    </a:cubicBezTo>
                    <a:lnTo>
                      <a:pt x="1765" y="1450"/>
                    </a:lnTo>
                    <a:cubicBezTo>
                      <a:pt x="1575" y="1450"/>
                      <a:pt x="1418" y="1607"/>
                      <a:pt x="1418" y="1828"/>
                    </a:cubicBezTo>
                    <a:lnTo>
                      <a:pt x="1418" y="2804"/>
                    </a:lnTo>
                    <a:cubicBezTo>
                      <a:pt x="1008" y="2647"/>
                      <a:pt x="693" y="2237"/>
                      <a:pt x="693" y="1828"/>
                    </a:cubicBezTo>
                    <a:cubicBezTo>
                      <a:pt x="693" y="1229"/>
                      <a:pt x="1166" y="756"/>
                      <a:pt x="1765" y="756"/>
                    </a:cubicBezTo>
                    <a:close/>
                    <a:moveTo>
                      <a:pt x="2741" y="2174"/>
                    </a:moveTo>
                    <a:cubicBezTo>
                      <a:pt x="2615" y="2458"/>
                      <a:pt x="2395" y="2678"/>
                      <a:pt x="2111" y="2804"/>
                    </a:cubicBezTo>
                    <a:lnTo>
                      <a:pt x="2111" y="2174"/>
                    </a:lnTo>
                    <a:close/>
                    <a:moveTo>
                      <a:pt x="4253" y="2143"/>
                    </a:moveTo>
                    <a:lnTo>
                      <a:pt x="4253" y="4285"/>
                    </a:lnTo>
                    <a:lnTo>
                      <a:pt x="2111" y="4285"/>
                    </a:lnTo>
                    <a:lnTo>
                      <a:pt x="2111" y="3497"/>
                    </a:lnTo>
                    <a:cubicBezTo>
                      <a:pt x="2804" y="3340"/>
                      <a:pt x="3340" y="2836"/>
                      <a:pt x="3497" y="2143"/>
                    </a:cubicBezTo>
                    <a:close/>
                    <a:moveTo>
                      <a:pt x="1765" y="0"/>
                    </a:moveTo>
                    <a:cubicBezTo>
                      <a:pt x="788" y="0"/>
                      <a:pt x="0" y="788"/>
                      <a:pt x="0" y="1765"/>
                    </a:cubicBezTo>
                    <a:cubicBezTo>
                      <a:pt x="0" y="2647"/>
                      <a:pt x="567" y="3340"/>
                      <a:pt x="1418" y="3497"/>
                    </a:cubicBezTo>
                    <a:lnTo>
                      <a:pt x="1418" y="4663"/>
                    </a:lnTo>
                    <a:cubicBezTo>
                      <a:pt x="1418" y="4852"/>
                      <a:pt x="1575" y="5010"/>
                      <a:pt x="1765" y="5010"/>
                    </a:cubicBezTo>
                    <a:lnTo>
                      <a:pt x="4600" y="5010"/>
                    </a:lnTo>
                    <a:cubicBezTo>
                      <a:pt x="4789" y="5010"/>
                      <a:pt x="4947" y="4852"/>
                      <a:pt x="4947" y="4663"/>
                    </a:cubicBezTo>
                    <a:lnTo>
                      <a:pt x="4947" y="1765"/>
                    </a:lnTo>
                    <a:cubicBezTo>
                      <a:pt x="4947" y="1576"/>
                      <a:pt x="4789" y="1418"/>
                      <a:pt x="4600" y="1418"/>
                    </a:cubicBezTo>
                    <a:lnTo>
                      <a:pt x="3497" y="1418"/>
                    </a:lnTo>
                    <a:cubicBezTo>
                      <a:pt x="3340" y="630"/>
                      <a:pt x="2615" y="0"/>
                      <a:pt x="1765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2011;p40">
                <a:extLst>
                  <a:ext uri="{FF2B5EF4-FFF2-40B4-BE49-F238E27FC236}">
                    <a16:creationId xmlns:a16="http://schemas.microsoft.com/office/drawing/2014/main" id="{59D764F9-0875-440E-B9ED-898D4728C5D4}"/>
                  </a:ext>
                </a:extLst>
              </p:cNvPr>
              <p:cNvSpPr/>
              <p:nvPr/>
            </p:nvSpPr>
            <p:spPr>
              <a:xfrm>
                <a:off x="-47159525" y="2342000"/>
                <a:ext cx="300900" cy="300875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12035" extrusionOk="0">
                    <a:moveTo>
                      <a:pt x="7089" y="1229"/>
                    </a:moveTo>
                    <a:lnTo>
                      <a:pt x="8003" y="2142"/>
                    </a:lnTo>
                    <a:lnTo>
                      <a:pt x="7089" y="2142"/>
                    </a:lnTo>
                    <a:lnTo>
                      <a:pt x="7089" y="1229"/>
                    </a:lnTo>
                    <a:close/>
                    <a:moveTo>
                      <a:pt x="8538" y="6396"/>
                    </a:moveTo>
                    <a:lnTo>
                      <a:pt x="8538" y="6711"/>
                    </a:lnTo>
                    <a:cubicBezTo>
                      <a:pt x="8538" y="6900"/>
                      <a:pt x="8664" y="7057"/>
                      <a:pt x="8885" y="7057"/>
                    </a:cubicBezTo>
                    <a:cubicBezTo>
                      <a:pt x="9074" y="7057"/>
                      <a:pt x="9231" y="6900"/>
                      <a:pt x="9231" y="6711"/>
                    </a:cubicBezTo>
                    <a:lnTo>
                      <a:pt x="9231" y="6427"/>
                    </a:lnTo>
                    <a:cubicBezTo>
                      <a:pt x="10303" y="6585"/>
                      <a:pt x="11153" y="7467"/>
                      <a:pt x="11311" y="8506"/>
                    </a:cubicBezTo>
                    <a:lnTo>
                      <a:pt x="10996" y="8506"/>
                    </a:lnTo>
                    <a:cubicBezTo>
                      <a:pt x="10807" y="8506"/>
                      <a:pt x="10649" y="8664"/>
                      <a:pt x="10649" y="8884"/>
                    </a:cubicBezTo>
                    <a:cubicBezTo>
                      <a:pt x="10649" y="9073"/>
                      <a:pt x="10807" y="9231"/>
                      <a:pt x="10996" y="9231"/>
                    </a:cubicBezTo>
                    <a:lnTo>
                      <a:pt x="11311" y="9231"/>
                    </a:lnTo>
                    <a:cubicBezTo>
                      <a:pt x="11153" y="10302"/>
                      <a:pt x="10303" y="11121"/>
                      <a:pt x="9231" y="11279"/>
                    </a:cubicBezTo>
                    <a:lnTo>
                      <a:pt x="9231" y="10964"/>
                    </a:lnTo>
                    <a:cubicBezTo>
                      <a:pt x="9231" y="10775"/>
                      <a:pt x="9074" y="10617"/>
                      <a:pt x="8885" y="10617"/>
                    </a:cubicBezTo>
                    <a:cubicBezTo>
                      <a:pt x="8664" y="10617"/>
                      <a:pt x="8538" y="10775"/>
                      <a:pt x="8538" y="10964"/>
                    </a:cubicBezTo>
                    <a:lnTo>
                      <a:pt x="8538" y="11279"/>
                    </a:lnTo>
                    <a:cubicBezTo>
                      <a:pt x="7467" y="11121"/>
                      <a:pt x="6585" y="10239"/>
                      <a:pt x="6428" y="9200"/>
                    </a:cubicBezTo>
                    <a:lnTo>
                      <a:pt x="6743" y="9200"/>
                    </a:lnTo>
                    <a:cubicBezTo>
                      <a:pt x="6963" y="9200"/>
                      <a:pt x="7089" y="9042"/>
                      <a:pt x="7089" y="8821"/>
                    </a:cubicBezTo>
                    <a:cubicBezTo>
                      <a:pt x="7089" y="8632"/>
                      <a:pt x="6963" y="8475"/>
                      <a:pt x="6743" y="8475"/>
                    </a:cubicBezTo>
                    <a:lnTo>
                      <a:pt x="6428" y="8475"/>
                    </a:lnTo>
                    <a:cubicBezTo>
                      <a:pt x="6585" y="7404"/>
                      <a:pt x="7467" y="6553"/>
                      <a:pt x="8538" y="6396"/>
                    </a:cubicBezTo>
                    <a:close/>
                    <a:moveTo>
                      <a:pt x="6428" y="725"/>
                    </a:moveTo>
                    <a:lnTo>
                      <a:pt x="6428" y="2489"/>
                    </a:lnTo>
                    <a:cubicBezTo>
                      <a:pt x="6428" y="2678"/>
                      <a:pt x="6585" y="2836"/>
                      <a:pt x="6774" y="2836"/>
                    </a:cubicBezTo>
                    <a:lnTo>
                      <a:pt x="8570" y="2836"/>
                    </a:lnTo>
                    <a:lnTo>
                      <a:pt x="8570" y="5734"/>
                    </a:lnTo>
                    <a:cubicBezTo>
                      <a:pt x="6995" y="5892"/>
                      <a:pt x="5766" y="7246"/>
                      <a:pt x="5766" y="8884"/>
                    </a:cubicBezTo>
                    <a:cubicBezTo>
                      <a:pt x="5766" y="9861"/>
                      <a:pt x="6238" y="10775"/>
                      <a:pt x="6932" y="11310"/>
                    </a:cubicBezTo>
                    <a:lnTo>
                      <a:pt x="757" y="11310"/>
                    </a:lnTo>
                    <a:lnTo>
                      <a:pt x="757" y="725"/>
                    </a:lnTo>
                    <a:close/>
                    <a:moveTo>
                      <a:pt x="379" y="0"/>
                    </a:moveTo>
                    <a:cubicBezTo>
                      <a:pt x="158" y="0"/>
                      <a:pt x="0" y="158"/>
                      <a:pt x="0" y="378"/>
                    </a:cubicBezTo>
                    <a:lnTo>
                      <a:pt x="0" y="11657"/>
                    </a:lnTo>
                    <a:cubicBezTo>
                      <a:pt x="0" y="11877"/>
                      <a:pt x="158" y="12035"/>
                      <a:pt x="379" y="12035"/>
                    </a:cubicBezTo>
                    <a:lnTo>
                      <a:pt x="8822" y="12035"/>
                    </a:lnTo>
                    <a:cubicBezTo>
                      <a:pt x="10555" y="12035"/>
                      <a:pt x="11972" y="10617"/>
                      <a:pt x="11972" y="8884"/>
                    </a:cubicBezTo>
                    <a:cubicBezTo>
                      <a:pt x="12035" y="7215"/>
                      <a:pt x="10807" y="5892"/>
                      <a:pt x="9231" y="5734"/>
                    </a:cubicBezTo>
                    <a:lnTo>
                      <a:pt x="9231" y="2489"/>
                    </a:lnTo>
                    <a:cubicBezTo>
                      <a:pt x="9231" y="2426"/>
                      <a:pt x="9200" y="2300"/>
                      <a:pt x="9105" y="2268"/>
                    </a:cubicBezTo>
                    <a:lnTo>
                      <a:pt x="6995" y="126"/>
                    </a:lnTo>
                    <a:cubicBezTo>
                      <a:pt x="6900" y="63"/>
                      <a:pt x="6837" y="0"/>
                      <a:pt x="6743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2012;p40">
                <a:extLst>
                  <a:ext uri="{FF2B5EF4-FFF2-40B4-BE49-F238E27FC236}">
                    <a16:creationId xmlns:a16="http://schemas.microsoft.com/office/drawing/2014/main" id="{4846DAA1-9C7C-4C82-A7A5-493F009DB457}"/>
                  </a:ext>
                </a:extLst>
              </p:cNvPr>
              <p:cNvSpPr/>
              <p:nvPr/>
            </p:nvSpPr>
            <p:spPr>
              <a:xfrm>
                <a:off x="-46946075" y="2537325"/>
                <a:ext cx="35450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419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071"/>
                    </a:lnTo>
                    <a:cubicBezTo>
                      <a:pt x="0" y="1260"/>
                      <a:pt x="158" y="1418"/>
                      <a:pt x="347" y="1418"/>
                    </a:cubicBezTo>
                    <a:lnTo>
                      <a:pt x="1040" y="1418"/>
                    </a:lnTo>
                    <a:cubicBezTo>
                      <a:pt x="1261" y="1418"/>
                      <a:pt x="1418" y="1260"/>
                      <a:pt x="1418" y="1071"/>
                    </a:cubicBezTo>
                    <a:cubicBezTo>
                      <a:pt x="1387" y="851"/>
                      <a:pt x="1261" y="693"/>
                      <a:pt x="1040" y="693"/>
                    </a:cubicBezTo>
                    <a:lnTo>
                      <a:pt x="693" y="693"/>
                    </a:lnTo>
                    <a:lnTo>
                      <a:pt x="693" y="347"/>
                    </a:ln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2013;p40">
                <a:extLst>
                  <a:ext uri="{FF2B5EF4-FFF2-40B4-BE49-F238E27FC236}">
                    <a16:creationId xmlns:a16="http://schemas.microsoft.com/office/drawing/2014/main" id="{864503A6-FA55-4101-8385-500FC3EBF945}"/>
                  </a:ext>
                </a:extLst>
              </p:cNvPr>
              <p:cNvSpPr/>
              <p:nvPr/>
            </p:nvSpPr>
            <p:spPr>
              <a:xfrm>
                <a:off x="-47122500" y="2537325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lnTo>
                      <a:pt x="3151" y="693"/>
                    </a:lnTo>
                    <a:cubicBezTo>
                      <a:pt x="3340" y="693"/>
                      <a:pt x="3497" y="536"/>
                      <a:pt x="3497" y="347"/>
                    </a:cubicBezTo>
                    <a:cubicBezTo>
                      <a:pt x="3497" y="158"/>
                      <a:pt x="3340" y="0"/>
                      <a:pt x="3151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2014;p40">
                <a:extLst>
                  <a:ext uri="{FF2B5EF4-FFF2-40B4-BE49-F238E27FC236}">
                    <a16:creationId xmlns:a16="http://schemas.microsoft.com/office/drawing/2014/main" id="{921C9A41-D385-4073-AD2C-6AC1190EDE81}"/>
                  </a:ext>
                </a:extLst>
              </p:cNvPr>
              <p:cNvSpPr/>
              <p:nvPr/>
            </p:nvSpPr>
            <p:spPr>
              <a:xfrm>
                <a:off x="-47122500" y="2572775"/>
                <a:ext cx="87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349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lnTo>
                      <a:pt x="3151" y="693"/>
                    </a:lnTo>
                    <a:cubicBezTo>
                      <a:pt x="3340" y="693"/>
                      <a:pt x="3497" y="536"/>
                      <a:pt x="3497" y="347"/>
                    </a:cubicBezTo>
                    <a:cubicBezTo>
                      <a:pt x="3497" y="158"/>
                      <a:pt x="3340" y="0"/>
                      <a:pt x="3151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" name="Google Shape;569;p36">
              <a:extLst>
                <a:ext uri="{FF2B5EF4-FFF2-40B4-BE49-F238E27FC236}">
                  <a16:creationId xmlns:a16="http://schemas.microsoft.com/office/drawing/2014/main" id="{1EEE3159-FA7A-4741-9E8C-F0373A3BD3CD}"/>
                </a:ext>
              </a:extLst>
            </p:cNvPr>
            <p:cNvGrpSpPr/>
            <p:nvPr/>
          </p:nvGrpSpPr>
          <p:grpSpPr>
            <a:xfrm>
              <a:off x="2674617" y="1648696"/>
              <a:ext cx="343530" cy="340221"/>
              <a:chOff x="3860250" y="1427025"/>
              <a:chExt cx="487900" cy="483200"/>
            </a:xfrm>
          </p:grpSpPr>
          <p:sp>
            <p:nvSpPr>
              <p:cNvPr id="39" name="Google Shape;570;p36">
                <a:extLst>
                  <a:ext uri="{FF2B5EF4-FFF2-40B4-BE49-F238E27FC236}">
                    <a16:creationId xmlns:a16="http://schemas.microsoft.com/office/drawing/2014/main" id="{E247ACCE-4085-49A2-A814-87CA227A7384}"/>
                  </a:ext>
                </a:extLst>
              </p:cNvPr>
              <p:cNvSpPr/>
              <p:nvPr/>
            </p:nvSpPr>
            <p:spPr>
              <a:xfrm>
                <a:off x="3875800" y="1427025"/>
                <a:ext cx="472350" cy="468650"/>
              </a:xfrm>
              <a:custGeom>
                <a:avLst/>
                <a:gdLst/>
                <a:ahLst/>
                <a:cxnLst/>
                <a:rect l="l" t="t" r="r" b="b"/>
                <a:pathLst>
                  <a:path w="18894" h="18746" extrusionOk="0">
                    <a:moveTo>
                      <a:pt x="15874" y="1821"/>
                    </a:moveTo>
                    <a:lnTo>
                      <a:pt x="6498" y="9403"/>
                    </a:lnTo>
                    <a:lnTo>
                      <a:pt x="1918" y="5629"/>
                    </a:lnTo>
                    <a:lnTo>
                      <a:pt x="15874" y="1821"/>
                    </a:lnTo>
                    <a:close/>
                    <a:moveTo>
                      <a:pt x="14524" y="4370"/>
                    </a:moveTo>
                    <a:lnTo>
                      <a:pt x="8425" y="11912"/>
                    </a:lnTo>
                    <a:lnTo>
                      <a:pt x="6257" y="12634"/>
                    </a:lnTo>
                    <a:lnTo>
                      <a:pt x="6981" y="10469"/>
                    </a:lnTo>
                    <a:lnTo>
                      <a:pt x="14524" y="4370"/>
                    </a:lnTo>
                    <a:close/>
                    <a:moveTo>
                      <a:pt x="17072" y="3020"/>
                    </a:moveTo>
                    <a:lnTo>
                      <a:pt x="13265" y="16976"/>
                    </a:lnTo>
                    <a:lnTo>
                      <a:pt x="9491" y="12392"/>
                    </a:lnTo>
                    <a:lnTo>
                      <a:pt x="17072" y="3020"/>
                    </a:lnTo>
                    <a:close/>
                    <a:moveTo>
                      <a:pt x="18298" y="0"/>
                    </a:moveTo>
                    <a:cubicBezTo>
                      <a:pt x="18286" y="0"/>
                      <a:pt x="18274" y="0"/>
                      <a:pt x="18262" y="3"/>
                    </a:cubicBezTo>
                    <a:lnTo>
                      <a:pt x="18253" y="3"/>
                    </a:lnTo>
                    <a:cubicBezTo>
                      <a:pt x="18238" y="6"/>
                      <a:pt x="18223" y="6"/>
                      <a:pt x="18211" y="12"/>
                    </a:cubicBezTo>
                    <a:lnTo>
                      <a:pt x="18193" y="15"/>
                    </a:lnTo>
                    <a:lnTo>
                      <a:pt x="18178" y="18"/>
                    </a:lnTo>
                    <a:lnTo>
                      <a:pt x="562" y="4822"/>
                    </a:lnTo>
                    <a:cubicBezTo>
                      <a:pt x="121" y="4943"/>
                      <a:pt x="0" y="5511"/>
                      <a:pt x="351" y="5804"/>
                    </a:cubicBezTo>
                    <a:lnTo>
                      <a:pt x="5834" y="10321"/>
                    </a:lnTo>
                    <a:lnTo>
                      <a:pt x="4826" y="13349"/>
                    </a:lnTo>
                    <a:cubicBezTo>
                      <a:pt x="4696" y="13732"/>
                      <a:pt x="4991" y="14098"/>
                      <a:pt x="5359" y="14098"/>
                    </a:cubicBezTo>
                    <a:cubicBezTo>
                      <a:pt x="5418" y="14098"/>
                      <a:pt x="5479" y="14089"/>
                      <a:pt x="5541" y="14068"/>
                    </a:cubicBezTo>
                    <a:lnTo>
                      <a:pt x="8570" y="13060"/>
                    </a:lnTo>
                    <a:lnTo>
                      <a:pt x="13087" y="18540"/>
                    </a:lnTo>
                    <a:cubicBezTo>
                      <a:pt x="13195" y="18670"/>
                      <a:pt x="13355" y="18745"/>
                      <a:pt x="13525" y="18745"/>
                    </a:cubicBezTo>
                    <a:cubicBezTo>
                      <a:pt x="13564" y="18745"/>
                      <a:pt x="13603" y="18742"/>
                      <a:pt x="13642" y="18733"/>
                    </a:cubicBezTo>
                    <a:cubicBezTo>
                      <a:pt x="13848" y="18691"/>
                      <a:pt x="14014" y="18534"/>
                      <a:pt x="14071" y="18328"/>
                    </a:cubicBezTo>
                    <a:lnTo>
                      <a:pt x="18875" y="716"/>
                    </a:lnTo>
                    <a:cubicBezTo>
                      <a:pt x="18875" y="710"/>
                      <a:pt x="18875" y="704"/>
                      <a:pt x="18878" y="698"/>
                    </a:cubicBezTo>
                    <a:lnTo>
                      <a:pt x="18881" y="683"/>
                    </a:lnTo>
                    <a:cubicBezTo>
                      <a:pt x="18884" y="668"/>
                      <a:pt x="18887" y="653"/>
                      <a:pt x="18890" y="637"/>
                    </a:cubicBezTo>
                    <a:cubicBezTo>
                      <a:pt x="18890" y="637"/>
                      <a:pt x="18890" y="634"/>
                      <a:pt x="18890" y="631"/>
                    </a:cubicBezTo>
                    <a:cubicBezTo>
                      <a:pt x="18890" y="619"/>
                      <a:pt x="18890" y="604"/>
                      <a:pt x="18893" y="592"/>
                    </a:cubicBezTo>
                    <a:lnTo>
                      <a:pt x="18893" y="580"/>
                    </a:lnTo>
                    <a:cubicBezTo>
                      <a:pt x="18893" y="568"/>
                      <a:pt x="18893" y="553"/>
                      <a:pt x="18893" y="541"/>
                    </a:cubicBezTo>
                    <a:cubicBezTo>
                      <a:pt x="18893" y="538"/>
                      <a:pt x="18893" y="535"/>
                      <a:pt x="18893" y="532"/>
                    </a:cubicBezTo>
                    <a:cubicBezTo>
                      <a:pt x="18893" y="517"/>
                      <a:pt x="18890" y="502"/>
                      <a:pt x="18890" y="487"/>
                    </a:cubicBezTo>
                    <a:cubicBezTo>
                      <a:pt x="18890" y="483"/>
                      <a:pt x="18890" y="480"/>
                      <a:pt x="18887" y="477"/>
                    </a:cubicBezTo>
                    <a:cubicBezTo>
                      <a:pt x="18887" y="465"/>
                      <a:pt x="18884" y="453"/>
                      <a:pt x="18881" y="441"/>
                    </a:cubicBezTo>
                    <a:lnTo>
                      <a:pt x="18878" y="429"/>
                    </a:lnTo>
                    <a:cubicBezTo>
                      <a:pt x="18875" y="417"/>
                      <a:pt x="18872" y="402"/>
                      <a:pt x="18866" y="390"/>
                    </a:cubicBezTo>
                    <a:cubicBezTo>
                      <a:pt x="18866" y="387"/>
                      <a:pt x="18866" y="384"/>
                      <a:pt x="18863" y="381"/>
                    </a:cubicBezTo>
                    <a:cubicBezTo>
                      <a:pt x="18860" y="369"/>
                      <a:pt x="18854" y="354"/>
                      <a:pt x="18848" y="345"/>
                    </a:cubicBezTo>
                    <a:cubicBezTo>
                      <a:pt x="18848" y="339"/>
                      <a:pt x="18845" y="333"/>
                      <a:pt x="18842" y="329"/>
                    </a:cubicBezTo>
                    <a:cubicBezTo>
                      <a:pt x="18839" y="323"/>
                      <a:pt x="18833" y="308"/>
                      <a:pt x="18830" y="299"/>
                    </a:cubicBezTo>
                    <a:cubicBezTo>
                      <a:pt x="18824" y="290"/>
                      <a:pt x="18824" y="290"/>
                      <a:pt x="18821" y="287"/>
                    </a:cubicBezTo>
                    <a:cubicBezTo>
                      <a:pt x="18815" y="275"/>
                      <a:pt x="18806" y="263"/>
                      <a:pt x="18797" y="248"/>
                    </a:cubicBezTo>
                    <a:lnTo>
                      <a:pt x="18790" y="239"/>
                    </a:lnTo>
                    <a:cubicBezTo>
                      <a:pt x="18784" y="230"/>
                      <a:pt x="18775" y="221"/>
                      <a:pt x="18769" y="212"/>
                    </a:cubicBezTo>
                    <a:cubicBezTo>
                      <a:pt x="18760" y="203"/>
                      <a:pt x="18763" y="203"/>
                      <a:pt x="18760" y="200"/>
                    </a:cubicBezTo>
                    <a:cubicBezTo>
                      <a:pt x="18751" y="188"/>
                      <a:pt x="18739" y="176"/>
                      <a:pt x="18727" y="163"/>
                    </a:cubicBezTo>
                    <a:cubicBezTo>
                      <a:pt x="18718" y="154"/>
                      <a:pt x="18706" y="142"/>
                      <a:pt x="18694" y="133"/>
                    </a:cubicBezTo>
                    <a:lnTo>
                      <a:pt x="18682" y="124"/>
                    </a:lnTo>
                    <a:cubicBezTo>
                      <a:pt x="18673" y="115"/>
                      <a:pt x="18664" y="109"/>
                      <a:pt x="18655" y="103"/>
                    </a:cubicBezTo>
                    <a:lnTo>
                      <a:pt x="18643" y="94"/>
                    </a:lnTo>
                    <a:cubicBezTo>
                      <a:pt x="18630" y="88"/>
                      <a:pt x="18618" y="79"/>
                      <a:pt x="18606" y="73"/>
                    </a:cubicBezTo>
                    <a:lnTo>
                      <a:pt x="18591" y="64"/>
                    </a:lnTo>
                    <a:lnTo>
                      <a:pt x="18564" y="52"/>
                    </a:lnTo>
                    <a:lnTo>
                      <a:pt x="18549" y="43"/>
                    </a:lnTo>
                    <a:cubicBezTo>
                      <a:pt x="18537" y="40"/>
                      <a:pt x="18522" y="34"/>
                      <a:pt x="18510" y="28"/>
                    </a:cubicBezTo>
                    <a:lnTo>
                      <a:pt x="18501" y="28"/>
                    </a:lnTo>
                    <a:cubicBezTo>
                      <a:pt x="18489" y="22"/>
                      <a:pt x="18476" y="18"/>
                      <a:pt x="18464" y="15"/>
                    </a:cubicBezTo>
                    <a:lnTo>
                      <a:pt x="18449" y="12"/>
                    </a:lnTo>
                    <a:lnTo>
                      <a:pt x="18416" y="6"/>
                    </a:lnTo>
                    <a:lnTo>
                      <a:pt x="18404" y="3"/>
                    </a:lnTo>
                    <a:cubicBezTo>
                      <a:pt x="18389" y="3"/>
                      <a:pt x="18374" y="0"/>
                      <a:pt x="18359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571;p36">
                <a:extLst>
                  <a:ext uri="{FF2B5EF4-FFF2-40B4-BE49-F238E27FC236}">
                    <a16:creationId xmlns:a16="http://schemas.microsoft.com/office/drawing/2014/main" id="{7EBEDFF0-297D-4D86-B105-32DDC9F1A08D}"/>
                  </a:ext>
                </a:extLst>
              </p:cNvPr>
              <p:cNvSpPr/>
              <p:nvPr/>
            </p:nvSpPr>
            <p:spPr>
              <a:xfrm>
                <a:off x="3860250" y="1861675"/>
                <a:ext cx="5467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1942" extrusionOk="0">
                    <a:moveTo>
                      <a:pt x="1563" y="1"/>
                    </a:moveTo>
                    <a:cubicBezTo>
                      <a:pt x="1416" y="1"/>
                      <a:pt x="1268" y="58"/>
                      <a:pt x="1157" y="172"/>
                    </a:cubicBezTo>
                    <a:lnTo>
                      <a:pt x="357" y="976"/>
                    </a:lnTo>
                    <a:cubicBezTo>
                      <a:pt x="0" y="1332"/>
                      <a:pt x="254" y="1942"/>
                      <a:pt x="758" y="1942"/>
                    </a:cubicBezTo>
                    <a:cubicBezTo>
                      <a:pt x="906" y="1942"/>
                      <a:pt x="1051" y="1882"/>
                      <a:pt x="1157" y="1776"/>
                    </a:cubicBezTo>
                    <a:lnTo>
                      <a:pt x="1957" y="973"/>
                    </a:lnTo>
                    <a:cubicBezTo>
                      <a:pt x="2184" y="755"/>
                      <a:pt x="2187" y="390"/>
                      <a:pt x="1963" y="166"/>
                    </a:cubicBezTo>
                    <a:cubicBezTo>
                      <a:pt x="1853" y="56"/>
                      <a:pt x="1708" y="1"/>
                      <a:pt x="1563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572;p36">
                <a:extLst>
                  <a:ext uri="{FF2B5EF4-FFF2-40B4-BE49-F238E27FC236}">
                    <a16:creationId xmlns:a16="http://schemas.microsoft.com/office/drawing/2014/main" id="{AACF3F92-A107-4592-8C7D-9475E36FCF4B}"/>
                  </a:ext>
                </a:extLst>
              </p:cNvPr>
              <p:cNvSpPr/>
              <p:nvPr/>
            </p:nvSpPr>
            <p:spPr>
              <a:xfrm>
                <a:off x="3923425" y="1801775"/>
                <a:ext cx="513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942" extrusionOk="0">
                    <a:moveTo>
                      <a:pt x="1430" y="0"/>
                    </a:moveTo>
                    <a:cubicBezTo>
                      <a:pt x="1286" y="0"/>
                      <a:pt x="1141" y="56"/>
                      <a:pt x="1030" y="168"/>
                    </a:cubicBezTo>
                    <a:lnTo>
                      <a:pt x="230" y="968"/>
                    </a:lnTo>
                    <a:cubicBezTo>
                      <a:pt x="4" y="1189"/>
                      <a:pt x="1" y="1551"/>
                      <a:pt x="224" y="1774"/>
                    </a:cubicBezTo>
                    <a:cubicBezTo>
                      <a:pt x="334" y="1886"/>
                      <a:pt x="478" y="1941"/>
                      <a:pt x="623" y="1941"/>
                    </a:cubicBezTo>
                    <a:cubicBezTo>
                      <a:pt x="771" y="1941"/>
                      <a:pt x="919" y="1883"/>
                      <a:pt x="1030" y="1768"/>
                    </a:cubicBezTo>
                    <a:lnTo>
                      <a:pt x="1831" y="968"/>
                    </a:lnTo>
                    <a:cubicBezTo>
                      <a:pt x="2054" y="745"/>
                      <a:pt x="2051" y="388"/>
                      <a:pt x="1831" y="168"/>
                    </a:cubicBezTo>
                    <a:cubicBezTo>
                      <a:pt x="1720" y="56"/>
                      <a:pt x="1575" y="0"/>
                      <a:pt x="1430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CB1C0B-9B7D-47EC-9B87-2A10A5D6DD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42000"/>
                    </a14:imgEffect>
                    <a14:imgEffect>
                      <a14:brightnessContrast bright="2000" contrast="11000"/>
                    </a14:imgEffect>
                  </a14:imgLayer>
                </a14:imgProps>
              </a:ext>
            </a:extLst>
          </a:blip>
          <a:srcRect r="1192"/>
          <a:stretch/>
        </p:blipFill>
        <p:spPr>
          <a:xfrm>
            <a:off x="360000" y="3384549"/>
            <a:ext cx="8458027" cy="12883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60000" y="207600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212121"/>
                </a:solidFill>
                <a:latin typeface="Unbounded"/>
                <a:ea typeface="Unbounded"/>
                <a:cs typeface="Unbounded"/>
                <a:sym typeface="Unbounded"/>
              </a:rPr>
              <a:t>Мы достигли многого.</a:t>
            </a:r>
            <a:r>
              <a:rPr lang="ru" sz="2400" dirty="0"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ru-RU" sz="2400" dirty="0">
                <a:solidFill>
                  <a:srgbClr val="0064E1"/>
                </a:solidFill>
                <a:latin typeface="Unbounded"/>
                <a:ea typeface="Unbounded"/>
                <a:cs typeface="Unbounded"/>
                <a:sym typeface="Unbounded"/>
              </a:rPr>
              <a:t>Это начало. </a:t>
            </a:r>
            <a:endParaRPr sz="2400" dirty="0">
              <a:solidFill>
                <a:srgbClr val="0064E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846" y="229750"/>
            <a:ext cx="705181" cy="21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85FAA27-4E48-4297-954D-7AEFD4D8317B}"/>
              </a:ext>
            </a:extLst>
          </p:cNvPr>
          <p:cNvGrpSpPr/>
          <p:nvPr/>
        </p:nvGrpSpPr>
        <p:grpSpPr>
          <a:xfrm>
            <a:off x="443670" y="1967927"/>
            <a:ext cx="8010144" cy="1653859"/>
            <a:chOff x="360000" y="1001558"/>
            <a:chExt cx="8010144" cy="1653859"/>
          </a:xfrm>
        </p:grpSpPr>
        <p:graphicFrame>
          <p:nvGraphicFramePr>
            <p:cNvPr id="2" name="Схема 1">
              <a:extLst>
                <a:ext uri="{FF2B5EF4-FFF2-40B4-BE49-F238E27FC236}">
                  <a16:creationId xmlns:a16="http://schemas.microsoft.com/office/drawing/2014/main" id="{32A2D246-AD73-4136-98D9-B632E7CDFA4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16596368"/>
                </p:ext>
              </p:extLst>
            </p:nvPr>
          </p:nvGraphicFramePr>
          <p:xfrm>
            <a:off x="360000" y="1081074"/>
            <a:ext cx="8010144" cy="157434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11" name="Google Shape;748;p36">
              <a:extLst>
                <a:ext uri="{FF2B5EF4-FFF2-40B4-BE49-F238E27FC236}">
                  <a16:creationId xmlns:a16="http://schemas.microsoft.com/office/drawing/2014/main" id="{2D9CFB7B-0E81-41D7-AD95-5AF342CF1293}"/>
                </a:ext>
              </a:extLst>
            </p:cNvPr>
            <p:cNvGrpSpPr/>
            <p:nvPr/>
          </p:nvGrpSpPr>
          <p:grpSpPr>
            <a:xfrm>
              <a:off x="949256" y="1058913"/>
              <a:ext cx="308235" cy="308234"/>
              <a:chOff x="1518032" y="5016118"/>
              <a:chExt cx="483126" cy="483125"/>
            </a:xfrm>
          </p:grpSpPr>
          <p:sp>
            <p:nvSpPr>
              <p:cNvPr id="12" name="Google Shape;749;p36">
                <a:extLst>
                  <a:ext uri="{FF2B5EF4-FFF2-40B4-BE49-F238E27FC236}">
                    <a16:creationId xmlns:a16="http://schemas.microsoft.com/office/drawing/2014/main" id="{48B9F13C-5918-493A-8F75-0134E6E0E393}"/>
                  </a:ext>
                </a:extLst>
              </p:cNvPr>
              <p:cNvSpPr/>
              <p:nvPr/>
            </p:nvSpPr>
            <p:spPr>
              <a:xfrm>
                <a:off x="1518032" y="5016118"/>
                <a:ext cx="483126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19325" h="19325" extrusionOk="0">
                    <a:moveTo>
                      <a:pt x="9662" y="1133"/>
                    </a:moveTo>
                    <a:cubicBezTo>
                      <a:pt x="11824" y="1133"/>
                      <a:pt x="13983" y="1975"/>
                      <a:pt x="15668" y="3657"/>
                    </a:cubicBezTo>
                    <a:cubicBezTo>
                      <a:pt x="19035" y="7027"/>
                      <a:pt x="19035" y="12302"/>
                      <a:pt x="15668" y="15668"/>
                    </a:cubicBezTo>
                    <a:cubicBezTo>
                      <a:pt x="13983" y="17352"/>
                      <a:pt x="11822" y="18193"/>
                      <a:pt x="9661" y="18193"/>
                    </a:cubicBezTo>
                    <a:cubicBezTo>
                      <a:pt x="7500" y="18193"/>
                      <a:pt x="5340" y="17352"/>
                      <a:pt x="3657" y="15668"/>
                    </a:cubicBezTo>
                    <a:cubicBezTo>
                      <a:pt x="290" y="12302"/>
                      <a:pt x="290" y="7024"/>
                      <a:pt x="3657" y="3657"/>
                    </a:cubicBezTo>
                    <a:cubicBezTo>
                      <a:pt x="5342" y="1975"/>
                      <a:pt x="7500" y="1133"/>
                      <a:pt x="9662" y="1133"/>
                    </a:cubicBezTo>
                    <a:close/>
                    <a:moveTo>
                      <a:pt x="9662" y="1"/>
                    </a:moveTo>
                    <a:cubicBezTo>
                      <a:pt x="7117" y="1"/>
                      <a:pt x="4698" y="1015"/>
                      <a:pt x="2857" y="2857"/>
                    </a:cubicBezTo>
                    <a:cubicBezTo>
                      <a:pt x="1015" y="4699"/>
                      <a:pt x="0" y="7117"/>
                      <a:pt x="0" y="9663"/>
                    </a:cubicBezTo>
                    <a:cubicBezTo>
                      <a:pt x="0" y="12208"/>
                      <a:pt x="1015" y="14627"/>
                      <a:pt x="2857" y="16469"/>
                    </a:cubicBezTo>
                    <a:cubicBezTo>
                      <a:pt x="4698" y="18310"/>
                      <a:pt x="7117" y="19325"/>
                      <a:pt x="9662" y="19325"/>
                    </a:cubicBezTo>
                    <a:cubicBezTo>
                      <a:pt x="12208" y="19325"/>
                      <a:pt x="14626" y="18310"/>
                      <a:pt x="16468" y="16469"/>
                    </a:cubicBezTo>
                    <a:cubicBezTo>
                      <a:pt x="18310" y="14627"/>
                      <a:pt x="19325" y="12208"/>
                      <a:pt x="19325" y="9663"/>
                    </a:cubicBezTo>
                    <a:cubicBezTo>
                      <a:pt x="19325" y="7117"/>
                      <a:pt x="18310" y="4699"/>
                      <a:pt x="16468" y="2857"/>
                    </a:cubicBezTo>
                    <a:cubicBezTo>
                      <a:pt x="14626" y="1015"/>
                      <a:pt x="12208" y="1"/>
                      <a:pt x="9662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750;p36">
                <a:extLst>
                  <a:ext uri="{FF2B5EF4-FFF2-40B4-BE49-F238E27FC236}">
                    <a16:creationId xmlns:a16="http://schemas.microsoft.com/office/drawing/2014/main" id="{17D14041-19EC-4117-9440-7BBB7005F87F}"/>
                  </a:ext>
                </a:extLst>
              </p:cNvPr>
              <p:cNvSpPr/>
              <p:nvPr/>
            </p:nvSpPr>
            <p:spPr>
              <a:xfrm>
                <a:off x="1646344" y="5147540"/>
                <a:ext cx="250351" cy="182726"/>
              </a:xfrm>
              <a:custGeom>
                <a:avLst/>
                <a:gdLst/>
                <a:ahLst/>
                <a:cxnLst/>
                <a:rect l="l" t="t" r="r" b="b"/>
                <a:pathLst>
                  <a:path w="10014" h="7309" extrusionOk="0">
                    <a:moveTo>
                      <a:pt x="8149" y="1134"/>
                    </a:moveTo>
                    <a:cubicBezTo>
                      <a:pt x="8294" y="1134"/>
                      <a:pt x="8439" y="1189"/>
                      <a:pt x="8549" y="1300"/>
                    </a:cubicBezTo>
                    <a:cubicBezTo>
                      <a:pt x="8769" y="1520"/>
                      <a:pt x="8769" y="1879"/>
                      <a:pt x="8549" y="2100"/>
                    </a:cubicBezTo>
                    <a:lnTo>
                      <a:pt x="4639" y="6007"/>
                    </a:lnTo>
                    <a:cubicBezTo>
                      <a:pt x="4527" y="6120"/>
                      <a:pt x="4377" y="6177"/>
                      <a:pt x="4227" y="6177"/>
                    </a:cubicBezTo>
                    <a:cubicBezTo>
                      <a:pt x="4081" y="6177"/>
                      <a:pt x="3937" y="6123"/>
                      <a:pt x="3830" y="6016"/>
                    </a:cubicBezTo>
                    <a:lnTo>
                      <a:pt x="1547" y="3748"/>
                    </a:lnTo>
                    <a:cubicBezTo>
                      <a:pt x="1296" y="3534"/>
                      <a:pt x="1281" y="3151"/>
                      <a:pt x="1514" y="2918"/>
                    </a:cubicBezTo>
                    <a:cubicBezTo>
                      <a:pt x="1626" y="2806"/>
                      <a:pt x="1771" y="2750"/>
                      <a:pt x="1916" y="2750"/>
                    </a:cubicBezTo>
                    <a:cubicBezTo>
                      <a:pt x="2074" y="2750"/>
                      <a:pt x="2232" y="2817"/>
                      <a:pt x="2344" y="2948"/>
                    </a:cubicBezTo>
                    <a:lnTo>
                      <a:pt x="3784" y="4388"/>
                    </a:lnTo>
                    <a:cubicBezTo>
                      <a:pt x="3793" y="4401"/>
                      <a:pt x="3805" y="4410"/>
                      <a:pt x="3817" y="4419"/>
                    </a:cubicBezTo>
                    <a:cubicBezTo>
                      <a:pt x="3817" y="4422"/>
                      <a:pt x="3820" y="4422"/>
                      <a:pt x="3823" y="4425"/>
                    </a:cubicBezTo>
                    <a:cubicBezTo>
                      <a:pt x="3934" y="4535"/>
                      <a:pt x="4078" y="4590"/>
                      <a:pt x="4222" y="4590"/>
                    </a:cubicBezTo>
                    <a:cubicBezTo>
                      <a:pt x="4367" y="4590"/>
                      <a:pt x="4512" y="4535"/>
                      <a:pt x="4624" y="4425"/>
                    </a:cubicBezTo>
                    <a:lnTo>
                      <a:pt x="7749" y="1300"/>
                    </a:lnTo>
                    <a:cubicBezTo>
                      <a:pt x="7859" y="1189"/>
                      <a:pt x="8004" y="1134"/>
                      <a:pt x="8149" y="1134"/>
                    </a:cubicBezTo>
                    <a:close/>
                    <a:moveTo>
                      <a:pt x="8146" y="1"/>
                    </a:moveTo>
                    <a:cubicBezTo>
                      <a:pt x="7712" y="1"/>
                      <a:pt x="7279" y="166"/>
                      <a:pt x="6949" y="496"/>
                    </a:cubicBezTo>
                    <a:lnTo>
                      <a:pt x="6946" y="496"/>
                    </a:lnTo>
                    <a:lnTo>
                      <a:pt x="4219" y="3223"/>
                    </a:lnTo>
                    <a:lnTo>
                      <a:pt x="3144" y="2148"/>
                    </a:lnTo>
                    <a:cubicBezTo>
                      <a:pt x="2808" y="1779"/>
                      <a:pt x="2348" y="1594"/>
                      <a:pt x="1887" y="1594"/>
                    </a:cubicBezTo>
                    <a:cubicBezTo>
                      <a:pt x="1453" y="1594"/>
                      <a:pt x="1019" y="1758"/>
                      <a:pt x="686" y="2091"/>
                    </a:cubicBezTo>
                    <a:cubicBezTo>
                      <a:pt x="1" y="2776"/>
                      <a:pt x="28" y="3896"/>
                      <a:pt x="747" y="4549"/>
                    </a:cubicBezTo>
                    <a:lnTo>
                      <a:pt x="3029" y="6819"/>
                    </a:lnTo>
                    <a:cubicBezTo>
                      <a:pt x="3344" y="7131"/>
                      <a:pt x="3768" y="7308"/>
                      <a:pt x="4214" y="7308"/>
                    </a:cubicBezTo>
                    <a:cubicBezTo>
                      <a:pt x="4218" y="7308"/>
                      <a:pt x="4221" y="7308"/>
                      <a:pt x="4225" y="7308"/>
                    </a:cubicBezTo>
                    <a:cubicBezTo>
                      <a:pt x="4678" y="7308"/>
                      <a:pt x="5116" y="7127"/>
                      <a:pt x="5439" y="6807"/>
                    </a:cubicBezTo>
                    <a:lnTo>
                      <a:pt x="9349" y="2900"/>
                    </a:lnTo>
                    <a:cubicBezTo>
                      <a:pt x="10013" y="2236"/>
                      <a:pt x="10013" y="1161"/>
                      <a:pt x="9349" y="499"/>
                    </a:cubicBezTo>
                    <a:cubicBezTo>
                      <a:pt x="9017" y="167"/>
                      <a:pt x="8581" y="1"/>
                      <a:pt x="8146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335;p38">
              <a:extLst>
                <a:ext uri="{FF2B5EF4-FFF2-40B4-BE49-F238E27FC236}">
                  <a16:creationId xmlns:a16="http://schemas.microsoft.com/office/drawing/2014/main" id="{77E8A157-F90D-4FC0-81EA-A6841C2508B4}"/>
                </a:ext>
              </a:extLst>
            </p:cNvPr>
            <p:cNvGrpSpPr/>
            <p:nvPr/>
          </p:nvGrpSpPr>
          <p:grpSpPr>
            <a:xfrm>
              <a:off x="2671619" y="1006833"/>
              <a:ext cx="347599" cy="350371"/>
              <a:chOff x="1777925" y="1953700"/>
              <a:chExt cx="294600" cy="296950"/>
            </a:xfrm>
          </p:grpSpPr>
          <p:sp>
            <p:nvSpPr>
              <p:cNvPr id="15" name="Google Shape;1336;p38">
                <a:extLst>
                  <a:ext uri="{FF2B5EF4-FFF2-40B4-BE49-F238E27FC236}">
                    <a16:creationId xmlns:a16="http://schemas.microsoft.com/office/drawing/2014/main" id="{62F932C3-9164-496B-97CD-E644FA7FFFF3}"/>
                  </a:ext>
                </a:extLst>
              </p:cNvPr>
              <p:cNvSpPr/>
              <p:nvPr/>
            </p:nvSpPr>
            <p:spPr>
              <a:xfrm>
                <a:off x="1794450" y="2052125"/>
                <a:ext cx="278075" cy="198525"/>
              </a:xfrm>
              <a:custGeom>
                <a:avLst/>
                <a:gdLst/>
                <a:ahLst/>
                <a:cxnLst/>
                <a:rect l="l" t="t" r="r" b="b"/>
                <a:pathLst>
                  <a:path w="11123" h="7941" extrusionOk="0">
                    <a:moveTo>
                      <a:pt x="10545" y="1"/>
                    </a:moveTo>
                    <a:cubicBezTo>
                      <a:pt x="10499" y="1"/>
                      <a:pt x="10449" y="11"/>
                      <a:pt x="10397" y="33"/>
                    </a:cubicBezTo>
                    <a:cubicBezTo>
                      <a:pt x="10208" y="64"/>
                      <a:pt x="10145" y="253"/>
                      <a:pt x="10177" y="474"/>
                    </a:cubicBezTo>
                    <a:cubicBezTo>
                      <a:pt x="10334" y="1009"/>
                      <a:pt x="10460" y="1514"/>
                      <a:pt x="10460" y="1986"/>
                    </a:cubicBezTo>
                    <a:cubicBezTo>
                      <a:pt x="10460" y="4885"/>
                      <a:pt x="8129" y="7247"/>
                      <a:pt x="5199" y="7247"/>
                    </a:cubicBezTo>
                    <a:cubicBezTo>
                      <a:pt x="3561" y="7247"/>
                      <a:pt x="2017" y="6460"/>
                      <a:pt x="1040" y="5137"/>
                    </a:cubicBezTo>
                    <a:lnTo>
                      <a:pt x="1734" y="5137"/>
                    </a:lnTo>
                    <a:cubicBezTo>
                      <a:pt x="1954" y="5137"/>
                      <a:pt x="2112" y="4979"/>
                      <a:pt x="2112" y="4790"/>
                    </a:cubicBezTo>
                    <a:cubicBezTo>
                      <a:pt x="2112" y="4601"/>
                      <a:pt x="1954" y="4444"/>
                      <a:pt x="1734" y="4444"/>
                    </a:cubicBezTo>
                    <a:lnTo>
                      <a:pt x="379" y="4444"/>
                    </a:lnTo>
                    <a:cubicBezTo>
                      <a:pt x="158" y="4444"/>
                      <a:pt x="1" y="4601"/>
                      <a:pt x="1" y="4790"/>
                    </a:cubicBezTo>
                    <a:lnTo>
                      <a:pt x="1" y="6176"/>
                    </a:lnTo>
                    <a:cubicBezTo>
                      <a:pt x="1" y="6365"/>
                      <a:pt x="158" y="6523"/>
                      <a:pt x="379" y="6523"/>
                    </a:cubicBezTo>
                    <a:cubicBezTo>
                      <a:pt x="568" y="6523"/>
                      <a:pt x="725" y="6365"/>
                      <a:pt x="725" y="6176"/>
                    </a:cubicBezTo>
                    <a:lnTo>
                      <a:pt x="725" y="5830"/>
                    </a:lnTo>
                    <a:cubicBezTo>
                      <a:pt x="1860" y="7184"/>
                      <a:pt x="3529" y="7941"/>
                      <a:pt x="5199" y="7941"/>
                    </a:cubicBezTo>
                    <a:cubicBezTo>
                      <a:pt x="8476" y="7941"/>
                      <a:pt x="11122" y="5294"/>
                      <a:pt x="11122" y="2049"/>
                    </a:cubicBezTo>
                    <a:cubicBezTo>
                      <a:pt x="11122" y="1482"/>
                      <a:pt x="11028" y="883"/>
                      <a:pt x="10839" y="253"/>
                    </a:cubicBezTo>
                    <a:cubicBezTo>
                      <a:pt x="10814" y="109"/>
                      <a:pt x="10698" y="1"/>
                      <a:pt x="10545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64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337;p38">
                <a:extLst>
                  <a:ext uri="{FF2B5EF4-FFF2-40B4-BE49-F238E27FC236}">
                    <a16:creationId xmlns:a16="http://schemas.microsoft.com/office/drawing/2014/main" id="{D95C32ED-BFCA-480A-9617-F8F6F5AFC193}"/>
                  </a:ext>
                </a:extLst>
              </p:cNvPr>
              <p:cNvSpPr/>
              <p:nvPr/>
            </p:nvSpPr>
            <p:spPr>
              <a:xfrm>
                <a:off x="1777925" y="1953700"/>
                <a:ext cx="278050" cy="198675"/>
              </a:xfrm>
              <a:custGeom>
                <a:avLst/>
                <a:gdLst/>
                <a:ahLst/>
                <a:cxnLst/>
                <a:rect l="l" t="t" r="r" b="b"/>
                <a:pathLst>
                  <a:path w="11122" h="7947" extrusionOk="0">
                    <a:moveTo>
                      <a:pt x="5892" y="0"/>
                    </a:moveTo>
                    <a:cubicBezTo>
                      <a:pt x="2647" y="0"/>
                      <a:pt x="0" y="2615"/>
                      <a:pt x="0" y="5892"/>
                    </a:cubicBezTo>
                    <a:cubicBezTo>
                      <a:pt x="0" y="6459"/>
                      <a:pt x="63" y="7026"/>
                      <a:pt x="284" y="7656"/>
                    </a:cubicBezTo>
                    <a:cubicBezTo>
                      <a:pt x="310" y="7869"/>
                      <a:pt x="450" y="7947"/>
                      <a:pt x="606" y="7947"/>
                    </a:cubicBezTo>
                    <a:cubicBezTo>
                      <a:pt x="635" y="7947"/>
                      <a:pt x="664" y="7944"/>
                      <a:pt x="693" y="7939"/>
                    </a:cubicBezTo>
                    <a:cubicBezTo>
                      <a:pt x="914" y="7908"/>
                      <a:pt x="977" y="7719"/>
                      <a:pt x="945" y="7498"/>
                    </a:cubicBezTo>
                    <a:cubicBezTo>
                      <a:pt x="788" y="6963"/>
                      <a:pt x="662" y="6459"/>
                      <a:pt x="662" y="5923"/>
                    </a:cubicBezTo>
                    <a:cubicBezTo>
                      <a:pt x="662" y="3056"/>
                      <a:pt x="2993" y="693"/>
                      <a:pt x="5923" y="693"/>
                    </a:cubicBezTo>
                    <a:cubicBezTo>
                      <a:pt x="7561" y="693"/>
                      <a:pt x="9105" y="1481"/>
                      <a:pt x="10082" y="2773"/>
                    </a:cubicBezTo>
                    <a:lnTo>
                      <a:pt x="9389" y="2773"/>
                    </a:lnTo>
                    <a:cubicBezTo>
                      <a:pt x="9168" y="2773"/>
                      <a:pt x="9011" y="2930"/>
                      <a:pt x="9011" y="3151"/>
                    </a:cubicBezTo>
                    <a:cubicBezTo>
                      <a:pt x="9011" y="3340"/>
                      <a:pt x="9168" y="3497"/>
                      <a:pt x="9389" y="3497"/>
                    </a:cubicBezTo>
                    <a:lnTo>
                      <a:pt x="10743" y="3497"/>
                    </a:lnTo>
                    <a:cubicBezTo>
                      <a:pt x="10964" y="3497"/>
                      <a:pt x="11121" y="3340"/>
                      <a:pt x="11121" y="3151"/>
                    </a:cubicBezTo>
                    <a:lnTo>
                      <a:pt x="11121" y="1765"/>
                    </a:lnTo>
                    <a:cubicBezTo>
                      <a:pt x="11121" y="1575"/>
                      <a:pt x="10964" y="1418"/>
                      <a:pt x="10743" y="1418"/>
                    </a:cubicBezTo>
                    <a:cubicBezTo>
                      <a:pt x="10554" y="1418"/>
                      <a:pt x="10397" y="1575"/>
                      <a:pt x="10397" y="1765"/>
                    </a:cubicBezTo>
                    <a:lnTo>
                      <a:pt x="10397" y="2111"/>
                    </a:lnTo>
                    <a:cubicBezTo>
                      <a:pt x="9263" y="725"/>
                      <a:pt x="7593" y="0"/>
                      <a:pt x="5892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64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338;p38">
                <a:extLst>
                  <a:ext uri="{FF2B5EF4-FFF2-40B4-BE49-F238E27FC236}">
                    <a16:creationId xmlns:a16="http://schemas.microsoft.com/office/drawing/2014/main" id="{17D0010D-AF5D-4551-92F3-D92E44C1F5F6}"/>
                  </a:ext>
                </a:extLst>
              </p:cNvPr>
              <p:cNvSpPr/>
              <p:nvPr/>
            </p:nvSpPr>
            <p:spPr>
              <a:xfrm>
                <a:off x="1829125" y="2006475"/>
                <a:ext cx="191400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7656" h="7656" extrusionOk="0">
                    <a:moveTo>
                      <a:pt x="4190" y="693"/>
                    </a:moveTo>
                    <a:cubicBezTo>
                      <a:pt x="4757" y="788"/>
                      <a:pt x="5324" y="1008"/>
                      <a:pt x="5797" y="1386"/>
                    </a:cubicBezTo>
                    <a:lnTo>
                      <a:pt x="5545" y="1607"/>
                    </a:lnTo>
                    <a:cubicBezTo>
                      <a:pt x="5450" y="1733"/>
                      <a:pt x="5450" y="1953"/>
                      <a:pt x="5545" y="2079"/>
                    </a:cubicBezTo>
                    <a:cubicBezTo>
                      <a:pt x="5608" y="2142"/>
                      <a:pt x="5702" y="2174"/>
                      <a:pt x="5793" y="2174"/>
                    </a:cubicBezTo>
                    <a:cubicBezTo>
                      <a:pt x="5884" y="2174"/>
                      <a:pt x="5970" y="2142"/>
                      <a:pt x="6017" y="2079"/>
                    </a:cubicBezTo>
                    <a:lnTo>
                      <a:pt x="6270" y="1859"/>
                    </a:lnTo>
                    <a:cubicBezTo>
                      <a:pt x="6616" y="2268"/>
                      <a:pt x="6868" y="2835"/>
                      <a:pt x="6931" y="3466"/>
                    </a:cubicBezTo>
                    <a:lnTo>
                      <a:pt x="6616" y="3466"/>
                    </a:lnTo>
                    <a:cubicBezTo>
                      <a:pt x="6427" y="3466"/>
                      <a:pt x="6270" y="3623"/>
                      <a:pt x="6270" y="3812"/>
                    </a:cubicBezTo>
                    <a:cubicBezTo>
                      <a:pt x="6270" y="4001"/>
                      <a:pt x="6427" y="4159"/>
                      <a:pt x="6616" y="4159"/>
                    </a:cubicBezTo>
                    <a:lnTo>
                      <a:pt x="6931" y="4159"/>
                    </a:lnTo>
                    <a:cubicBezTo>
                      <a:pt x="6868" y="4757"/>
                      <a:pt x="6616" y="5324"/>
                      <a:pt x="6270" y="5797"/>
                    </a:cubicBezTo>
                    <a:lnTo>
                      <a:pt x="6017" y="5545"/>
                    </a:lnTo>
                    <a:cubicBezTo>
                      <a:pt x="5970" y="5482"/>
                      <a:pt x="5884" y="5450"/>
                      <a:pt x="5793" y="5450"/>
                    </a:cubicBezTo>
                    <a:cubicBezTo>
                      <a:pt x="5702" y="5450"/>
                      <a:pt x="5608" y="5482"/>
                      <a:pt x="5545" y="5545"/>
                    </a:cubicBezTo>
                    <a:cubicBezTo>
                      <a:pt x="5450" y="5671"/>
                      <a:pt x="5450" y="5923"/>
                      <a:pt x="5545" y="6017"/>
                    </a:cubicBezTo>
                    <a:lnTo>
                      <a:pt x="5797" y="6270"/>
                    </a:lnTo>
                    <a:cubicBezTo>
                      <a:pt x="5356" y="6616"/>
                      <a:pt x="4820" y="6837"/>
                      <a:pt x="4190" y="6931"/>
                    </a:cubicBezTo>
                    <a:lnTo>
                      <a:pt x="4190" y="6616"/>
                    </a:lnTo>
                    <a:cubicBezTo>
                      <a:pt x="4190" y="6427"/>
                      <a:pt x="4033" y="6270"/>
                      <a:pt x="3812" y="6270"/>
                    </a:cubicBezTo>
                    <a:cubicBezTo>
                      <a:pt x="3623" y="6270"/>
                      <a:pt x="3466" y="6427"/>
                      <a:pt x="3466" y="6616"/>
                    </a:cubicBezTo>
                    <a:lnTo>
                      <a:pt x="3466" y="6931"/>
                    </a:lnTo>
                    <a:cubicBezTo>
                      <a:pt x="2867" y="6837"/>
                      <a:pt x="2331" y="6616"/>
                      <a:pt x="1859" y="6270"/>
                    </a:cubicBezTo>
                    <a:lnTo>
                      <a:pt x="2079" y="6017"/>
                    </a:lnTo>
                    <a:cubicBezTo>
                      <a:pt x="2205" y="5891"/>
                      <a:pt x="2205" y="5671"/>
                      <a:pt x="2079" y="5545"/>
                    </a:cubicBezTo>
                    <a:cubicBezTo>
                      <a:pt x="2032" y="5482"/>
                      <a:pt x="1945" y="5450"/>
                      <a:pt x="1855" y="5450"/>
                    </a:cubicBezTo>
                    <a:cubicBezTo>
                      <a:pt x="1764" y="5450"/>
                      <a:pt x="1670" y="5482"/>
                      <a:pt x="1607" y="5545"/>
                    </a:cubicBezTo>
                    <a:lnTo>
                      <a:pt x="1386" y="5797"/>
                    </a:lnTo>
                    <a:cubicBezTo>
                      <a:pt x="1040" y="5356"/>
                      <a:pt x="788" y="4789"/>
                      <a:pt x="725" y="4159"/>
                    </a:cubicBezTo>
                    <a:lnTo>
                      <a:pt x="1040" y="4159"/>
                    </a:lnTo>
                    <a:cubicBezTo>
                      <a:pt x="1229" y="4159"/>
                      <a:pt x="1386" y="4001"/>
                      <a:pt x="1386" y="3812"/>
                    </a:cubicBezTo>
                    <a:cubicBezTo>
                      <a:pt x="1386" y="3623"/>
                      <a:pt x="1229" y="3466"/>
                      <a:pt x="1040" y="3466"/>
                    </a:cubicBezTo>
                    <a:lnTo>
                      <a:pt x="725" y="3466"/>
                    </a:lnTo>
                    <a:cubicBezTo>
                      <a:pt x="788" y="2867"/>
                      <a:pt x="1040" y="2331"/>
                      <a:pt x="1386" y="1859"/>
                    </a:cubicBezTo>
                    <a:lnTo>
                      <a:pt x="1607" y="2079"/>
                    </a:lnTo>
                    <a:cubicBezTo>
                      <a:pt x="1701" y="2174"/>
                      <a:pt x="1764" y="2205"/>
                      <a:pt x="1859" y="2205"/>
                    </a:cubicBezTo>
                    <a:cubicBezTo>
                      <a:pt x="1922" y="2205"/>
                      <a:pt x="2048" y="2174"/>
                      <a:pt x="2079" y="2079"/>
                    </a:cubicBezTo>
                    <a:cubicBezTo>
                      <a:pt x="2205" y="1953"/>
                      <a:pt x="2205" y="1733"/>
                      <a:pt x="2079" y="1607"/>
                    </a:cubicBezTo>
                    <a:lnTo>
                      <a:pt x="1859" y="1386"/>
                    </a:lnTo>
                    <a:cubicBezTo>
                      <a:pt x="2300" y="1008"/>
                      <a:pt x="2835" y="788"/>
                      <a:pt x="3466" y="693"/>
                    </a:cubicBezTo>
                    <a:lnTo>
                      <a:pt x="3466" y="1008"/>
                    </a:lnTo>
                    <a:cubicBezTo>
                      <a:pt x="3466" y="1229"/>
                      <a:pt x="3623" y="1386"/>
                      <a:pt x="3812" y="1386"/>
                    </a:cubicBezTo>
                    <a:cubicBezTo>
                      <a:pt x="4033" y="1386"/>
                      <a:pt x="4190" y="1229"/>
                      <a:pt x="4190" y="1008"/>
                    </a:cubicBezTo>
                    <a:lnTo>
                      <a:pt x="4190" y="693"/>
                    </a:lnTo>
                    <a:close/>
                    <a:moveTo>
                      <a:pt x="3812" y="0"/>
                    </a:moveTo>
                    <a:cubicBezTo>
                      <a:pt x="1733" y="0"/>
                      <a:pt x="0" y="1701"/>
                      <a:pt x="0" y="3812"/>
                    </a:cubicBezTo>
                    <a:cubicBezTo>
                      <a:pt x="0" y="5923"/>
                      <a:pt x="1701" y="7656"/>
                      <a:pt x="3812" y="7656"/>
                    </a:cubicBezTo>
                    <a:cubicBezTo>
                      <a:pt x="5923" y="7656"/>
                      <a:pt x="7656" y="5954"/>
                      <a:pt x="7656" y="3812"/>
                    </a:cubicBezTo>
                    <a:cubicBezTo>
                      <a:pt x="7656" y="1733"/>
                      <a:pt x="5954" y="0"/>
                      <a:pt x="3812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64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339;p38">
                <a:extLst>
                  <a:ext uri="{FF2B5EF4-FFF2-40B4-BE49-F238E27FC236}">
                    <a16:creationId xmlns:a16="http://schemas.microsoft.com/office/drawing/2014/main" id="{6F2677DA-5177-43DE-B8D7-36CDE95F437D}"/>
                  </a:ext>
                </a:extLst>
              </p:cNvPr>
              <p:cNvSpPr/>
              <p:nvPr/>
            </p:nvSpPr>
            <p:spPr>
              <a:xfrm>
                <a:off x="1915750" y="2058450"/>
                <a:ext cx="354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2112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lnTo>
                      <a:pt x="1" y="1733"/>
                    </a:lnTo>
                    <a:cubicBezTo>
                      <a:pt x="1" y="1954"/>
                      <a:pt x="158" y="2111"/>
                      <a:pt x="347" y="2111"/>
                    </a:cubicBezTo>
                    <a:lnTo>
                      <a:pt x="1072" y="2111"/>
                    </a:lnTo>
                    <a:cubicBezTo>
                      <a:pt x="1261" y="2111"/>
                      <a:pt x="1418" y="1954"/>
                      <a:pt x="1418" y="1733"/>
                    </a:cubicBezTo>
                    <a:cubicBezTo>
                      <a:pt x="1418" y="1544"/>
                      <a:pt x="1261" y="1387"/>
                      <a:pt x="1072" y="1387"/>
                    </a:cubicBezTo>
                    <a:lnTo>
                      <a:pt x="725" y="1387"/>
                    </a:lnTo>
                    <a:lnTo>
                      <a:pt x="725" y="378"/>
                    </a:lnTo>
                    <a:cubicBezTo>
                      <a:pt x="725" y="158"/>
                      <a:pt x="568" y="0"/>
                      <a:pt x="347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64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" name="Google Shape;897;p37">
              <a:extLst>
                <a:ext uri="{FF2B5EF4-FFF2-40B4-BE49-F238E27FC236}">
                  <a16:creationId xmlns:a16="http://schemas.microsoft.com/office/drawing/2014/main" id="{1CE6D62C-7B29-4778-984A-151E5AB3E920}"/>
                </a:ext>
              </a:extLst>
            </p:cNvPr>
            <p:cNvGrpSpPr/>
            <p:nvPr/>
          </p:nvGrpSpPr>
          <p:grpSpPr>
            <a:xfrm>
              <a:off x="4365072" y="1001558"/>
              <a:ext cx="325858" cy="351328"/>
              <a:chOff x="-28461325" y="2701925"/>
              <a:chExt cx="272525" cy="293825"/>
            </a:xfrm>
          </p:grpSpPr>
          <p:sp>
            <p:nvSpPr>
              <p:cNvPr id="20" name="Google Shape;898;p37">
                <a:extLst>
                  <a:ext uri="{FF2B5EF4-FFF2-40B4-BE49-F238E27FC236}">
                    <a16:creationId xmlns:a16="http://schemas.microsoft.com/office/drawing/2014/main" id="{13E3555B-9C2F-443E-8A1B-E2ED17D8B3CA}"/>
                  </a:ext>
                </a:extLst>
              </p:cNvPr>
              <p:cNvSpPr/>
              <p:nvPr/>
            </p:nvSpPr>
            <p:spPr>
              <a:xfrm>
                <a:off x="-28427475" y="2789200"/>
                <a:ext cx="54375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3221" extrusionOk="0">
                    <a:moveTo>
                      <a:pt x="1805" y="1"/>
                    </a:moveTo>
                    <a:cubicBezTo>
                      <a:pt x="1782" y="1"/>
                      <a:pt x="1758" y="3"/>
                      <a:pt x="1734" y="7"/>
                    </a:cubicBezTo>
                    <a:cubicBezTo>
                      <a:pt x="946" y="164"/>
                      <a:pt x="285" y="826"/>
                      <a:pt x="127" y="1645"/>
                    </a:cubicBezTo>
                    <a:cubicBezTo>
                      <a:pt x="1" y="2275"/>
                      <a:pt x="190" y="2811"/>
                      <a:pt x="348" y="3063"/>
                    </a:cubicBezTo>
                    <a:cubicBezTo>
                      <a:pt x="442" y="3189"/>
                      <a:pt x="537" y="3220"/>
                      <a:pt x="663" y="3220"/>
                    </a:cubicBezTo>
                    <a:cubicBezTo>
                      <a:pt x="694" y="3220"/>
                      <a:pt x="789" y="3220"/>
                      <a:pt x="820" y="3189"/>
                    </a:cubicBezTo>
                    <a:cubicBezTo>
                      <a:pt x="978" y="3126"/>
                      <a:pt x="1072" y="2874"/>
                      <a:pt x="946" y="2716"/>
                    </a:cubicBezTo>
                    <a:cubicBezTo>
                      <a:pt x="820" y="2527"/>
                      <a:pt x="726" y="2181"/>
                      <a:pt x="789" y="1740"/>
                    </a:cubicBezTo>
                    <a:cubicBezTo>
                      <a:pt x="883" y="1173"/>
                      <a:pt x="1356" y="763"/>
                      <a:pt x="1860" y="637"/>
                    </a:cubicBezTo>
                    <a:cubicBezTo>
                      <a:pt x="2049" y="605"/>
                      <a:pt x="2175" y="448"/>
                      <a:pt x="2112" y="227"/>
                    </a:cubicBezTo>
                    <a:cubicBezTo>
                      <a:pt x="2084" y="90"/>
                      <a:pt x="1961" y="1"/>
                      <a:pt x="1805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899;p37">
                <a:extLst>
                  <a:ext uri="{FF2B5EF4-FFF2-40B4-BE49-F238E27FC236}">
                    <a16:creationId xmlns:a16="http://schemas.microsoft.com/office/drawing/2014/main" id="{4B3C5807-8E2C-4BD5-BFC1-E5FD21762337}"/>
                  </a:ext>
                </a:extLst>
              </p:cNvPr>
              <p:cNvSpPr/>
              <p:nvPr/>
            </p:nvSpPr>
            <p:spPr>
              <a:xfrm>
                <a:off x="-28362875" y="2824025"/>
                <a:ext cx="12447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4128" extrusionOk="0">
                    <a:moveTo>
                      <a:pt x="3434" y="693"/>
                    </a:moveTo>
                    <a:cubicBezTo>
                      <a:pt x="3844" y="693"/>
                      <a:pt x="4159" y="1008"/>
                      <a:pt x="4159" y="1418"/>
                    </a:cubicBezTo>
                    <a:cubicBezTo>
                      <a:pt x="4159" y="1922"/>
                      <a:pt x="3592" y="2394"/>
                      <a:pt x="2741" y="3056"/>
                    </a:cubicBezTo>
                    <a:cubicBezTo>
                      <a:pt x="2615" y="3151"/>
                      <a:pt x="2521" y="3214"/>
                      <a:pt x="2426" y="3340"/>
                    </a:cubicBezTo>
                    <a:cubicBezTo>
                      <a:pt x="2300" y="3245"/>
                      <a:pt x="2174" y="3182"/>
                      <a:pt x="2111" y="3056"/>
                    </a:cubicBezTo>
                    <a:cubicBezTo>
                      <a:pt x="1229" y="2394"/>
                      <a:pt x="694" y="1922"/>
                      <a:pt x="694" y="1418"/>
                    </a:cubicBezTo>
                    <a:cubicBezTo>
                      <a:pt x="694" y="977"/>
                      <a:pt x="1009" y="693"/>
                      <a:pt x="1387" y="693"/>
                    </a:cubicBezTo>
                    <a:cubicBezTo>
                      <a:pt x="1891" y="693"/>
                      <a:pt x="2111" y="1260"/>
                      <a:pt x="2111" y="1292"/>
                    </a:cubicBezTo>
                    <a:cubicBezTo>
                      <a:pt x="2143" y="1449"/>
                      <a:pt x="2269" y="1512"/>
                      <a:pt x="2426" y="1512"/>
                    </a:cubicBezTo>
                    <a:cubicBezTo>
                      <a:pt x="2584" y="1512"/>
                      <a:pt x="2678" y="1418"/>
                      <a:pt x="2741" y="1292"/>
                    </a:cubicBezTo>
                    <a:cubicBezTo>
                      <a:pt x="2741" y="1260"/>
                      <a:pt x="2930" y="693"/>
                      <a:pt x="3434" y="693"/>
                    </a:cubicBezTo>
                    <a:close/>
                    <a:moveTo>
                      <a:pt x="1387" y="0"/>
                    </a:moveTo>
                    <a:cubicBezTo>
                      <a:pt x="599" y="0"/>
                      <a:pt x="0" y="630"/>
                      <a:pt x="0" y="1418"/>
                    </a:cubicBezTo>
                    <a:cubicBezTo>
                      <a:pt x="0" y="2268"/>
                      <a:pt x="725" y="2835"/>
                      <a:pt x="1702" y="3623"/>
                    </a:cubicBezTo>
                    <a:cubicBezTo>
                      <a:pt x="1859" y="3718"/>
                      <a:pt x="2048" y="3875"/>
                      <a:pt x="2269" y="4033"/>
                    </a:cubicBezTo>
                    <a:cubicBezTo>
                      <a:pt x="2332" y="4064"/>
                      <a:pt x="2426" y="4127"/>
                      <a:pt x="2489" y="4127"/>
                    </a:cubicBezTo>
                    <a:cubicBezTo>
                      <a:pt x="2584" y="4127"/>
                      <a:pt x="2647" y="4064"/>
                      <a:pt x="2741" y="4033"/>
                    </a:cubicBezTo>
                    <a:cubicBezTo>
                      <a:pt x="2930" y="3875"/>
                      <a:pt x="3088" y="3718"/>
                      <a:pt x="3277" y="3623"/>
                    </a:cubicBezTo>
                    <a:cubicBezTo>
                      <a:pt x="4254" y="2835"/>
                      <a:pt x="4978" y="2268"/>
                      <a:pt x="4978" y="1418"/>
                    </a:cubicBezTo>
                    <a:cubicBezTo>
                      <a:pt x="4852" y="630"/>
                      <a:pt x="4222" y="0"/>
                      <a:pt x="3434" y="0"/>
                    </a:cubicBezTo>
                    <a:cubicBezTo>
                      <a:pt x="3056" y="0"/>
                      <a:pt x="2647" y="158"/>
                      <a:pt x="2426" y="504"/>
                    </a:cubicBezTo>
                    <a:cubicBezTo>
                      <a:pt x="2143" y="189"/>
                      <a:pt x="1796" y="0"/>
                      <a:pt x="1387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900;p37">
                <a:extLst>
                  <a:ext uri="{FF2B5EF4-FFF2-40B4-BE49-F238E27FC236}">
                    <a16:creationId xmlns:a16="http://schemas.microsoft.com/office/drawing/2014/main" id="{5D5CD8BA-5571-4830-BDD1-3DCD04831FBD}"/>
                  </a:ext>
                </a:extLst>
              </p:cNvPr>
              <p:cNvSpPr/>
              <p:nvPr/>
            </p:nvSpPr>
            <p:spPr>
              <a:xfrm>
                <a:off x="-28461325" y="2701925"/>
                <a:ext cx="272525" cy="293825"/>
              </a:xfrm>
              <a:custGeom>
                <a:avLst/>
                <a:gdLst/>
                <a:ahLst/>
                <a:cxnLst/>
                <a:rect l="l" t="t" r="r" b="b"/>
                <a:pathLst>
                  <a:path w="10901" h="11753" extrusionOk="0">
                    <a:moveTo>
                      <a:pt x="7845" y="2647"/>
                    </a:moveTo>
                    <a:cubicBezTo>
                      <a:pt x="9168" y="2647"/>
                      <a:pt x="10208" y="3781"/>
                      <a:pt x="10208" y="5136"/>
                    </a:cubicBezTo>
                    <a:cubicBezTo>
                      <a:pt x="10208" y="5577"/>
                      <a:pt x="10145" y="5924"/>
                      <a:pt x="9987" y="6239"/>
                    </a:cubicBezTo>
                    <a:lnTo>
                      <a:pt x="8034" y="10303"/>
                    </a:lnTo>
                    <a:cubicBezTo>
                      <a:pt x="7814" y="10807"/>
                      <a:pt x="7341" y="11090"/>
                      <a:pt x="6837" y="11090"/>
                    </a:cubicBezTo>
                    <a:cubicBezTo>
                      <a:pt x="6396" y="11090"/>
                      <a:pt x="6049" y="10901"/>
                      <a:pt x="5766" y="10555"/>
                    </a:cubicBezTo>
                    <a:cubicBezTo>
                      <a:pt x="5703" y="10460"/>
                      <a:pt x="5608" y="10429"/>
                      <a:pt x="5482" y="10429"/>
                    </a:cubicBezTo>
                    <a:cubicBezTo>
                      <a:pt x="5388" y="10429"/>
                      <a:pt x="5293" y="10460"/>
                      <a:pt x="5230" y="10555"/>
                    </a:cubicBezTo>
                    <a:cubicBezTo>
                      <a:pt x="4947" y="10901"/>
                      <a:pt x="4537" y="11090"/>
                      <a:pt x="4159" y="11090"/>
                    </a:cubicBezTo>
                    <a:cubicBezTo>
                      <a:pt x="3655" y="11090"/>
                      <a:pt x="3182" y="10775"/>
                      <a:pt x="2930" y="10303"/>
                    </a:cubicBezTo>
                    <a:lnTo>
                      <a:pt x="1008" y="6239"/>
                    </a:lnTo>
                    <a:cubicBezTo>
                      <a:pt x="851" y="5892"/>
                      <a:pt x="756" y="5546"/>
                      <a:pt x="756" y="5136"/>
                    </a:cubicBezTo>
                    <a:cubicBezTo>
                      <a:pt x="756" y="3781"/>
                      <a:pt x="1828" y="2647"/>
                      <a:pt x="3119" y="2647"/>
                    </a:cubicBezTo>
                    <a:cubicBezTo>
                      <a:pt x="3970" y="2647"/>
                      <a:pt x="4758" y="3120"/>
                      <a:pt x="5167" y="3876"/>
                    </a:cubicBezTo>
                    <a:cubicBezTo>
                      <a:pt x="5262" y="4002"/>
                      <a:pt x="5325" y="4033"/>
                      <a:pt x="5482" y="4033"/>
                    </a:cubicBezTo>
                    <a:cubicBezTo>
                      <a:pt x="5640" y="4033"/>
                      <a:pt x="5734" y="3970"/>
                      <a:pt x="5797" y="3876"/>
                    </a:cubicBezTo>
                    <a:cubicBezTo>
                      <a:pt x="6238" y="3120"/>
                      <a:pt x="7026" y="2647"/>
                      <a:pt x="7845" y="2647"/>
                    </a:cubicBezTo>
                    <a:close/>
                    <a:moveTo>
                      <a:pt x="6774" y="1"/>
                    </a:moveTo>
                    <a:cubicBezTo>
                      <a:pt x="5829" y="1"/>
                      <a:pt x="5104" y="788"/>
                      <a:pt x="5104" y="1734"/>
                    </a:cubicBezTo>
                    <a:lnTo>
                      <a:pt x="5104" y="2773"/>
                    </a:lnTo>
                    <a:cubicBezTo>
                      <a:pt x="4537" y="2301"/>
                      <a:pt x="3844" y="1986"/>
                      <a:pt x="3088" y="1986"/>
                    </a:cubicBezTo>
                    <a:cubicBezTo>
                      <a:pt x="1386" y="1986"/>
                      <a:pt x="0" y="3403"/>
                      <a:pt x="0" y="5136"/>
                    </a:cubicBezTo>
                    <a:cubicBezTo>
                      <a:pt x="0" y="5609"/>
                      <a:pt x="126" y="6081"/>
                      <a:pt x="315" y="6522"/>
                    </a:cubicBezTo>
                    <a:lnTo>
                      <a:pt x="2269" y="10586"/>
                    </a:lnTo>
                    <a:cubicBezTo>
                      <a:pt x="2615" y="11343"/>
                      <a:pt x="3308" y="11752"/>
                      <a:pt x="4096" y="11752"/>
                    </a:cubicBezTo>
                    <a:cubicBezTo>
                      <a:pt x="4632" y="11752"/>
                      <a:pt x="5104" y="11563"/>
                      <a:pt x="5451" y="11248"/>
                    </a:cubicBezTo>
                    <a:cubicBezTo>
                      <a:pt x="5797" y="11563"/>
                      <a:pt x="6270" y="11752"/>
                      <a:pt x="6774" y="11752"/>
                    </a:cubicBezTo>
                    <a:cubicBezTo>
                      <a:pt x="7561" y="11752"/>
                      <a:pt x="8286" y="11280"/>
                      <a:pt x="8633" y="10586"/>
                    </a:cubicBezTo>
                    <a:lnTo>
                      <a:pt x="10554" y="6522"/>
                    </a:lnTo>
                    <a:cubicBezTo>
                      <a:pt x="10775" y="6081"/>
                      <a:pt x="10901" y="5609"/>
                      <a:pt x="10901" y="5136"/>
                    </a:cubicBezTo>
                    <a:cubicBezTo>
                      <a:pt x="10869" y="3466"/>
                      <a:pt x="9515" y="1986"/>
                      <a:pt x="7814" y="1986"/>
                    </a:cubicBezTo>
                    <a:cubicBezTo>
                      <a:pt x="7057" y="1986"/>
                      <a:pt x="6364" y="2269"/>
                      <a:pt x="5797" y="2773"/>
                    </a:cubicBezTo>
                    <a:lnTo>
                      <a:pt x="5797" y="1734"/>
                    </a:lnTo>
                    <a:cubicBezTo>
                      <a:pt x="5797" y="1135"/>
                      <a:pt x="6238" y="694"/>
                      <a:pt x="6774" y="694"/>
                    </a:cubicBezTo>
                    <a:cubicBezTo>
                      <a:pt x="6994" y="694"/>
                      <a:pt x="7152" y="536"/>
                      <a:pt x="7152" y="347"/>
                    </a:cubicBezTo>
                    <a:cubicBezTo>
                      <a:pt x="7152" y="158"/>
                      <a:pt x="6994" y="1"/>
                      <a:pt x="6774" y="1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oogle Shape;575;p36">
              <a:extLst>
                <a:ext uri="{FF2B5EF4-FFF2-40B4-BE49-F238E27FC236}">
                  <a16:creationId xmlns:a16="http://schemas.microsoft.com/office/drawing/2014/main" id="{B4AF3341-8F3F-471A-8E79-FA2CE308D4F5}"/>
                </a:ext>
              </a:extLst>
            </p:cNvPr>
            <p:cNvGrpSpPr/>
            <p:nvPr/>
          </p:nvGrpSpPr>
          <p:grpSpPr>
            <a:xfrm>
              <a:off x="6124704" y="1063005"/>
              <a:ext cx="340221" cy="340168"/>
              <a:chOff x="5648337" y="1507911"/>
              <a:chExt cx="483200" cy="483125"/>
            </a:xfrm>
          </p:grpSpPr>
          <p:sp>
            <p:nvSpPr>
              <p:cNvPr id="27" name="Google Shape;576;p36">
                <a:extLst>
                  <a:ext uri="{FF2B5EF4-FFF2-40B4-BE49-F238E27FC236}">
                    <a16:creationId xmlns:a16="http://schemas.microsoft.com/office/drawing/2014/main" id="{EDD2FBB0-571B-4093-853A-E5C47B311251}"/>
                  </a:ext>
                </a:extLst>
              </p:cNvPr>
              <p:cNvSpPr/>
              <p:nvPr/>
            </p:nvSpPr>
            <p:spPr>
              <a:xfrm>
                <a:off x="5801074" y="1546753"/>
                <a:ext cx="177725" cy="162475"/>
              </a:xfrm>
              <a:custGeom>
                <a:avLst/>
                <a:gdLst/>
                <a:ahLst/>
                <a:cxnLst/>
                <a:rect l="l" t="t" r="r" b="b"/>
                <a:pathLst>
                  <a:path w="7109" h="6499" extrusionOk="0">
                    <a:moveTo>
                      <a:pt x="3554" y="1845"/>
                    </a:moveTo>
                    <a:lnTo>
                      <a:pt x="3920" y="2582"/>
                    </a:lnTo>
                    <a:cubicBezTo>
                      <a:pt x="4001" y="2751"/>
                      <a:pt x="4161" y="2866"/>
                      <a:pt x="4345" y="2893"/>
                    </a:cubicBezTo>
                    <a:lnTo>
                      <a:pt x="5158" y="3011"/>
                    </a:lnTo>
                    <a:lnTo>
                      <a:pt x="4569" y="3584"/>
                    </a:lnTo>
                    <a:cubicBezTo>
                      <a:pt x="4436" y="3714"/>
                      <a:pt x="4376" y="3901"/>
                      <a:pt x="4406" y="4086"/>
                    </a:cubicBezTo>
                    <a:lnTo>
                      <a:pt x="4545" y="4898"/>
                    </a:lnTo>
                    <a:lnTo>
                      <a:pt x="3820" y="4514"/>
                    </a:lnTo>
                    <a:cubicBezTo>
                      <a:pt x="3737" y="4469"/>
                      <a:pt x="3646" y="4446"/>
                      <a:pt x="3555" y="4446"/>
                    </a:cubicBezTo>
                    <a:cubicBezTo>
                      <a:pt x="3464" y="4446"/>
                      <a:pt x="3373" y="4469"/>
                      <a:pt x="3292" y="4514"/>
                    </a:cubicBezTo>
                    <a:lnTo>
                      <a:pt x="2561" y="4895"/>
                    </a:lnTo>
                    <a:lnTo>
                      <a:pt x="2703" y="4086"/>
                    </a:lnTo>
                    <a:cubicBezTo>
                      <a:pt x="2733" y="3901"/>
                      <a:pt x="2673" y="3714"/>
                      <a:pt x="2540" y="3584"/>
                    </a:cubicBezTo>
                    <a:lnTo>
                      <a:pt x="1951" y="3011"/>
                    </a:lnTo>
                    <a:lnTo>
                      <a:pt x="2763" y="2893"/>
                    </a:lnTo>
                    <a:cubicBezTo>
                      <a:pt x="2947" y="2866"/>
                      <a:pt x="3107" y="2751"/>
                      <a:pt x="3192" y="2582"/>
                    </a:cubicBezTo>
                    <a:lnTo>
                      <a:pt x="3554" y="1845"/>
                    </a:lnTo>
                    <a:close/>
                    <a:moveTo>
                      <a:pt x="3554" y="0"/>
                    </a:moveTo>
                    <a:cubicBezTo>
                      <a:pt x="3353" y="0"/>
                      <a:pt x="3151" y="106"/>
                      <a:pt x="3047" y="317"/>
                    </a:cubicBezTo>
                    <a:lnTo>
                      <a:pt x="2307" y="1815"/>
                    </a:lnTo>
                    <a:lnTo>
                      <a:pt x="653" y="2056"/>
                    </a:lnTo>
                    <a:cubicBezTo>
                      <a:pt x="188" y="2123"/>
                      <a:pt x="0" y="2694"/>
                      <a:pt x="339" y="3023"/>
                    </a:cubicBezTo>
                    <a:lnTo>
                      <a:pt x="1537" y="4188"/>
                    </a:lnTo>
                    <a:lnTo>
                      <a:pt x="1253" y="5837"/>
                    </a:lnTo>
                    <a:cubicBezTo>
                      <a:pt x="1191" y="6202"/>
                      <a:pt x="1480" y="6499"/>
                      <a:pt x="1809" y="6499"/>
                    </a:cubicBezTo>
                    <a:cubicBezTo>
                      <a:pt x="1897" y="6499"/>
                      <a:pt x="1987" y="6478"/>
                      <a:pt x="2075" y="6432"/>
                    </a:cubicBezTo>
                    <a:lnTo>
                      <a:pt x="3554" y="5656"/>
                    </a:lnTo>
                    <a:lnTo>
                      <a:pt x="5034" y="6432"/>
                    </a:lnTo>
                    <a:cubicBezTo>
                      <a:pt x="5121" y="6478"/>
                      <a:pt x="5212" y="6499"/>
                      <a:pt x="5299" y="6499"/>
                    </a:cubicBezTo>
                    <a:cubicBezTo>
                      <a:pt x="5629" y="6499"/>
                      <a:pt x="5917" y="6202"/>
                      <a:pt x="5855" y="5837"/>
                    </a:cubicBezTo>
                    <a:lnTo>
                      <a:pt x="5574" y="4188"/>
                    </a:lnTo>
                    <a:lnTo>
                      <a:pt x="6770" y="3023"/>
                    </a:lnTo>
                    <a:cubicBezTo>
                      <a:pt x="7108" y="2694"/>
                      <a:pt x="6921" y="2123"/>
                      <a:pt x="6456" y="2056"/>
                    </a:cubicBezTo>
                    <a:lnTo>
                      <a:pt x="4801" y="1815"/>
                    </a:lnTo>
                    <a:lnTo>
                      <a:pt x="4062" y="317"/>
                    </a:lnTo>
                    <a:cubicBezTo>
                      <a:pt x="3957" y="106"/>
                      <a:pt x="3756" y="0"/>
                      <a:pt x="3554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577;p36">
                <a:extLst>
                  <a:ext uri="{FF2B5EF4-FFF2-40B4-BE49-F238E27FC236}">
                    <a16:creationId xmlns:a16="http://schemas.microsoft.com/office/drawing/2014/main" id="{9AC6C2B4-6A68-4198-B24C-2ACFDD074800}"/>
                  </a:ext>
                </a:extLst>
              </p:cNvPr>
              <p:cNvSpPr/>
              <p:nvPr/>
            </p:nvSpPr>
            <p:spPr>
              <a:xfrm>
                <a:off x="5648337" y="1507911"/>
                <a:ext cx="483200" cy="483125"/>
              </a:xfrm>
              <a:custGeom>
                <a:avLst/>
                <a:gdLst/>
                <a:ahLst/>
                <a:cxnLst/>
                <a:rect l="l" t="t" r="r" b="b"/>
                <a:pathLst>
                  <a:path w="19328" h="19325" extrusionOk="0">
                    <a:moveTo>
                      <a:pt x="2265" y="2304"/>
                    </a:moveTo>
                    <a:cubicBezTo>
                      <a:pt x="2890" y="2304"/>
                      <a:pt x="3397" y="2808"/>
                      <a:pt x="3397" y="3437"/>
                    </a:cubicBezTo>
                    <a:lnTo>
                      <a:pt x="3397" y="7398"/>
                    </a:lnTo>
                    <a:lnTo>
                      <a:pt x="3397" y="7474"/>
                    </a:lnTo>
                    <a:lnTo>
                      <a:pt x="1637" y="6299"/>
                    </a:lnTo>
                    <a:cubicBezTo>
                      <a:pt x="1320" y="6088"/>
                      <a:pt x="1129" y="5734"/>
                      <a:pt x="1132" y="5357"/>
                    </a:cubicBezTo>
                    <a:lnTo>
                      <a:pt x="1132" y="3437"/>
                    </a:lnTo>
                    <a:cubicBezTo>
                      <a:pt x="1132" y="2808"/>
                      <a:pt x="1640" y="2304"/>
                      <a:pt x="2265" y="2304"/>
                    </a:cubicBezTo>
                    <a:close/>
                    <a:moveTo>
                      <a:pt x="17060" y="2304"/>
                    </a:moveTo>
                    <a:cubicBezTo>
                      <a:pt x="17685" y="2304"/>
                      <a:pt x="18192" y="2808"/>
                      <a:pt x="18192" y="3437"/>
                    </a:cubicBezTo>
                    <a:lnTo>
                      <a:pt x="18192" y="5357"/>
                    </a:lnTo>
                    <a:cubicBezTo>
                      <a:pt x="18192" y="5737"/>
                      <a:pt x="18005" y="6091"/>
                      <a:pt x="17688" y="6302"/>
                    </a:cubicBezTo>
                    <a:lnTo>
                      <a:pt x="15928" y="7474"/>
                    </a:lnTo>
                    <a:lnTo>
                      <a:pt x="15928" y="7398"/>
                    </a:lnTo>
                    <a:lnTo>
                      <a:pt x="15928" y="3437"/>
                    </a:lnTo>
                    <a:cubicBezTo>
                      <a:pt x="15928" y="2808"/>
                      <a:pt x="16435" y="2304"/>
                      <a:pt x="17060" y="2304"/>
                    </a:cubicBezTo>
                    <a:close/>
                    <a:moveTo>
                      <a:pt x="14795" y="1133"/>
                    </a:moveTo>
                    <a:lnTo>
                      <a:pt x="14795" y="7398"/>
                    </a:lnTo>
                    <a:cubicBezTo>
                      <a:pt x="14795" y="8763"/>
                      <a:pt x="14095" y="9641"/>
                      <a:pt x="12120" y="10759"/>
                    </a:cubicBezTo>
                    <a:cubicBezTo>
                      <a:pt x="11069" y="11354"/>
                      <a:pt x="10372" y="12422"/>
                      <a:pt x="10248" y="13627"/>
                    </a:cubicBezTo>
                    <a:lnTo>
                      <a:pt x="9058" y="13627"/>
                    </a:lnTo>
                    <a:cubicBezTo>
                      <a:pt x="8877" y="12368"/>
                      <a:pt x="8041" y="11269"/>
                      <a:pt x="6791" y="10686"/>
                    </a:cubicBezTo>
                    <a:cubicBezTo>
                      <a:pt x="5332" y="10007"/>
                      <a:pt x="4529" y="8835"/>
                      <a:pt x="4529" y="7398"/>
                    </a:cubicBezTo>
                    <a:lnTo>
                      <a:pt x="4529" y="1133"/>
                    </a:lnTo>
                    <a:close/>
                    <a:moveTo>
                      <a:pt x="11927" y="14759"/>
                    </a:moveTo>
                    <a:cubicBezTo>
                      <a:pt x="12241" y="14759"/>
                      <a:pt x="12495" y="15010"/>
                      <a:pt x="12495" y="15324"/>
                    </a:cubicBezTo>
                    <a:lnTo>
                      <a:pt x="12495" y="15892"/>
                    </a:lnTo>
                    <a:lnTo>
                      <a:pt x="10795" y="15892"/>
                    </a:lnTo>
                    <a:cubicBezTo>
                      <a:pt x="10481" y="15892"/>
                      <a:pt x="10230" y="16142"/>
                      <a:pt x="10230" y="16456"/>
                    </a:cubicBezTo>
                    <a:cubicBezTo>
                      <a:pt x="10230" y="16770"/>
                      <a:pt x="10481" y="17024"/>
                      <a:pt x="10795" y="17024"/>
                    </a:cubicBezTo>
                    <a:lnTo>
                      <a:pt x="13059" y="17024"/>
                    </a:lnTo>
                    <a:cubicBezTo>
                      <a:pt x="13373" y="17024"/>
                      <a:pt x="13627" y="17275"/>
                      <a:pt x="13627" y="17589"/>
                    </a:cubicBezTo>
                    <a:lnTo>
                      <a:pt x="13627" y="18193"/>
                    </a:lnTo>
                    <a:lnTo>
                      <a:pt x="5701" y="18193"/>
                    </a:lnTo>
                    <a:lnTo>
                      <a:pt x="5701" y="17589"/>
                    </a:lnTo>
                    <a:cubicBezTo>
                      <a:pt x="5701" y="17275"/>
                      <a:pt x="5951" y="17024"/>
                      <a:pt x="6265" y="17024"/>
                    </a:cubicBezTo>
                    <a:lnTo>
                      <a:pt x="8530" y="17024"/>
                    </a:lnTo>
                    <a:cubicBezTo>
                      <a:pt x="8844" y="17024"/>
                      <a:pt x="9095" y="16770"/>
                      <a:pt x="9095" y="16456"/>
                    </a:cubicBezTo>
                    <a:cubicBezTo>
                      <a:pt x="9095" y="16142"/>
                      <a:pt x="8844" y="15892"/>
                      <a:pt x="8530" y="15892"/>
                    </a:cubicBezTo>
                    <a:lnTo>
                      <a:pt x="6833" y="15892"/>
                    </a:lnTo>
                    <a:lnTo>
                      <a:pt x="6833" y="15324"/>
                    </a:lnTo>
                    <a:cubicBezTo>
                      <a:pt x="6833" y="15010"/>
                      <a:pt x="7084" y="14759"/>
                      <a:pt x="7398" y="14759"/>
                    </a:cubicBezTo>
                    <a:close/>
                    <a:moveTo>
                      <a:pt x="3965" y="0"/>
                    </a:moveTo>
                    <a:cubicBezTo>
                      <a:pt x="3651" y="0"/>
                      <a:pt x="3397" y="254"/>
                      <a:pt x="3397" y="568"/>
                    </a:cubicBezTo>
                    <a:lnTo>
                      <a:pt x="3397" y="1474"/>
                    </a:lnTo>
                    <a:cubicBezTo>
                      <a:pt x="3032" y="1264"/>
                      <a:pt x="2645" y="1168"/>
                      <a:pt x="2269" y="1168"/>
                    </a:cubicBezTo>
                    <a:cubicBezTo>
                      <a:pt x="1086" y="1168"/>
                      <a:pt x="0" y="2113"/>
                      <a:pt x="0" y="3437"/>
                    </a:cubicBezTo>
                    <a:lnTo>
                      <a:pt x="0" y="5357"/>
                    </a:lnTo>
                    <a:cubicBezTo>
                      <a:pt x="0" y="6115"/>
                      <a:pt x="378" y="6821"/>
                      <a:pt x="1009" y="7241"/>
                    </a:cubicBezTo>
                    <a:lnTo>
                      <a:pt x="3651" y="9001"/>
                    </a:lnTo>
                    <a:cubicBezTo>
                      <a:pt x="3663" y="9010"/>
                      <a:pt x="3678" y="9019"/>
                      <a:pt x="3690" y="9026"/>
                    </a:cubicBezTo>
                    <a:cubicBezTo>
                      <a:pt x="4125" y="10170"/>
                      <a:pt x="5027" y="11112"/>
                      <a:pt x="6314" y="11710"/>
                    </a:cubicBezTo>
                    <a:cubicBezTo>
                      <a:pt x="7156" y="12105"/>
                      <a:pt x="7736" y="12812"/>
                      <a:pt x="7911" y="13627"/>
                    </a:cubicBezTo>
                    <a:lnTo>
                      <a:pt x="7398" y="13627"/>
                    </a:lnTo>
                    <a:cubicBezTo>
                      <a:pt x="6459" y="13627"/>
                      <a:pt x="5701" y="14385"/>
                      <a:pt x="5701" y="15324"/>
                    </a:cubicBezTo>
                    <a:lnTo>
                      <a:pt x="5701" y="15988"/>
                    </a:lnTo>
                    <a:cubicBezTo>
                      <a:pt x="5021" y="16227"/>
                      <a:pt x="4569" y="16870"/>
                      <a:pt x="4569" y="17589"/>
                    </a:cubicBezTo>
                    <a:lnTo>
                      <a:pt x="4569" y="18760"/>
                    </a:lnTo>
                    <a:cubicBezTo>
                      <a:pt x="4569" y="19071"/>
                      <a:pt x="4819" y="19325"/>
                      <a:pt x="5133" y="19325"/>
                    </a:cubicBezTo>
                    <a:lnTo>
                      <a:pt x="14191" y="19325"/>
                    </a:lnTo>
                    <a:cubicBezTo>
                      <a:pt x="14506" y="19325"/>
                      <a:pt x="14759" y="19071"/>
                      <a:pt x="14759" y="18760"/>
                    </a:cubicBezTo>
                    <a:lnTo>
                      <a:pt x="14759" y="17589"/>
                    </a:lnTo>
                    <a:cubicBezTo>
                      <a:pt x="14756" y="16870"/>
                      <a:pt x="14303" y="16227"/>
                      <a:pt x="13627" y="15988"/>
                    </a:cubicBezTo>
                    <a:lnTo>
                      <a:pt x="13627" y="15324"/>
                    </a:lnTo>
                    <a:cubicBezTo>
                      <a:pt x="13624" y="14385"/>
                      <a:pt x="12866" y="13627"/>
                      <a:pt x="11927" y="13627"/>
                    </a:cubicBezTo>
                    <a:lnTo>
                      <a:pt x="11389" y="13627"/>
                    </a:lnTo>
                    <a:cubicBezTo>
                      <a:pt x="11507" y="12833"/>
                      <a:pt x="11981" y="12139"/>
                      <a:pt x="12679" y="11743"/>
                    </a:cubicBezTo>
                    <a:cubicBezTo>
                      <a:pt x="14044" y="10973"/>
                      <a:pt x="15088" y="10170"/>
                      <a:pt x="15593" y="9047"/>
                    </a:cubicBezTo>
                    <a:cubicBezTo>
                      <a:pt x="15623" y="9035"/>
                      <a:pt x="15650" y="9019"/>
                      <a:pt x="15677" y="9001"/>
                    </a:cubicBezTo>
                    <a:lnTo>
                      <a:pt x="18319" y="7241"/>
                    </a:lnTo>
                    <a:cubicBezTo>
                      <a:pt x="18947" y="6821"/>
                      <a:pt x="19328" y="6115"/>
                      <a:pt x="19328" y="5357"/>
                    </a:cubicBezTo>
                    <a:lnTo>
                      <a:pt x="19328" y="3437"/>
                    </a:lnTo>
                    <a:cubicBezTo>
                      <a:pt x="19325" y="2113"/>
                      <a:pt x="18239" y="1168"/>
                      <a:pt x="17057" y="1168"/>
                    </a:cubicBezTo>
                    <a:cubicBezTo>
                      <a:pt x="16681" y="1168"/>
                      <a:pt x="16295" y="1264"/>
                      <a:pt x="15931" y="1474"/>
                    </a:cubicBezTo>
                    <a:lnTo>
                      <a:pt x="15931" y="568"/>
                    </a:lnTo>
                    <a:cubicBezTo>
                      <a:pt x="15931" y="254"/>
                      <a:pt x="15677" y="0"/>
                      <a:pt x="15363" y="0"/>
                    </a:cubicBezTo>
                    <a:close/>
                  </a:path>
                </a:pathLst>
              </a:custGeom>
              <a:solidFill>
                <a:srgbClr val="0064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79E7E4C-E207-4C15-8DC2-A1C0DA48692C}"/>
              </a:ext>
            </a:extLst>
          </p:cNvPr>
          <p:cNvGrpSpPr/>
          <p:nvPr/>
        </p:nvGrpSpPr>
        <p:grpSpPr>
          <a:xfrm>
            <a:off x="569935" y="3578596"/>
            <a:ext cx="8075981" cy="1156905"/>
            <a:chOff x="320040" y="2487168"/>
            <a:chExt cx="8311896" cy="1463040"/>
          </a:xfrm>
        </p:grpSpPr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80BA9060-45E8-49ED-A1B9-5A207B262203}"/>
                </a:ext>
              </a:extLst>
            </p:cNvPr>
            <p:cNvSpPr/>
            <p:nvPr/>
          </p:nvSpPr>
          <p:spPr>
            <a:xfrm>
              <a:off x="320040" y="2487168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RU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0D49794C-A4B1-4E37-A89A-C06645B56925}"/>
                </a:ext>
              </a:extLst>
            </p:cNvPr>
            <p:cNvSpPr/>
            <p:nvPr/>
          </p:nvSpPr>
          <p:spPr>
            <a:xfrm>
              <a:off x="484632" y="2624328"/>
              <a:ext cx="22768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4,8 ★</a:t>
              </a:r>
              <a:endParaRPr lang="en-US" sz="3000" dirty="0"/>
            </a:p>
          </p:txBody>
        </p:sp>
        <p:sp>
          <p:nvSpPr>
            <p:cNvPr id="32" name="Text 27">
              <a:extLst>
                <a:ext uri="{FF2B5EF4-FFF2-40B4-BE49-F238E27FC236}">
                  <a16:creationId xmlns:a16="http://schemas.microsoft.com/office/drawing/2014/main" id="{7D3C5C88-3EC5-4703-9A27-535F13656F94}"/>
                </a:ext>
              </a:extLst>
            </p:cNvPr>
            <p:cNvSpPr/>
            <p:nvPr/>
          </p:nvSpPr>
          <p:spPr>
            <a:xfrm>
              <a:off x="484632" y="3090672"/>
              <a:ext cx="2276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Средняя оценка</a:t>
              </a:r>
              <a:endParaRPr lang="en-US" sz="1000" dirty="0"/>
            </a:p>
          </p:txBody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0A485043-581A-41C4-8A5B-CAC229202570}"/>
                </a:ext>
              </a:extLst>
            </p:cNvPr>
            <p:cNvSpPr/>
            <p:nvPr/>
          </p:nvSpPr>
          <p:spPr>
            <a:xfrm>
              <a:off x="484632" y="3273552"/>
              <a:ext cx="2276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90% отзывов — пятёрки</a:t>
              </a:r>
              <a:endParaRPr lang="en-US" sz="900" dirty="0"/>
            </a:p>
          </p:txBody>
        </p:sp>
        <p:sp>
          <p:nvSpPr>
            <p:cNvPr id="34" name="Shape 29">
              <a:extLst>
                <a:ext uri="{FF2B5EF4-FFF2-40B4-BE49-F238E27FC236}">
                  <a16:creationId xmlns:a16="http://schemas.microsoft.com/office/drawing/2014/main" id="{F78728FB-3052-4C3E-8269-915B95D04877}"/>
                </a:ext>
              </a:extLst>
            </p:cNvPr>
            <p:cNvSpPr/>
            <p:nvPr/>
          </p:nvSpPr>
          <p:spPr>
            <a:xfrm>
              <a:off x="484632" y="3538728"/>
              <a:ext cx="2276856" cy="73152"/>
            </a:xfrm>
            <a:prstGeom prst="roundRect">
              <a:avLst>
                <a:gd name="adj" fmla="val 50000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RU"/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0F11CBE9-1702-47C4-B555-8A0B3E831B67}"/>
                </a:ext>
              </a:extLst>
            </p:cNvPr>
            <p:cNvSpPr/>
            <p:nvPr/>
          </p:nvSpPr>
          <p:spPr>
            <a:xfrm>
              <a:off x="484632" y="3538728"/>
              <a:ext cx="1821485" cy="73152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RU"/>
            </a:p>
          </p:txBody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2ADE1BC5-019B-4A47-9E62-6E4D6A2653B0}"/>
                </a:ext>
              </a:extLst>
            </p:cNvPr>
            <p:cNvSpPr/>
            <p:nvPr/>
          </p:nvSpPr>
          <p:spPr>
            <a:xfrm>
              <a:off x="484632" y="3694176"/>
              <a:ext cx="2276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Цель: 4,9+</a:t>
              </a:r>
              <a:endParaRPr lang="en-US" sz="900" dirty="0"/>
            </a:p>
          </p:txBody>
        </p:sp>
        <p:sp>
          <p:nvSpPr>
            <p:cNvPr id="37" name="Shape 32">
              <a:extLst>
                <a:ext uri="{FF2B5EF4-FFF2-40B4-BE49-F238E27FC236}">
                  <a16:creationId xmlns:a16="http://schemas.microsoft.com/office/drawing/2014/main" id="{3A43D31E-5353-417C-943B-3C3F7E227E04}"/>
                </a:ext>
              </a:extLst>
            </p:cNvPr>
            <p:cNvSpPr/>
            <p:nvPr/>
          </p:nvSpPr>
          <p:spPr>
            <a:xfrm>
              <a:off x="3172968" y="2487168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RU"/>
            </a:p>
          </p:txBody>
        </p:sp>
        <p:sp>
          <p:nvSpPr>
            <p:cNvPr id="38" name="Text 33">
              <a:extLst>
                <a:ext uri="{FF2B5EF4-FFF2-40B4-BE49-F238E27FC236}">
                  <a16:creationId xmlns:a16="http://schemas.microsoft.com/office/drawing/2014/main" id="{AAABEBEB-47F4-409A-B31C-9DC785432161}"/>
                </a:ext>
              </a:extLst>
            </p:cNvPr>
            <p:cNvSpPr/>
            <p:nvPr/>
          </p:nvSpPr>
          <p:spPr>
            <a:xfrm>
              <a:off x="3337560" y="2624328"/>
              <a:ext cx="22768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r>
                <a:rPr lang="ru-RU" sz="30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ч. </a:t>
              </a:r>
              <a:endParaRPr lang="en-US" sz="3000" dirty="0"/>
            </a:p>
          </p:txBody>
        </p:sp>
        <p:sp>
          <p:nvSpPr>
            <p:cNvPr id="39" name="Text 34">
              <a:extLst>
                <a:ext uri="{FF2B5EF4-FFF2-40B4-BE49-F238E27FC236}">
                  <a16:creationId xmlns:a16="http://schemas.microsoft.com/office/drawing/2014/main" id="{00D1A784-6F8F-4B3F-BB31-CA744316E50A}"/>
                </a:ext>
              </a:extLst>
            </p:cNvPr>
            <p:cNvSpPr/>
            <p:nvPr/>
          </p:nvSpPr>
          <p:spPr>
            <a:xfrm>
              <a:off x="3337560" y="3090672"/>
              <a:ext cx="2276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Среднее время ответа</a:t>
              </a:r>
              <a:endParaRPr lang="en-US" sz="1000" dirty="0"/>
            </a:p>
          </p:txBody>
        </p:sp>
        <p:sp>
          <p:nvSpPr>
            <p:cNvPr id="40" name="Text 35">
              <a:extLst>
                <a:ext uri="{FF2B5EF4-FFF2-40B4-BE49-F238E27FC236}">
                  <a16:creationId xmlns:a16="http://schemas.microsoft.com/office/drawing/2014/main" id="{C5558F5D-DEF2-415D-9DF8-C4DFA9D2D7D6}"/>
                </a:ext>
              </a:extLst>
            </p:cNvPr>
            <p:cNvSpPr/>
            <p:nvPr/>
          </p:nvSpPr>
          <p:spPr>
            <a:xfrm>
              <a:off x="3337560" y="3273552"/>
              <a:ext cx="2276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Доверие и защита репутации</a:t>
              </a:r>
              <a:endParaRPr lang="en-US" sz="900" dirty="0"/>
            </a:p>
          </p:txBody>
        </p:sp>
        <p:sp>
          <p:nvSpPr>
            <p:cNvPr id="41" name="Shape 36">
              <a:extLst>
                <a:ext uri="{FF2B5EF4-FFF2-40B4-BE49-F238E27FC236}">
                  <a16:creationId xmlns:a16="http://schemas.microsoft.com/office/drawing/2014/main" id="{73269B37-1595-436A-90DE-996F980DF176}"/>
                </a:ext>
              </a:extLst>
            </p:cNvPr>
            <p:cNvSpPr/>
            <p:nvPr/>
          </p:nvSpPr>
          <p:spPr>
            <a:xfrm>
              <a:off x="3337560" y="3538728"/>
              <a:ext cx="2276856" cy="73152"/>
            </a:xfrm>
            <a:prstGeom prst="roundRect">
              <a:avLst>
                <a:gd name="adj" fmla="val 50000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RU"/>
            </a:p>
          </p:txBody>
        </p:sp>
        <p:sp>
          <p:nvSpPr>
            <p:cNvPr id="42" name="Shape 37">
              <a:extLst>
                <a:ext uri="{FF2B5EF4-FFF2-40B4-BE49-F238E27FC236}">
                  <a16:creationId xmlns:a16="http://schemas.microsoft.com/office/drawing/2014/main" id="{B83DB1F6-2AEA-41C7-B484-6B68624D3908}"/>
                </a:ext>
              </a:extLst>
            </p:cNvPr>
            <p:cNvSpPr/>
            <p:nvPr/>
          </p:nvSpPr>
          <p:spPr>
            <a:xfrm>
              <a:off x="3337560" y="3538728"/>
              <a:ext cx="1252271" cy="73152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RU"/>
            </a:p>
          </p:txBody>
        </p:sp>
        <p:sp>
          <p:nvSpPr>
            <p:cNvPr id="43" name="Text 38">
              <a:extLst>
                <a:ext uri="{FF2B5EF4-FFF2-40B4-BE49-F238E27FC236}">
                  <a16:creationId xmlns:a16="http://schemas.microsoft.com/office/drawing/2014/main" id="{73C49328-9272-45D0-A5B5-4E758CEFF9A0}"/>
                </a:ext>
              </a:extLst>
            </p:cNvPr>
            <p:cNvSpPr/>
            <p:nvPr/>
          </p:nvSpPr>
          <p:spPr>
            <a:xfrm>
              <a:off x="3337560" y="3694176"/>
              <a:ext cx="2276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Цель: &lt; </a:t>
              </a:r>
              <a:r>
                <a:rPr lang="ru-RU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</a:t>
              </a:r>
              <a:r>
                <a:rPr lang="en-US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ч.</a:t>
              </a:r>
              <a:endParaRPr lang="en-US" sz="900" dirty="0"/>
            </a:p>
          </p:txBody>
        </p:sp>
        <p:sp>
          <p:nvSpPr>
            <p:cNvPr id="44" name="Shape 39">
              <a:extLst>
                <a:ext uri="{FF2B5EF4-FFF2-40B4-BE49-F238E27FC236}">
                  <a16:creationId xmlns:a16="http://schemas.microsoft.com/office/drawing/2014/main" id="{13C54B6F-BDE8-4741-830F-E0A17BC10013}"/>
                </a:ext>
              </a:extLst>
            </p:cNvPr>
            <p:cNvSpPr/>
            <p:nvPr/>
          </p:nvSpPr>
          <p:spPr>
            <a:xfrm>
              <a:off x="6025896" y="2487168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RU"/>
            </a:p>
          </p:txBody>
        </p:sp>
        <p:sp>
          <p:nvSpPr>
            <p:cNvPr id="45" name="Text 40">
              <a:extLst>
                <a:ext uri="{FF2B5EF4-FFF2-40B4-BE49-F238E27FC236}">
                  <a16:creationId xmlns:a16="http://schemas.microsoft.com/office/drawing/2014/main" id="{EFE0FE05-2F95-4F6F-B1F4-7976FC9BF2A4}"/>
                </a:ext>
              </a:extLst>
            </p:cNvPr>
            <p:cNvSpPr/>
            <p:nvPr/>
          </p:nvSpPr>
          <p:spPr>
            <a:xfrm>
              <a:off x="6190488" y="2624328"/>
              <a:ext cx="22768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85%</a:t>
              </a:r>
              <a:endParaRPr lang="en-US" sz="3000" dirty="0"/>
            </a:p>
          </p:txBody>
        </p:sp>
        <p:sp>
          <p:nvSpPr>
            <p:cNvPr id="46" name="Text 41">
              <a:extLst>
                <a:ext uri="{FF2B5EF4-FFF2-40B4-BE49-F238E27FC236}">
                  <a16:creationId xmlns:a16="http://schemas.microsoft.com/office/drawing/2014/main" id="{7484FE60-C4D6-4408-901E-13481933E3D0}"/>
                </a:ext>
              </a:extLst>
            </p:cNvPr>
            <p:cNvSpPr/>
            <p:nvPr/>
          </p:nvSpPr>
          <p:spPr>
            <a:xfrm>
              <a:off x="6190488" y="3090672"/>
              <a:ext cx="2276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Автоответов</a:t>
              </a:r>
              <a:endParaRPr lang="en-US" sz="1000" dirty="0"/>
            </a:p>
          </p:txBody>
        </p:sp>
        <p:sp>
          <p:nvSpPr>
            <p:cNvPr id="47" name="Text 42">
              <a:extLst>
                <a:ext uri="{FF2B5EF4-FFF2-40B4-BE49-F238E27FC236}">
                  <a16:creationId xmlns:a16="http://schemas.microsoft.com/office/drawing/2014/main" id="{31E8758B-535A-498A-A21B-CCD1A653BADA}"/>
                </a:ext>
              </a:extLst>
            </p:cNvPr>
            <p:cNvSpPr/>
            <p:nvPr/>
          </p:nvSpPr>
          <p:spPr>
            <a:xfrm>
              <a:off x="6190488" y="3273552"/>
              <a:ext cx="2276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определяет контекст и отвечает</a:t>
              </a:r>
              <a:endParaRPr lang="en-US" sz="900" dirty="0"/>
            </a:p>
          </p:txBody>
        </p:sp>
        <p:sp>
          <p:nvSpPr>
            <p:cNvPr id="48" name="Shape 43">
              <a:extLst>
                <a:ext uri="{FF2B5EF4-FFF2-40B4-BE49-F238E27FC236}">
                  <a16:creationId xmlns:a16="http://schemas.microsoft.com/office/drawing/2014/main" id="{CAE1CF8F-9ACB-4E39-BD7D-9FF84EBC7988}"/>
                </a:ext>
              </a:extLst>
            </p:cNvPr>
            <p:cNvSpPr/>
            <p:nvPr/>
          </p:nvSpPr>
          <p:spPr>
            <a:xfrm>
              <a:off x="6190488" y="3538728"/>
              <a:ext cx="2276856" cy="73152"/>
            </a:xfrm>
            <a:prstGeom prst="roundRect">
              <a:avLst>
                <a:gd name="adj" fmla="val 50000"/>
              </a:avLst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RU"/>
            </a:p>
          </p:txBody>
        </p:sp>
        <p:sp>
          <p:nvSpPr>
            <p:cNvPr id="49" name="Shape 44">
              <a:extLst>
                <a:ext uri="{FF2B5EF4-FFF2-40B4-BE49-F238E27FC236}">
                  <a16:creationId xmlns:a16="http://schemas.microsoft.com/office/drawing/2014/main" id="{C07EE997-678C-4D90-8146-A19DE528CE47}"/>
                </a:ext>
              </a:extLst>
            </p:cNvPr>
            <p:cNvSpPr/>
            <p:nvPr/>
          </p:nvSpPr>
          <p:spPr>
            <a:xfrm>
              <a:off x="6190488" y="3538728"/>
              <a:ext cx="1935328" cy="7315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RU"/>
            </a:p>
          </p:txBody>
        </p:sp>
        <p:sp>
          <p:nvSpPr>
            <p:cNvPr id="50" name="Text 45">
              <a:extLst>
                <a:ext uri="{FF2B5EF4-FFF2-40B4-BE49-F238E27FC236}">
                  <a16:creationId xmlns:a16="http://schemas.microsoft.com/office/drawing/2014/main" id="{24671795-ACA6-4A14-B3A5-98D278759913}"/>
                </a:ext>
              </a:extLst>
            </p:cNvPr>
            <p:cNvSpPr/>
            <p:nvPr/>
          </p:nvSpPr>
          <p:spPr>
            <a:xfrm>
              <a:off x="6190488" y="3694176"/>
              <a:ext cx="227685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Цель: 9</a:t>
              </a:r>
              <a:r>
                <a:rPr lang="ru-RU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r>
                <a:rPr lang="en-US" sz="9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900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5F03B87-FE05-4A99-AE01-4E435482B082}"/>
              </a:ext>
            </a:extLst>
          </p:cNvPr>
          <p:cNvSpPr txBox="1"/>
          <p:nvPr/>
        </p:nvSpPr>
        <p:spPr>
          <a:xfrm>
            <a:off x="439925" y="737591"/>
            <a:ext cx="808376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i="0" u="none" strike="noStrike" cap="none" dirty="0">
                <a:solidFill>
                  <a:schemeClr val="accen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Высокий рейтинг </a:t>
            </a:r>
            <a:r>
              <a:rPr lang="ru-RU" sz="1600" dirty="0">
                <a:solidFill>
                  <a:schemeClr val="accent1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– это результат командной работы и оперативного анализа качества продукта</a:t>
            </a:r>
            <a:br>
              <a:rPr lang="ru-RU" sz="1400" dirty="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</a:br>
            <a:br>
              <a:rPr lang="ru-RU" sz="1200" dirty="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</a:br>
            <a:r>
              <a:rPr lang="en-US" sz="1200" dirty="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ICOVER</a:t>
            </a:r>
            <a:r>
              <a:rPr lang="ru-RU" sz="1200" dirty="0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 – непрерывно работает над качеством продуктов учитывая опыт и потребности покупателя </a:t>
            </a:r>
            <a:endParaRPr lang="ru-RU" sz="1200" i="0" u="none" strike="noStrike" cap="none" dirty="0">
              <a:solidFill>
                <a:schemeClr val="accen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E1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2A09D3F9-68D4-02BD-A72D-6B9372C8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79BAEB3F-CDEA-6346-EB52-416A4C07D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360000"/>
            <a:ext cx="84240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Кейс </a:t>
            </a:r>
            <a:r>
              <a:rPr lang="en-US" sz="4000" dirty="0" err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Ridberg</a:t>
            </a:r>
            <a:r>
              <a:rPr lang="en-US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 – </a:t>
            </a:r>
            <a:r>
              <a:rPr lang="ru-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не про чемоданы</a:t>
            </a:r>
            <a:endParaRPr sz="4000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75" name="Google Shape;75;p16">
            <a:extLst>
              <a:ext uri="{FF2B5EF4-FFF2-40B4-BE49-F238E27FC236}">
                <a16:creationId xmlns:a16="http://schemas.microsoft.com/office/drawing/2014/main" id="{9C3789BA-5B94-0266-5E4D-17DAED9876B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513" y="425436"/>
            <a:ext cx="705125" cy="21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012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E1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A9A322A9-ECCB-3059-F078-E236D295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>
            <a:extLst>
              <a:ext uri="{FF2B5EF4-FFF2-40B4-BE49-F238E27FC236}">
                <a16:creationId xmlns:a16="http://schemas.microsoft.com/office/drawing/2014/main" id="{0332FBD2-DA9D-89C6-E35C-6E7ABA6964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513" y="320186"/>
            <a:ext cx="705125" cy="2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85146-8722-0B1C-2275-DAB935479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15" y="836712"/>
            <a:ext cx="7610460" cy="42079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2E5DB40-9140-8143-646E-F6A367C108A8}"/>
              </a:ext>
            </a:extLst>
          </p:cNvPr>
          <p:cNvSpPr/>
          <p:nvPr/>
        </p:nvSpPr>
        <p:spPr>
          <a:xfrm>
            <a:off x="7268308" y="1078523"/>
            <a:ext cx="890954" cy="367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5167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E1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3FE6E74B-0E2C-2724-3A95-E8C6BEA1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>
            <a:extLst>
              <a:ext uri="{FF2B5EF4-FFF2-40B4-BE49-F238E27FC236}">
                <a16:creationId xmlns:a16="http://schemas.microsoft.com/office/drawing/2014/main" id="{4B8A166B-7E9F-1D3A-D761-C8E748D1E0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513" y="320186"/>
            <a:ext cx="705125" cy="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;p16">
            <a:extLst>
              <a:ext uri="{FF2B5EF4-FFF2-40B4-BE49-F238E27FC236}">
                <a16:creationId xmlns:a16="http://schemas.microsoft.com/office/drawing/2014/main" id="{8DF03DD9-A4C6-EBF2-13A9-0916026F9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360000"/>
            <a:ext cx="84240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Голос потребителя </a:t>
            </a:r>
            <a:br>
              <a:rPr lang="ru-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</a:br>
            <a:r>
              <a:rPr lang="ru-RU" sz="4000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Новый актив</a:t>
            </a:r>
            <a:endParaRPr sz="4000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  <p:extLst>
      <p:ext uri="{BB962C8B-B14F-4D97-AF65-F5344CB8AC3E}">
        <p14:creationId xmlns:p14="http://schemas.microsoft.com/office/powerpoint/2010/main" val="42647624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4158</TotalTime>
  <Words>696</Words>
  <Application>Microsoft Macintosh PowerPoint</Application>
  <PresentationFormat>Экран (16:9)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Unbounded SemiBold</vt:lpstr>
      <vt:lpstr>Raleway Medium</vt:lpstr>
      <vt:lpstr>Unbounded Light</vt:lpstr>
      <vt:lpstr>Unbounded Medium</vt:lpstr>
      <vt:lpstr>Unbounded</vt:lpstr>
      <vt:lpstr>Calibri</vt:lpstr>
      <vt:lpstr>Arial</vt:lpstr>
      <vt:lpstr>Raleway</vt:lpstr>
      <vt:lpstr>Simple Light</vt:lpstr>
      <vt:lpstr>Отзывы как источник продуктовых решений</vt:lpstr>
      <vt:lpstr>Что вы знаете о компании ICOVER и бренде Ridberg</vt:lpstr>
      <vt:lpstr>18 лет непрерывной работы в ритейле</vt:lpstr>
      <vt:lpstr>Немного аналитики ICOVER</vt:lpstr>
      <vt:lpstr>Каждый 5 человек покупал Ridberg</vt:lpstr>
      <vt:lpstr>От субъективного мнения к детальной аналитке </vt:lpstr>
      <vt:lpstr> История чемодана Ridberg</vt:lpstr>
      <vt:lpstr>Анализ и транформация</vt:lpstr>
      <vt:lpstr> Трансформация в цифрах</vt:lpstr>
      <vt:lpstr> Восторг и признание покупателей</vt:lpstr>
      <vt:lpstr>Ошибки в контенте  </vt:lpstr>
      <vt:lpstr>Мы достигли многого. Это начало. </vt:lpstr>
      <vt:lpstr>Кейс Ridberg – не про чемоданы</vt:lpstr>
      <vt:lpstr>Презентация PowerPoint</vt:lpstr>
      <vt:lpstr>Голос потребителя  Новый актив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Пример презы ЕППП</dc:title>
  <dc:creator>Хмелевская Александра Юрьевна</dc:creator>
  <cp:lastModifiedBy>Daria D</cp:lastModifiedBy>
  <cp:revision>62</cp:revision>
  <dcterms:modified xsi:type="dcterms:W3CDTF">2026-09-14T11:01:56Z</dcterms:modified>
</cp:coreProperties>
</file>
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5706966" r:id="rId2"/>
    <p:sldId id="2145706965" r:id="rId3"/>
    <p:sldId id="2145706967" r:id="rId4"/>
    <p:sldId id="2145706968" r:id="rId5"/>
    <p:sldId id="2145706930" r:id="rId6"/>
    <p:sldId id="2145706971" r:id="rId7"/>
    <p:sldId id="2145706973" r:id="rId8"/>
    <p:sldId id="2145706972" r:id="rId9"/>
    <p:sldId id="214570697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20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438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слайда с изображением" userDrawn="1">
  <p:cSld name="Разделитель слайда с изображением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92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475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chemeClr val="lt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96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8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и картинка по центру">
  <p:cSld name="Текст и картинка по центру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>
            <a:spLocks noGrp="1"/>
          </p:cNvSpPr>
          <p:nvPr>
            <p:ph type="pic" idx="2"/>
          </p:nvPr>
        </p:nvSpPr>
        <p:spPr>
          <a:xfrm>
            <a:off x="2642400" y="2069117"/>
            <a:ext cx="6907200" cy="4094000"/>
          </a:xfrm>
          <a:prstGeom prst="roundRect">
            <a:avLst>
              <a:gd name="adj" fmla="val 824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539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7" y="6457951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40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1_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lIns="91425" tIns="91425" rIns="91425" bIns="91425" anchor="t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lIns="91425" tIns="91425" rIns="91425" bIns="91425">
            <a:normAutofit/>
          </a:bodyPr>
          <a:lstStyle>
            <a:lvl1pPr marL="609585" lvl="0" indent="-423535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/>
            </a:lvl1pPr>
            <a:lvl2pPr marL="1219170" lvl="1" indent="-42353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53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53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53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53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53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53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53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19;p4">
            <a:extLst>
              <a:ext uri="{FF2B5EF4-FFF2-40B4-BE49-F238E27FC236}">
                <a16:creationId xmlns:a16="http://schemas.microsoft.com/office/drawing/2014/main" id="{26D8AFEC-17E7-BBC1-5F49-D2E621F4D621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>
          <a:xfrm>
            <a:off x="11296650" y="6218239"/>
            <a:ext cx="731839" cy="523875"/>
          </a:xfrm>
        </p:spPr>
        <p:txBody>
          <a:bodyPr spcFirstLastPara="1" lIns="91425" tIns="91425" rIns="91425" b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52E9DA77-A7EF-4BFD-9875-8F24BD2897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2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7" y="6457951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7" y="6457951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3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7" y="6457951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61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7" y="6457951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40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7" y="6457951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33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7" y="6457951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9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5249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0229-F6A2-73B5-C692-9FEA5F704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0;p57">
            <a:extLst>
              <a:ext uri="{FF2B5EF4-FFF2-40B4-BE49-F238E27FC236}">
                <a16:creationId xmlns:a16="http://schemas.microsoft.com/office/drawing/2014/main" id="{026E10F5-CB0C-06CD-BEE8-3319C15BE9AC}"/>
              </a:ext>
            </a:extLst>
          </p:cNvPr>
          <p:cNvSpPr/>
          <p:nvPr/>
        </p:nvSpPr>
        <p:spPr>
          <a:xfrm>
            <a:off x="883340" y="2869958"/>
            <a:ext cx="10425319" cy="2175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Внедрение инструментов автоматизации на основе </a:t>
            </a:r>
            <a:r>
              <a:rPr lang="en-US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</a:t>
            </a:r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 </a:t>
            </a:r>
            <a:r>
              <a:rPr lang="en-US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Ecom </a:t>
            </a:r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процессы.</a:t>
            </a:r>
          </a:p>
          <a:p>
            <a:pPr algn="ctr" defTabSz="1219170">
              <a:buClr>
                <a:srgbClr val="000000"/>
              </a:buClr>
              <a:buSzPts val="1100"/>
            </a:pP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33B23-15B3-651C-1F7C-8AD9AB9AE156}"/>
              </a:ext>
            </a:extLst>
          </p:cNvPr>
          <p:cNvSpPr txBox="1"/>
          <p:nvPr/>
        </p:nvSpPr>
        <p:spPr>
          <a:xfrm>
            <a:off x="2771642" y="434489"/>
            <a:ext cx="6094926" cy="1726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50"/>
              </a:spcAft>
              <a:buNone/>
            </a:pPr>
            <a:r>
              <a:rPr lang="ru-RU" sz="2400" b="1" i="0" dirty="0">
                <a:solidFill>
                  <a:schemeClr val="tx1"/>
                </a:solidFill>
                <a:effectLst/>
                <a:latin typeface="+mn-lt"/>
              </a:rPr>
              <a:t>Владимир Писков</a:t>
            </a:r>
            <a:endParaRPr lang="ru-RU" b="1" dirty="0"/>
          </a:p>
          <a:p>
            <a:pPr marL="0" marR="0" indent="0" algn="l">
              <a:spcAft>
                <a:spcPts val="6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директор по цифровым технологиям и электронной коммерции,</a:t>
            </a:r>
          </a:p>
          <a:p>
            <a:pPr>
              <a:spcAft>
                <a:spcPts val="600"/>
              </a:spcAft>
            </a:pPr>
            <a:r>
              <a:rPr lang="ru-RU" sz="2400" b="1" i="0" dirty="0">
                <a:solidFill>
                  <a:schemeClr val="tx1"/>
                </a:solidFill>
                <a:effectLst/>
                <a:latin typeface="+mn-lt"/>
              </a:rPr>
              <a:t>Кофемания</a:t>
            </a:r>
          </a:p>
          <a:p>
            <a:pPr marL="0" marR="0" indent="0" algn="l">
              <a:spcAft>
                <a:spcPts val="600"/>
              </a:spcAft>
              <a:buNone/>
            </a:pPr>
            <a:endParaRPr lang="ru-RU" sz="1050" b="0" i="0" dirty="0">
              <a:solidFill>
                <a:srgbClr val="212529"/>
              </a:solidFill>
              <a:effectLst/>
              <a:latin typeface="Montserrat" panose="00000500000000000000" pitchFamily="2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436EFF-504D-2FDA-404D-A5459B973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13" y="274865"/>
            <a:ext cx="1565792" cy="2192177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F4DF2F7F-E25E-2B76-802E-88A0C06B8E84}"/>
              </a:ext>
            </a:extLst>
          </p:cNvPr>
          <p:cNvSpPr/>
          <p:nvPr/>
        </p:nvSpPr>
        <p:spPr>
          <a:xfrm>
            <a:off x="272823" y="0"/>
            <a:ext cx="2077571" cy="2595093"/>
          </a:xfrm>
          <a:prstGeom prst="ellipse">
            <a:avLst/>
          </a:prstGeom>
          <a:noFill/>
          <a:ln w="508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8265828-1FC0-DC79-25AF-920962D2D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404" y="511934"/>
            <a:ext cx="1315683" cy="157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9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E6DC2-D81D-FB89-E3D9-84078DB2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0;p57">
            <a:extLst>
              <a:ext uri="{FF2B5EF4-FFF2-40B4-BE49-F238E27FC236}">
                <a16:creationId xmlns:a16="http://schemas.microsoft.com/office/drawing/2014/main" id="{11C3E378-69D4-2456-BD90-90950357E226}"/>
              </a:ext>
            </a:extLst>
          </p:cNvPr>
          <p:cNvSpPr/>
          <p:nvPr/>
        </p:nvSpPr>
        <p:spPr>
          <a:xfrm>
            <a:off x="971550" y="419101"/>
            <a:ext cx="10425319" cy="106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Что мы хотим достичь внедряя ИИ в процессы</a:t>
            </a:r>
            <a:r>
              <a:rPr lang="en-US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?</a:t>
            </a: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  <a:p>
            <a:pPr algn="ctr" defTabSz="1219170">
              <a:buClr>
                <a:srgbClr val="000000"/>
              </a:buClr>
              <a:buSzPts val="1100"/>
            </a:pP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C9AE9-90E6-9200-8395-3FACBE11DEC5}"/>
              </a:ext>
            </a:extLst>
          </p:cNvPr>
          <p:cNvSpPr txBox="1"/>
          <p:nvPr/>
        </p:nvSpPr>
        <p:spPr>
          <a:xfrm>
            <a:off x="658446" y="2612961"/>
            <a:ext cx="11353360" cy="2554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Увеличение выручки и маржинальности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Ускорение процессов, уменьшение </a:t>
            </a: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 </a:t>
            </a:r>
            <a:r>
              <a:rPr lang="ru-RU" sz="2133" kern="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Market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Получение инсайдов из накопленных данных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Оптимизация штата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4861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C524F-E24A-922F-8DB7-23FFFC31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0;p57">
            <a:extLst>
              <a:ext uri="{FF2B5EF4-FFF2-40B4-BE49-F238E27FC236}">
                <a16:creationId xmlns:a16="http://schemas.microsoft.com/office/drawing/2014/main" id="{773BF530-08F1-5DA7-8D75-8B44B3CE11FF}"/>
              </a:ext>
            </a:extLst>
          </p:cNvPr>
          <p:cNvSpPr/>
          <p:nvPr/>
        </p:nvSpPr>
        <p:spPr>
          <a:xfrm>
            <a:off x="971550" y="419101"/>
            <a:ext cx="10425319" cy="106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Что мы хотим достичь внедряя ИИ в процессы</a:t>
            </a:r>
            <a:r>
              <a:rPr lang="en-US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?</a:t>
            </a: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  <a:p>
            <a:pPr algn="ctr" defTabSz="1219170">
              <a:buClr>
                <a:srgbClr val="000000"/>
              </a:buClr>
              <a:buSzPts val="1100"/>
            </a:pP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D02A4-A5FC-EAFA-B58F-8A73EC14C860}"/>
              </a:ext>
            </a:extLst>
          </p:cNvPr>
          <p:cNvSpPr txBox="1"/>
          <p:nvPr/>
        </p:nvSpPr>
        <p:spPr>
          <a:xfrm>
            <a:off x="658446" y="2612961"/>
            <a:ext cx="11353360" cy="2554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Увеличение выручки и маржинальности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Ускорение процессов, уменьшение </a:t>
            </a: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 </a:t>
            </a:r>
            <a:r>
              <a:rPr lang="ru-RU" sz="2133" kern="0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Market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Получение инсайдов из накопленных данных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strike="sngStrike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Оптимизация штата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8843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60F6-8EE9-1CDD-2DEF-2EAD6819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0;p57">
            <a:extLst>
              <a:ext uri="{FF2B5EF4-FFF2-40B4-BE49-F238E27FC236}">
                <a16:creationId xmlns:a16="http://schemas.microsoft.com/office/drawing/2014/main" id="{933AAF67-2C87-5783-1FEB-96B75BAA54D4}"/>
              </a:ext>
            </a:extLst>
          </p:cNvPr>
          <p:cNvSpPr/>
          <p:nvPr/>
        </p:nvSpPr>
        <p:spPr>
          <a:xfrm>
            <a:off x="971550" y="419101"/>
            <a:ext cx="10425319" cy="106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Как будем внедрять</a:t>
            </a:r>
          </a:p>
          <a:p>
            <a:pPr algn="ctr" defTabSz="1219170">
              <a:buClr>
                <a:srgbClr val="000000"/>
              </a:buClr>
              <a:buSzPts val="1100"/>
            </a:pP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F709E-1ECF-A737-A5D4-EF71E33E8DC4}"/>
              </a:ext>
            </a:extLst>
          </p:cNvPr>
          <p:cNvSpPr txBox="1"/>
          <p:nvPr/>
        </p:nvSpPr>
        <p:spPr>
          <a:xfrm>
            <a:off x="658446" y="2612961"/>
            <a:ext cx="11353360" cy="234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  <a:t>Запустим процесс сверху</a:t>
            </a:r>
          </a:p>
          <a:p>
            <a:pPr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</a:pP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Внедрение ИИ</a:t>
            </a:r>
            <a:r>
              <a:rPr lang="en-US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133" kern="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“снизу”. Просто не мешаем сотрудникам проявлять инициативу и использовать ИИ в своей работе.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285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478A57D-A785-89C7-3C20-27DA4FD01208}"/>
              </a:ext>
            </a:extLst>
          </p:cNvPr>
          <p:cNvSpPr/>
          <p:nvPr/>
        </p:nvSpPr>
        <p:spPr>
          <a:xfrm>
            <a:off x="854021" y="2879556"/>
            <a:ext cx="2064763" cy="3435627"/>
          </a:xfrm>
          <a:prstGeom prst="roundRect">
            <a:avLst/>
          </a:prstGeom>
          <a:solidFill>
            <a:schemeClr val="bg1"/>
          </a:solidFill>
          <a:ln>
            <a:solidFill>
              <a:srgbClr val="EC4C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t"/>
          <a:lstStyle/>
          <a:p>
            <a:pPr algn="ctr" defTabSz="1219170">
              <a:buClr>
                <a:srgbClr val="000000"/>
              </a:buClr>
            </a:pPr>
            <a:r>
              <a:rPr lang="ru-RU" sz="1867" b="1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Привлечение</a:t>
            </a: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Трафик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Гости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Лиды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Заказы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 err="1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Инсталы</a:t>
            </a: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CBE5934-287A-19D0-E01E-928C79028B3E}"/>
              </a:ext>
            </a:extLst>
          </p:cNvPr>
          <p:cNvSpPr/>
          <p:nvPr/>
        </p:nvSpPr>
        <p:spPr>
          <a:xfrm>
            <a:off x="3074889" y="2879556"/>
            <a:ext cx="2064763" cy="3435627"/>
          </a:xfrm>
          <a:prstGeom prst="roundRect">
            <a:avLst/>
          </a:prstGeom>
          <a:solidFill>
            <a:schemeClr val="bg1"/>
          </a:solidFill>
          <a:ln>
            <a:solidFill>
              <a:srgbClr val="EC4C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t"/>
          <a:lstStyle/>
          <a:p>
            <a:pPr algn="ctr" defTabSz="1219170">
              <a:buClr>
                <a:srgbClr val="000000"/>
              </a:buClr>
            </a:pPr>
            <a:r>
              <a:rPr lang="ru-RU" sz="1867" b="1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Приземление</a:t>
            </a: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Фронт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(Сайт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Приложения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 err="1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Лендинги</a:t>
            </a: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Боты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 err="1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Миниаппы</a:t>
            </a: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 и др.)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CD4A0F0-5948-0732-7C39-AB06005AB172}"/>
              </a:ext>
            </a:extLst>
          </p:cNvPr>
          <p:cNvSpPr/>
          <p:nvPr/>
        </p:nvSpPr>
        <p:spPr>
          <a:xfrm>
            <a:off x="5308753" y="2879556"/>
            <a:ext cx="2064763" cy="3435627"/>
          </a:xfrm>
          <a:prstGeom prst="roundRect">
            <a:avLst/>
          </a:prstGeom>
          <a:solidFill>
            <a:schemeClr val="bg1"/>
          </a:solidFill>
          <a:ln>
            <a:solidFill>
              <a:srgbClr val="EC4C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t"/>
          <a:lstStyle/>
          <a:p>
            <a:pPr algn="ctr" defTabSz="1219170">
              <a:buClr>
                <a:srgbClr val="000000"/>
              </a:buClr>
            </a:pPr>
            <a:r>
              <a:rPr lang="ru-RU" sz="1867" b="1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Обработка</a:t>
            </a: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Бэк и интеграции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(</a:t>
            </a:r>
            <a:r>
              <a:rPr lang="en-US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OMS</a:t>
            </a:r>
          </a:p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POS</a:t>
            </a: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Эквайринг</a:t>
            </a:r>
          </a:p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OC</a:t>
            </a: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Алгоритмы</a:t>
            </a:r>
            <a:endParaRPr lang="en-US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и др.)</a:t>
            </a: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434D32E-6FB5-918A-BDB2-E36C9B794978}"/>
              </a:ext>
            </a:extLst>
          </p:cNvPr>
          <p:cNvSpPr/>
          <p:nvPr/>
        </p:nvSpPr>
        <p:spPr>
          <a:xfrm>
            <a:off x="7527284" y="2879556"/>
            <a:ext cx="2064763" cy="3435627"/>
          </a:xfrm>
          <a:prstGeom prst="roundRect">
            <a:avLst/>
          </a:prstGeom>
          <a:solidFill>
            <a:schemeClr val="bg1"/>
          </a:solidFill>
          <a:ln>
            <a:solidFill>
              <a:srgbClr val="EC4C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t"/>
          <a:lstStyle/>
          <a:p>
            <a:pPr algn="ctr" defTabSz="1219170">
              <a:buClr>
                <a:srgbClr val="000000"/>
              </a:buClr>
            </a:pPr>
            <a:r>
              <a:rPr lang="ru-RU" sz="1867" b="1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Сопровождение</a:t>
            </a: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Диспетчерская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Курьерская служба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Сервисы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Чаевые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Коммуникации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Поддержка</a:t>
            </a: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770EB8C-5F0C-0A5B-0FBA-F7D65F7187E6}"/>
              </a:ext>
            </a:extLst>
          </p:cNvPr>
          <p:cNvSpPr/>
          <p:nvPr/>
        </p:nvSpPr>
        <p:spPr>
          <a:xfrm>
            <a:off x="9744825" y="2879556"/>
            <a:ext cx="2064763" cy="3435627"/>
          </a:xfrm>
          <a:prstGeom prst="roundRect">
            <a:avLst/>
          </a:prstGeom>
          <a:solidFill>
            <a:schemeClr val="bg1"/>
          </a:solidFill>
          <a:ln>
            <a:solidFill>
              <a:srgbClr val="EC4C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t"/>
          <a:lstStyle/>
          <a:p>
            <a:pPr algn="ctr" defTabSz="1219170">
              <a:buClr>
                <a:srgbClr val="000000"/>
              </a:buClr>
            </a:pPr>
            <a:r>
              <a:rPr lang="ru-RU" sz="1867" b="1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Анализ</a:t>
            </a: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Сквозная аналитика</a:t>
            </a:r>
          </a:p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ORM</a:t>
            </a:r>
          </a:p>
          <a:p>
            <a:pPr algn="ctr" defTabSz="1219170">
              <a:buClr>
                <a:srgbClr val="000000"/>
              </a:buClr>
            </a:pPr>
            <a:r>
              <a:rPr lang="ru-RU" sz="1867" kern="0" dirty="0" err="1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Дэшборды</a:t>
            </a: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ML</a:t>
            </a: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AI</a:t>
            </a: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</p:txBody>
      </p:sp>
      <p:sp>
        <p:nvSpPr>
          <p:cNvPr id="13" name="Стрелка: пятиугольник 12">
            <a:extLst>
              <a:ext uri="{FF2B5EF4-FFF2-40B4-BE49-F238E27FC236}">
                <a16:creationId xmlns:a16="http://schemas.microsoft.com/office/drawing/2014/main" id="{D0F4B92F-B94B-9B03-11A3-A0DFAD992A4D}"/>
              </a:ext>
            </a:extLst>
          </p:cNvPr>
          <p:cNvSpPr/>
          <p:nvPr/>
        </p:nvSpPr>
        <p:spPr>
          <a:xfrm>
            <a:off x="283715" y="2879558"/>
            <a:ext cx="414203" cy="3435627"/>
          </a:xfrm>
          <a:prstGeom prst="homePlate">
            <a:avLst>
              <a:gd name="adj" fmla="val 39518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Arial"/>
                <a:sym typeface="Arial"/>
              </a:rPr>
              <a:t>Путь гостя / заказа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75A4C8A-1DEB-9E95-A375-31E37DF33447}"/>
              </a:ext>
            </a:extLst>
          </p:cNvPr>
          <p:cNvSpPr/>
          <p:nvPr/>
        </p:nvSpPr>
        <p:spPr>
          <a:xfrm>
            <a:off x="850696" y="1716729"/>
            <a:ext cx="10958891" cy="517748"/>
          </a:xfrm>
          <a:prstGeom prst="roundRect">
            <a:avLst/>
          </a:prstGeom>
          <a:solidFill>
            <a:schemeClr val="bg1"/>
          </a:solidFill>
          <a:ln>
            <a:solidFill>
              <a:srgbClr val="EC4C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rIns="48000" rtlCol="0" anchor="t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Proxima Nova Rg" panose="02000506030000020004" pitchFamily="2" charset="0"/>
                <a:sym typeface="Arial"/>
              </a:rPr>
              <a:t>DWH</a:t>
            </a:r>
            <a:endParaRPr lang="ru-RU" sz="1867" b="1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Proxima Nova Rg" panose="02000506030000020004" pitchFamily="2" charset="0"/>
              <a:sym typeface="Arial"/>
            </a:endParaRPr>
          </a:p>
        </p:txBody>
      </p:sp>
      <p:sp>
        <p:nvSpPr>
          <p:cNvPr id="22" name="Стрелка: вверх 21">
            <a:extLst>
              <a:ext uri="{FF2B5EF4-FFF2-40B4-BE49-F238E27FC236}">
                <a16:creationId xmlns:a16="http://schemas.microsoft.com/office/drawing/2014/main" id="{EE62DC6B-D9B6-D040-3C33-1B3C6433520E}"/>
              </a:ext>
            </a:extLst>
          </p:cNvPr>
          <p:cNvSpPr/>
          <p:nvPr/>
        </p:nvSpPr>
        <p:spPr>
          <a:xfrm>
            <a:off x="1841679" y="2309157"/>
            <a:ext cx="154546" cy="51774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: вверх 23">
            <a:extLst>
              <a:ext uri="{FF2B5EF4-FFF2-40B4-BE49-F238E27FC236}">
                <a16:creationId xmlns:a16="http://schemas.microsoft.com/office/drawing/2014/main" id="{59933397-3FF1-82F5-CD5C-60C94EE9DCC3}"/>
              </a:ext>
            </a:extLst>
          </p:cNvPr>
          <p:cNvSpPr/>
          <p:nvPr/>
        </p:nvSpPr>
        <p:spPr>
          <a:xfrm>
            <a:off x="4029997" y="2296677"/>
            <a:ext cx="154546" cy="51774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трелка: вверх 25">
            <a:extLst>
              <a:ext uri="{FF2B5EF4-FFF2-40B4-BE49-F238E27FC236}">
                <a16:creationId xmlns:a16="http://schemas.microsoft.com/office/drawing/2014/main" id="{151FFB85-101A-B3B1-2075-D1F9A41B05D8}"/>
              </a:ext>
            </a:extLst>
          </p:cNvPr>
          <p:cNvSpPr/>
          <p:nvPr/>
        </p:nvSpPr>
        <p:spPr>
          <a:xfrm>
            <a:off x="6263861" y="2309157"/>
            <a:ext cx="154546" cy="51774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: вверх 27">
            <a:extLst>
              <a:ext uri="{FF2B5EF4-FFF2-40B4-BE49-F238E27FC236}">
                <a16:creationId xmlns:a16="http://schemas.microsoft.com/office/drawing/2014/main" id="{8CDFD5B6-0634-5192-8B3B-ACE0CBCD2C5B}"/>
              </a:ext>
            </a:extLst>
          </p:cNvPr>
          <p:cNvSpPr/>
          <p:nvPr/>
        </p:nvSpPr>
        <p:spPr>
          <a:xfrm>
            <a:off x="8497725" y="2309157"/>
            <a:ext cx="154546" cy="51774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Стрелка: вверх 29">
            <a:extLst>
              <a:ext uri="{FF2B5EF4-FFF2-40B4-BE49-F238E27FC236}">
                <a16:creationId xmlns:a16="http://schemas.microsoft.com/office/drawing/2014/main" id="{EA6C5018-8D16-C3F9-50B3-424F8DF4BB03}"/>
              </a:ext>
            </a:extLst>
          </p:cNvPr>
          <p:cNvSpPr/>
          <p:nvPr/>
        </p:nvSpPr>
        <p:spPr>
          <a:xfrm rot="10800000">
            <a:off x="10654316" y="2296677"/>
            <a:ext cx="154546" cy="51774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ru-RU" dirty="0"/>
          </a:p>
        </p:txBody>
      </p:sp>
      <p:sp>
        <p:nvSpPr>
          <p:cNvPr id="32" name="Google Shape;530;p57">
            <a:extLst>
              <a:ext uri="{FF2B5EF4-FFF2-40B4-BE49-F238E27FC236}">
                <a16:creationId xmlns:a16="http://schemas.microsoft.com/office/drawing/2014/main" id="{2F844A0A-AAD0-794E-2BE0-74EF595AA5CC}"/>
              </a:ext>
            </a:extLst>
          </p:cNvPr>
          <p:cNvSpPr/>
          <p:nvPr/>
        </p:nvSpPr>
        <p:spPr>
          <a:xfrm>
            <a:off x="883340" y="327642"/>
            <a:ext cx="10425319" cy="106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Примеры</a:t>
            </a:r>
          </a:p>
          <a:p>
            <a:pPr algn="ctr" defTabSz="1219170">
              <a:buClr>
                <a:srgbClr val="000000"/>
              </a:buClr>
              <a:buSzPts val="1100"/>
            </a:pPr>
            <a:r>
              <a:rPr lang="ru-RU" sz="2800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Продуктовая аналитика</a:t>
            </a:r>
            <a:r>
              <a:rPr lang="en-US" sz="2800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. </a:t>
            </a:r>
            <a:r>
              <a:rPr lang="ru-RU" sz="2800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Качественные и полные данные</a:t>
            </a:r>
          </a:p>
          <a:p>
            <a:pPr algn="ctr" defTabSz="1219170">
              <a:buClr>
                <a:srgbClr val="000000"/>
              </a:buClr>
              <a:buSzPts val="1100"/>
            </a:pP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5057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CCC3-2BC3-5ADE-C3A1-4FF34860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0;p57">
            <a:extLst>
              <a:ext uri="{FF2B5EF4-FFF2-40B4-BE49-F238E27FC236}">
                <a16:creationId xmlns:a16="http://schemas.microsoft.com/office/drawing/2014/main" id="{50C879B6-8A41-55CB-CD6D-A28BBC767590}"/>
              </a:ext>
            </a:extLst>
          </p:cNvPr>
          <p:cNvSpPr/>
          <p:nvPr/>
        </p:nvSpPr>
        <p:spPr>
          <a:xfrm>
            <a:off x="971550" y="419101"/>
            <a:ext cx="10425319" cy="106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Примеры</a:t>
            </a:r>
          </a:p>
          <a:p>
            <a:pPr algn="ctr" defTabSz="1219170">
              <a:buClr>
                <a:srgbClr val="000000"/>
              </a:buClr>
              <a:buSzPts val="1100"/>
            </a:pPr>
            <a:r>
              <a:rPr lang="ru-RU" sz="2800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Маркетинговая сквозная аналитика</a:t>
            </a:r>
          </a:p>
          <a:p>
            <a:pPr algn="ctr" defTabSz="1219170">
              <a:buClr>
                <a:srgbClr val="000000"/>
              </a:buClr>
              <a:buSzPts val="1100"/>
            </a:pP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32E0F-9EFF-C890-BC92-16810F07885A}"/>
              </a:ext>
            </a:extLst>
          </p:cNvPr>
          <p:cNvSpPr txBox="1"/>
          <p:nvPr/>
        </p:nvSpPr>
        <p:spPr>
          <a:xfrm>
            <a:off x="626249" y="2226595"/>
            <a:ext cx="11353360" cy="3159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/>
              <a:t>ИИ в онлайн маркетинге — это не замена человека, а усиление его возможностей. </a:t>
            </a: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  <a:p>
            <a:pPr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</a:pP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/>
              <a:t>Оценка эффективности приоритетного размещения на картах. Поиск корреляции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/>
              <a:t>Ускорение получения результатов от маркетинговых акций. 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/>
              <a:t>Обязательная верификация полученных данных!</a:t>
            </a:r>
            <a:endParaRPr lang="en-US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/>
            <a:r>
              <a:rPr lang="en-US" dirty="0"/>
              <a:t>	</a:t>
            </a: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074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382A-8D2C-F465-DAD3-1E670532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0;p57">
            <a:extLst>
              <a:ext uri="{FF2B5EF4-FFF2-40B4-BE49-F238E27FC236}">
                <a16:creationId xmlns:a16="http://schemas.microsoft.com/office/drawing/2014/main" id="{601EBFC7-623A-5E5B-D887-218ADC5B8AE4}"/>
              </a:ext>
            </a:extLst>
          </p:cNvPr>
          <p:cNvSpPr/>
          <p:nvPr/>
        </p:nvSpPr>
        <p:spPr>
          <a:xfrm>
            <a:off x="971550" y="419101"/>
            <a:ext cx="10425319" cy="106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C2EC80-7363-08A7-7002-2AC529A46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20" y="0"/>
            <a:ext cx="5907314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C2A43C-74F3-5449-19AD-2A4A4ECCB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630" y="0"/>
            <a:ext cx="5340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2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10D2-B67B-486C-3314-609F370E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0;p57">
            <a:extLst>
              <a:ext uri="{FF2B5EF4-FFF2-40B4-BE49-F238E27FC236}">
                <a16:creationId xmlns:a16="http://schemas.microsoft.com/office/drawing/2014/main" id="{307814AB-D2F5-E626-8863-77CE3D167FB2}"/>
              </a:ext>
            </a:extLst>
          </p:cNvPr>
          <p:cNvSpPr/>
          <p:nvPr/>
        </p:nvSpPr>
        <p:spPr>
          <a:xfrm>
            <a:off x="971550" y="419101"/>
            <a:ext cx="10425319" cy="106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ru-RU" sz="3733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Примеры</a:t>
            </a:r>
          </a:p>
          <a:p>
            <a:pPr algn="ctr" defTabSz="1219170">
              <a:buClr>
                <a:srgbClr val="000000"/>
              </a:buClr>
              <a:buSzPts val="1100"/>
            </a:pPr>
            <a:r>
              <a:rPr lang="ru-RU" sz="2800" b="1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Gill Sans"/>
              </a:rPr>
              <a:t>Витрины</a:t>
            </a:r>
          </a:p>
          <a:p>
            <a:pPr algn="ctr" defTabSz="1219170">
              <a:buClr>
                <a:srgbClr val="000000"/>
              </a:buClr>
              <a:buSzPts val="1100"/>
            </a:pPr>
            <a:endParaRPr lang="ru-RU" sz="3733" b="1" kern="1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66971-2A2C-4A70-A0A3-B2673B9663EB}"/>
              </a:ext>
            </a:extLst>
          </p:cNvPr>
          <p:cNvSpPr txBox="1"/>
          <p:nvPr/>
        </p:nvSpPr>
        <p:spPr>
          <a:xfrm>
            <a:off x="626249" y="2226595"/>
            <a:ext cx="11353360" cy="293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/>
              <a:t>Алгоритм рекомендации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endParaRPr lang="ru-RU" dirty="0"/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 err="1"/>
              <a:t>Копилот</a:t>
            </a:r>
            <a:r>
              <a:rPr lang="ru-RU" dirty="0"/>
              <a:t> для обратной связи</a:t>
            </a: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r>
              <a:rPr lang="ru-RU" dirty="0">
                <a:sym typeface="Calibri"/>
              </a:rPr>
              <a:t>Дизайн</a:t>
            </a:r>
            <a:r>
              <a:rPr lang="en-US" dirty="0"/>
              <a:t>	</a:t>
            </a: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80990" indent="-380990" defTabSz="1219170">
              <a:spcBef>
                <a:spcPts val="800"/>
              </a:spcBef>
              <a:spcAft>
                <a:spcPts val="800"/>
              </a:spcAft>
              <a:buClr>
                <a:srgbClr val="B48B4C"/>
              </a:buClr>
              <a:buSzPts val="1500"/>
              <a:buFont typeface="Arial" panose="020B0604020202020204" pitchFamily="34" charset="0"/>
              <a:buChar char="•"/>
            </a:pPr>
            <a:endParaRPr lang="ru-RU" sz="2133" kern="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699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Дрип_горизонтальное_1_online_video_cutter_com">
            <a:hlinkClick r:id="" action="ppaction://media"/>
            <a:extLst>
              <a:ext uri="{FF2B5EF4-FFF2-40B4-BE49-F238E27FC236}">
                <a16:creationId xmlns:a16="http://schemas.microsoft.com/office/drawing/2014/main" id="{5D836494-59B4-2090-28B3-E0BA1B0CEF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8716" y="582794"/>
            <a:ext cx="8066454" cy="55861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68BADE-3912-41BB-9939-899DD35382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65" y="1642056"/>
            <a:ext cx="3226158" cy="322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9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5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208</Words>
  <Application>Microsoft Office PowerPoint</Application>
  <PresentationFormat>Широкоэкранный</PresentationFormat>
  <Paragraphs>82</Paragraphs>
  <Slides>9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Montserrat</vt:lpstr>
      <vt:lpstr>Proxima Nova Rg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v.piskov</dc:creator>
  <cp:lastModifiedBy>v.piskov</cp:lastModifiedBy>
  <cp:revision>1</cp:revision>
  <dcterms:created xsi:type="dcterms:W3CDTF">2026-09-15T09:59:33Z</dcterms:created>
  <dcterms:modified xsi:type="dcterms:W3CDTF">2026-09-15T14:30:58Z</dcterms:modified>
</cp:coreProperties>
</file>